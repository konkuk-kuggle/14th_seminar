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4"/>
  </p:notesMasterIdLst>
  <p:handoutMasterIdLst>
    <p:handoutMasterId r:id="rId3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6" r:id="rId20"/>
    <p:sldId id="277" r:id="rId21"/>
    <p:sldId id="278" r:id="rId22"/>
    <p:sldId id="279" r:id="rId23"/>
    <p:sldId id="281" r:id="rId24"/>
    <p:sldId id="282" r:id="rId25"/>
    <p:sldId id="283" r:id="rId26"/>
    <p:sldId id="284" r:id="rId27"/>
    <p:sldId id="286" r:id="rId28"/>
    <p:sldId id="287" r:id="rId29"/>
    <p:sldId id="288" r:id="rId30"/>
    <p:sldId id="290" r:id="rId31"/>
    <p:sldId id="291" r:id="rId32"/>
    <p:sldId id="293" r:id="rId33"/>
  </p:sldIdLst>
  <p:sldSz cx="12192000" cy="6858000"/>
  <p:notesSz cx="6858000" cy="9144000"/>
  <p:embeddedFontLst>
    <p:embeddedFont>
      <p:font typeface="Noto Sans KR" panose="020B0200000000000000" pitchFamily="50" charset="-127"/>
      <p:regular r:id="rId36"/>
      <p:bold r:id="rId37"/>
    </p:embeddedFont>
    <p:embeddedFont>
      <p:font typeface="맑은 고딕" panose="020B0503020000020004" pitchFamily="50" charset="-127"/>
      <p:regular r:id="rId38"/>
      <p:bold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1CE4B0D-528F-CB3F-3067-78827EB39A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ko-KR"/>
              <a:t>1.</a:t>
            </a:r>
            <a:r>
              <a:rPr lang="ko-KR" altLang="en-US"/>
              <a:t>프로젝트 개요</a:t>
            </a:r>
          </a:p>
        </p:txBody>
      </p:sp>
      <p:sp>
        <p:nvSpPr>
          <p:cNvPr id="3" name="날짜 개체 틀 2">
            <a:extLst>
              <a:ext uri="{FF2B5EF4-FFF2-40B4-BE49-F238E27FC236}">
                <a16:creationId xmlns:a16="http://schemas.microsoft.com/office/drawing/2014/main" id="{15ABFA89-3D94-06B0-22D8-A95B1EB188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79269CE-0604-47B2-9F5A-123D74BDB510}" type="datetimeFigureOut">
              <a:rPr lang="ko-KR" altLang="en-US" smtClean="0"/>
              <a:t>2026-10-05</a:t>
            </a:fld>
            <a:endParaRPr lang="ko-KR" altLang="en-US"/>
          </a:p>
        </p:txBody>
      </p:sp>
      <p:sp>
        <p:nvSpPr>
          <p:cNvPr id="4" name="바닥글 개체 틀 3">
            <a:extLst>
              <a:ext uri="{FF2B5EF4-FFF2-40B4-BE49-F238E27FC236}">
                <a16:creationId xmlns:a16="http://schemas.microsoft.com/office/drawing/2014/main" id="{E8808396-30A8-B3BB-ACC6-512A16638D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FA3D896B-FEC8-4DD2-9BE4-B198FAF356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2DCC55-53CD-4282-92AC-B01A4185D367}" type="slidenum">
              <a:rPr lang="ko-KR" altLang="en-US" smtClean="0"/>
              <a:t>‹#›</a:t>
            </a:fld>
            <a:endParaRPr lang="ko-KR" altLang="en-US"/>
          </a:p>
        </p:txBody>
      </p:sp>
    </p:spTree>
    <p:extLst>
      <p:ext uri="{BB962C8B-B14F-4D97-AF65-F5344CB8AC3E}">
        <p14:creationId xmlns:p14="http://schemas.microsoft.com/office/powerpoint/2010/main" val="22201682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ko-KR"/>
              <a:t>1.</a:t>
            </a:r>
            <a:r>
              <a:rPr lang="ko-KR" altLang="en-US"/>
              <a:t>프로젝트 개요</a:t>
            </a:r>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6168DC-EEC1-4318-9744-F1A17F553872}" type="datetimeFigureOut">
              <a:rPr lang="ko-KR" altLang="en-US" smtClean="0"/>
              <a:t>2026-10-05</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29729-8C1A-434E-A67D-17F1B5D89774}" type="slidenum">
              <a:rPr lang="ko-KR" altLang="en-US" smtClean="0"/>
              <a:t>‹#›</a:t>
            </a:fld>
            <a:endParaRPr lang="ko-KR" altLang="en-US"/>
          </a:p>
        </p:txBody>
      </p:sp>
    </p:spTree>
    <p:extLst>
      <p:ext uri="{BB962C8B-B14F-4D97-AF65-F5344CB8AC3E}">
        <p14:creationId xmlns:p14="http://schemas.microsoft.com/office/powerpoint/2010/main" val="2111936470"/>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D7E7EF5-C3CD-4C8B-8D57-CA68A637930F}" type="datetime1">
              <a:rPr lang="en-US" altLang="ko-KR"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FFD11D-BFB7-4B31-8402-566C0E91A696}" type="datetime1">
              <a:rPr lang="en-US" altLang="ko-KR"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76E7C1-6E3E-406D-8241-8ABDA56E5E87}" type="datetime1">
              <a:rPr lang="en-US" altLang="ko-KR"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943FB4-01B9-4E53-BE2A-8A036F8C85A7}" type="datetime1">
              <a:rPr lang="en-US" altLang="ko-KR"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D2FE513-F581-47ED-811F-91EAA015DDD8}" type="datetime1">
              <a:rPr lang="en-US" altLang="ko-KR"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362C79-175C-4AC8-BAEF-2EB12BAA2D68}" type="datetime1">
              <a:rPr lang="en-US" altLang="ko-KR"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B1C918-1DFD-4A1D-8A98-AAB5FA5D82FC}" type="datetime1">
              <a:rPr lang="en-US" altLang="ko-KR"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D95770-3FCC-41A0-94D1-FB1BE42F7F01}" type="datetime1">
              <a:rPr lang="en-US" altLang="ko-KR"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3BD68E-F68D-474B-B2D6-5F230445C625}" type="datetime1">
              <a:rPr lang="en-US" altLang="ko-KR"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9D83186-257B-4209-A68A-EDB10BE76F5A}" type="datetime1">
              <a:rPr lang="en-US" altLang="ko-KR"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8801E4-DEA2-4D23-849A-C6BAA0549438}" type="datetime1">
              <a:rPr lang="en-US" altLang="ko-KR"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0E078F-CD1C-4169-B100-E840BEF7E279}" type="datetime1">
              <a:rPr lang="en-US" altLang="ko-KR"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952500" y="4107060"/>
            <a:ext cx="6096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52500" y="1988939"/>
            <a:ext cx="11239500" cy="228600"/>
          </a:xfrm>
          <a:prstGeom prst="rect">
            <a:avLst/>
          </a:prstGeom>
          <a:noFill/>
        </p:spPr>
        <p:txBody>
          <a:bodyPr wrap="none" lIns="0" tIns="0" rIns="0" bIns="0" anchor="t">
            <a:spAutoFit/>
          </a:bodyPr>
          <a:lstStyle/>
          <a:p>
            <a:pPr algn="l"/>
            <a:r>
              <a:rPr sz="1350" b="1" i="0" u="none">
                <a:solidFill>
                  <a:srgbClr val="2563EB"/>
                </a:solidFill>
                <a:latin typeface="Noto Sans KR"/>
              </a:rPr>
              <a:t>KUGGLE 1차 프로젝트</a:t>
            </a:r>
          </a:p>
        </p:txBody>
      </p:sp>
      <p:sp>
        <p:nvSpPr>
          <p:cNvPr id="4" name="TextBox 3"/>
          <p:cNvSpPr txBox="1"/>
          <p:nvPr/>
        </p:nvSpPr>
        <p:spPr>
          <a:xfrm>
            <a:off x="952500" y="2446139"/>
            <a:ext cx="9101137" cy="1279921"/>
          </a:xfrm>
          <a:prstGeom prst="rect">
            <a:avLst/>
          </a:prstGeom>
          <a:noFill/>
        </p:spPr>
        <p:txBody>
          <a:bodyPr wrap="square" lIns="0" tIns="0" rIns="0" bIns="0" anchor="t">
            <a:spAutoFit/>
          </a:bodyPr>
          <a:lstStyle/>
          <a:p>
            <a:pPr algn="l">
              <a:lnSpc>
                <a:spcPts val="5040"/>
              </a:lnSpc>
            </a:pPr>
            <a:r>
              <a:rPr sz="4200" b="1" i="0" u="none">
                <a:solidFill>
                  <a:srgbClr val="FFFFFF"/>
                </a:solidFill>
                <a:latin typeface="Noto Sans KR"/>
              </a:rPr>
              <a:t>HR 데이터를 활용한</a:t>
            </a:r>
            <a:r>
              <a:t>
</a:t>
            </a:r>
            <a:r>
              <a:rPr sz="4200" b="1" i="0" u="none">
                <a:solidFill>
                  <a:srgbClr val="FFFFFF"/>
                </a:solidFill>
                <a:latin typeface="Noto Sans KR"/>
              </a:rPr>
              <a:t> 직원 퇴사 예측모델 비교 및 선정</a:t>
            </a:r>
          </a:p>
        </p:txBody>
      </p:sp>
      <p:sp>
        <p:nvSpPr>
          <p:cNvPr id="5" name="TextBox 4"/>
          <p:cNvSpPr txBox="1"/>
          <p:nvPr/>
        </p:nvSpPr>
        <p:spPr>
          <a:xfrm>
            <a:off x="952500" y="4526160"/>
            <a:ext cx="3058530" cy="313868"/>
          </a:xfrm>
          <a:prstGeom prst="rect">
            <a:avLst/>
          </a:prstGeom>
          <a:noFill/>
        </p:spPr>
        <p:txBody>
          <a:bodyPr wrap="none" lIns="0" tIns="0" rIns="0" bIns="0" anchor="t">
            <a:spAutoFit/>
          </a:bodyPr>
          <a:lstStyle/>
          <a:p>
            <a:pPr algn="l">
              <a:lnSpc>
                <a:spcPts val="2700"/>
              </a:lnSpc>
            </a:pPr>
            <a:r>
              <a:rPr sz="1800" b="0" i="0" u="none" dirty="0">
                <a:solidFill>
                  <a:srgbClr val="94A3B8"/>
                </a:solidFill>
                <a:latin typeface="Noto Sans KR"/>
              </a:rPr>
              <a:t>박영준, </a:t>
            </a:r>
            <a:r>
              <a:rPr lang="ko-KR" altLang="en-US" sz="1800" b="0" i="0" u="none" dirty="0">
                <a:solidFill>
                  <a:srgbClr val="94A3B8"/>
                </a:solidFill>
                <a:latin typeface="Noto Sans KR"/>
              </a:rPr>
              <a:t>양민서</a:t>
            </a:r>
            <a:r>
              <a:rPr sz="1800" b="0" i="0" u="none" dirty="0">
                <a:solidFill>
                  <a:srgbClr val="94A3B8"/>
                </a:solidFill>
                <a:latin typeface="Noto Sans KR"/>
              </a:rPr>
              <a:t>, </a:t>
            </a:r>
            <a:r>
              <a:rPr lang="ko-KR" altLang="en-US" sz="1800" b="0" i="0" u="none" dirty="0" err="1">
                <a:solidFill>
                  <a:srgbClr val="94A3B8"/>
                </a:solidFill>
                <a:latin typeface="Noto Sans KR"/>
              </a:rPr>
              <a:t>최예나</a:t>
            </a:r>
            <a:r>
              <a:rPr sz="1800" b="0" i="0" u="none" dirty="0">
                <a:solidFill>
                  <a:srgbClr val="94A3B8"/>
                </a:solidFill>
                <a:latin typeface="Noto Sans KR"/>
              </a:rPr>
              <a:t>, </a:t>
            </a:r>
            <a:r>
              <a:rPr lang="ko-KR" altLang="en-US" sz="1800" b="0" i="0" u="none" dirty="0">
                <a:solidFill>
                  <a:srgbClr val="94A3B8"/>
                </a:solidFill>
                <a:latin typeface="Noto Sans KR"/>
              </a:rPr>
              <a:t>한지수</a:t>
            </a:r>
            <a:endParaRPr sz="1800" b="0" i="0" u="none" dirty="0">
              <a:solidFill>
                <a:srgbClr val="94A3B8"/>
              </a:solidFill>
              <a:latin typeface="Noto Sans K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목차</a:t>
            </a:r>
          </a:p>
        </p:txBody>
      </p:sp>
      <p:sp>
        <p:nvSpPr>
          <p:cNvPr id="3" name="TextBox 2"/>
          <p:cNvSpPr txBox="1"/>
          <p:nvPr/>
        </p:nvSpPr>
        <p:spPr>
          <a:xfrm>
            <a:off x="1066800" y="1714500"/>
            <a:ext cx="11125200" cy="396180"/>
          </a:xfrm>
          <a:prstGeom prst="rect">
            <a:avLst/>
          </a:prstGeom>
          <a:noFill/>
        </p:spPr>
        <p:txBody>
          <a:bodyPr wrap="none" lIns="0" tIns="0" rIns="0" bIns="0" anchor="t">
            <a:spAutoFit/>
          </a:bodyPr>
          <a:lstStyle/>
          <a:p>
            <a:pPr algn="l">
              <a:lnSpc>
                <a:spcPts val="3120"/>
              </a:lnSpc>
            </a:pPr>
            <a:r>
              <a:rPr sz="2400" b="1" i="0" u="none">
                <a:solidFill>
                  <a:srgbClr val="2563EB"/>
                </a:solidFill>
                <a:latin typeface="Noto Sans KR"/>
              </a:rPr>
              <a:t>1.</a:t>
            </a:r>
            <a:r>
              <a:rPr sz="2400" b="1" i="0" u="none">
                <a:solidFill>
                  <a:srgbClr val="1E293B"/>
                </a:solidFill>
                <a:latin typeface="Noto Sans KR"/>
              </a:rPr>
              <a:t> 프로젝트 개요</a:t>
            </a:r>
          </a:p>
        </p:txBody>
      </p:sp>
      <p:sp>
        <p:nvSpPr>
          <p:cNvPr id="4" name="TextBox 3"/>
          <p:cNvSpPr txBox="1"/>
          <p:nvPr/>
        </p:nvSpPr>
        <p:spPr>
          <a:xfrm>
            <a:off x="1066800" y="2415480"/>
            <a:ext cx="11125200" cy="396180"/>
          </a:xfrm>
          <a:prstGeom prst="rect">
            <a:avLst/>
          </a:prstGeom>
          <a:noFill/>
        </p:spPr>
        <p:txBody>
          <a:bodyPr wrap="none" lIns="0" tIns="0" rIns="0" bIns="0" anchor="t">
            <a:spAutoFit/>
          </a:bodyPr>
          <a:lstStyle/>
          <a:p>
            <a:pPr algn="l">
              <a:lnSpc>
                <a:spcPts val="3120"/>
              </a:lnSpc>
            </a:pPr>
            <a:r>
              <a:rPr sz="2400" b="1" i="0" u="none">
                <a:solidFill>
                  <a:srgbClr val="2563EB"/>
                </a:solidFill>
                <a:latin typeface="Noto Sans KR"/>
              </a:rPr>
              <a:t>2.</a:t>
            </a:r>
            <a:r>
              <a:rPr sz="2400" b="1" i="0" u="none">
                <a:solidFill>
                  <a:srgbClr val="1E293B"/>
                </a:solidFill>
                <a:latin typeface="Noto Sans KR"/>
              </a:rPr>
              <a:t> 데이터 전처리</a:t>
            </a:r>
          </a:p>
        </p:txBody>
      </p:sp>
      <p:sp>
        <p:nvSpPr>
          <p:cNvPr id="5" name="TextBox 4"/>
          <p:cNvSpPr txBox="1"/>
          <p:nvPr/>
        </p:nvSpPr>
        <p:spPr>
          <a:xfrm>
            <a:off x="1066800" y="3116460"/>
            <a:ext cx="11125200" cy="396180"/>
          </a:xfrm>
          <a:prstGeom prst="rect">
            <a:avLst/>
          </a:prstGeom>
          <a:noFill/>
        </p:spPr>
        <p:txBody>
          <a:bodyPr wrap="none" lIns="0" tIns="0" rIns="0" bIns="0" anchor="t">
            <a:spAutoFit/>
          </a:bodyPr>
          <a:lstStyle/>
          <a:p>
            <a:pPr algn="l">
              <a:lnSpc>
                <a:spcPts val="3120"/>
              </a:lnSpc>
            </a:pPr>
            <a:r>
              <a:rPr sz="2400" b="1" i="0" u="none">
                <a:solidFill>
                  <a:srgbClr val="2563EB"/>
                </a:solidFill>
                <a:latin typeface="Noto Sans KR"/>
              </a:rPr>
              <a:t>3.</a:t>
            </a:r>
            <a:r>
              <a:rPr sz="2400" b="1" i="0" u="none">
                <a:solidFill>
                  <a:srgbClr val="1E293B"/>
                </a:solidFill>
                <a:latin typeface="Noto Sans KR"/>
              </a:rPr>
              <a:t> 모델 구축</a:t>
            </a:r>
          </a:p>
        </p:txBody>
      </p:sp>
      <p:sp>
        <p:nvSpPr>
          <p:cNvPr id="6" name="TextBox 5"/>
          <p:cNvSpPr txBox="1"/>
          <p:nvPr/>
        </p:nvSpPr>
        <p:spPr>
          <a:xfrm>
            <a:off x="1066800" y="3817441"/>
            <a:ext cx="11125200" cy="396180"/>
          </a:xfrm>
          <a:prstGeom prst="rect">
            <a:avLst/>
          </a:prstGeom>
          <a:noFill/>
        </p:spPr>
        <p:txBody>
          <a:bodyPr wrap="none" lIns="0" tIns="0" rIns="0" bIns="0" anchor="t">
            <a:spAutoFit/>
          </a:bodyPr>
          <a:lstStyle/>
          <a:p>
            <a:pPr algn="l">
              <a:lnSpc>
                <a:spcPts val="3120"/>
              </a:lnSpc>
            </a:pPr>
            <a:r>
              <a:rPr sz="2400" b="1" i="0" u="none">
                <a:solidFill>
                  <a:srgbClr val="2563EB"/>
                </a:solidFill>
                <a:latin typeface="Noto Sans KR"/>
              </a:rPr>
              <a:t>4.</a:t>
            </a:r>
            <a:r>
              <a:rPr sz="2400" b="1" i="0" u="none">
                <a:solidFill>
                  <a:srgbClr val="1E293B"/>
                </a:solidFill>
                <a:latin typeface="Noto Sans KR"/>
              </a:rPr>
              <a:t> 성능 비교</a:t>
            </a:r>
          </a:p>
        </p:txBody>
      </p:sp>
      <p:sp>
        <p:nvSpPr>
          <p:cNvPr id="7" name="TextBox 6"/>
          <p:cNvSpPr txBox="1"/>
          <p:nvPr/>
        </p:nvSpPr>
        <p:spPr>
          <a:xfrm>
            <a:off x="1066800" y="4518421"/>
            <a:ext cx="11125200" cy="396180"/>
          </a:xfrm>
          <a:prstGeom prst="rect">
            <a:avLst/>
          </a:prstGeom>
          <a:noFill/>
        </p:spPr>
        <p:txBody>
          <a:bodyPr wrap="none" lIns="0" tIns="0" rIns="0" bIns="0" anchor="t">
            <a:spAutoFit/>
          </a:bodyPr>
          <a:lstStyle/>
          <a:p>
            <a:pPr algn="l">
              <a:lnSpc>
                <a:spcPts val="3120"/>
              </a:lnSpc>
            </a:pPr>
            <a:r>
              <a:rPr sz="2400" b="1" i="0" u="none">
                <a:solidFill>
                  <a:srgbClr val="2563EB"/>
                </a:solidFill>
                <a:latin typeface="Noto Sans KR"/>
              </a:rPr>
              <a:t>5.</a:t>
            </a:r>
            <a:r>
              <a:rPr sz="2400" b="1" i="0" u="none">
                <a:solidFill>
                  <a:srgbClr val="1E293B"/>
                </a:solidFill>
                <a:latin typeface="Noto Sans KR"/>
              </a:rPr>
              <a:t> 결론</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4178498" y="2861369"/>
            <a:ext cx="5033441" cy="639960"/>
          </a:xfrm>
          <a:prstGeom prst="rect">
            <a:avLst/>
          </a:prstGeom>
          <a:noFill/>
        </p:spPr>
        <p:txBody>
          <a:bodyPr wrap="none" lIns="0" tIns="0" rIns="0" bIns="0" anchor="t">
            <a:spAutoFit/>
          </a:bodyPr>
          <a:lstStyle/>
          <a:p>
            <a:pPr algn="l">
              <a:lnSpc>
                <a:spcPts val="5040"/>
              </a:lnSpc>
            </a:pPr>
            <a:r>
              <a:rPr sz="4200" b="1" i="0" u="none">
                <a:solidFill>
                  <a:srgbClr val="FFFFFF"/>
                </a:solidFill>
                <a:latin typeface="Noto Sans KR"/>
              </a:rPr>
              <a:t>1. 프로젝트 개요</a:t>
            </a:r>
          </a:p>
        </p:txBody>
      </p:sp>
      <p:sp>
        <p:nvSpPr>
          <p:cNvPr id="3" name="TextBox 2"/>
          <p:cNvSpPr txBox="1"/>
          <p:nvPr/>
        </p:nvSpPr>
        <p:spPr>
          <a:xfrm>
            <a:off x="5232052" y="3653730"/>
            <a:ext cx="2159682" cy="342900"/>
          </a:xfrm>
          <a:prstGeom prst="rect">
            <a:avLst/>
          </a:prstGeom>
          <a:noFill/>
        </p:spPr>
        <p:txBody>
          <a:bodyPr wrap="none" lIns="0" tIns="0" rIns="0" bIns="0" anchor="t">
            <a:spAutoFit/>
          </a:bodyPr>
          <a:lstStyle/>
          <a:p>
            <a:pPr algn="l">
              <a:lnSpc>
                <a:spcPts val="2700"/>
              </a:lnSpc>
            </a:pPr>
            <a:r>
              <a:rPr sz="1800" b="0" i="0" u="none">
                <a:solidFill>
                  <a:srgbClr val="94A3B8"/>
                </a:solidFill>
                <a:latin typeface="Noto Sans KR"/>
              </a:rPr>
              <a:t>Project 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324600" y="1562100"/>
            <a:ext cx="5105400" cy="4686300"/>
          </a:xfrm>
          <a:prstGeom prst="roundRect">
            <a:avLst>
              <a:gd name="adj" fmla="val 1626"/>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프로젝트 개요</a:t>
            </a:r>
          </a:p>
        </p:txBody>
      </p:sp>
      <p:sp>
        <p:nvSpPr>
          <p:cNvPr id="4" name="TextBox 3"/>
          <p:cNvSpPr txBox="1"/>
          <p:nvPr/>
        </p:nvSpPr>
        <p:spPr>
          <a:xfrm>
            <a:off x="762000" y="2754659"/>
            <a:ext cx="6700837"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선정 배경</a:t>
            </a:r>
          </a:p>
        </p:txBody>
      </p:sp>
      <p:sp>
        <p:nvSpPr>
          <p:cNvPr id="5" name="TextBox 4"/>
          <p:cNvSpPr txBox="1"/>
          <p:nvPr/>
        </p:nvSpPr>
        <p:spPr>
          <a:xfrm>
            <a:off x="914400" y="3379440"/>
            <a:ext cx="76200" cy="342900"/>
          </a:xfrm>
          <a:prstGeom prst="rect">
            <a:avLst/>
          </a:prstGeom>
          <a:noFill/>
        </p:spPr>
        <p:txBody>
          <a:bodyPr wrap="none" lIns="0" tIns="0" rIns="0" bIns="0" anchor="t">
            <a:spAutoFit/>
          </a:bodyPr>
          <a:lstStyle/>
          <a:p>
            <a:pPr algn="l"/>
            <a:r>
              <a:rPr sz="1800" b="0" i="0" u="none">
                <a:solidFill>
                  <a:srgbClr val="475569"/>
                </a:solidFill>
                <a:latin typeface="Noto Sans KR"/>
              </a:rPr>
              <a:t>•</a:t>
            </a:r>
          </a:p>
        </p:txBody>
      </p:sp>
      <p:sp>
        <p:nvSpPr>
          <p:cNvPr id="6" name="TextBox 5"/>
          <p:cNvSpPr txBox="1"/>
          <p:nvPr/>
        </p:nvSpPr>
        <p:spPr>
          <a:xfrm>
            <a:off x="990600" y="3379440"/>
            <a:ext cx="6096000" cy="342900"/>
          </a:xfrm>
          <a:prstGeom prst="rect">
            <a:avLst/>
          </a:prstGeom>
          <a:noFill/>
        </p:spPr>
        <p:txBody>
          <a:bodyPr wrap="none" lIns="76200" tIns="0" rIns="0" bIns="0" anchor="t">
            <a:spAutoFit/>
          </a:bodyPr>
          <a:lstStyle/>
          <a:p>
            <a:pPr algn="l">
              <a:lnSpc>
                <a:spcPts val="2700"/>
              </a:lnSpc>
            </a:pPr>
            <a:r>
              <a:rPr sz="1800" b="0" i="0" u="none">
                <a:solidFill>
                  <a:srgbClr val="475569"/>
                </a:solidFill>
                <a:latin typeface="Noto Sans KR"/>
              </a:rPr>
              <a:t>최근 1~3년차 신입사원 조기 퇴사 문제 대두</a:t>
            </a:r>
          </a:p>
        </p:txBody>
      </p:sp>
      <p:sp>
        <p:nvSpPr>
          <p:cNvPr id="7" name="TextBox 6"/>
          <p:cNvSpPr txBox="1"/>
          <p:nvPr/>
        </p:nvSpPr>
        <p:spPr>
          <a:xfrm>
            <a:off x="914400" y="3874740"/>
            <a:ext cx="76200" cy="342900"/>
          </a:xfrm>
          <a:prstGeom prst="rect">
            <a:avLst/>
          </a:prstGeom>
          <a:noFill/>
        </p:spPr>
        <p:txBody>
          <a:bodyPr wrap="none" lIns="0" tIns="0" rIns="0" bIns="0" anchor="t">
            <a:spAutoFit/>
          </a:bodyPr>
          <a:lstStyle/>
          <a:p>
            <a:pPr algn="l"/>
            <a:r>
              <a:rPr sz="1800" b="0" i="0" u="none">
                <a:solidFill>
                  <a:srgbClr val="475569"/>
                </a:solidFill>
                <a:latin typeface="Noto Sans KR"/>
              </a:rPr>
              <a:t>•</a:t>
            </a:r>
          </a:p>
        </p:txBody>
      </p:sp>
      <p:sp>
        <p:nvSpPr>
          <p:cNvPr id="8" name="TextBox 7"/>
          <p:cNvSpPr txBox="1"/>
          <p:nvPr/>
        </p:nvSpPr>
        <p:spPr>
          <a:xfrm>
            <a:off x="990600" y="3874740"/>
            <a:ext cx="4972050" cy="685800"/>
          </a:xfrm>
          <a:prstGeom prst="rect">
            <a:avLst/>
          </a:prstGeom>
          <a:noFill/>
        </p:spPr>
        <p:txBody>
          <a:bodyPr wrap="square" lIns="76200" tIns="0" rIns="0" bIns="0" anchor="t">
            <a:spAutoFit/>
          </a:bodyPr>
          <a:lstStyle/>
          <a:p>
            <a:pPr algn="l">
              <a:lnSpc>
                <a:spcPts val="2700"/>
              </a:lnSpc>
            </a:pPr>
            <a:r>
              <a:rPr sz="1800" b="0" i="0" u="none">
                <a:solidFill>
                  <a:srgbClr val="475569"/>
                </a:solidFill>
                <a:latin typeface="Noto Sans KR"/>
              </a:rPr>
              <a:t>이에 따른, 직원 이탈로 인한 기업 비용 손실 발생</a:t>
            </a:r>
          </a:p>
        </p:txBody>
      </p:sp>
      <p:sp>
        <p:nvSpPr>
          <p:cNvPr id="9" name="TextBox 8"/>
          <p:cNvSpPr txBox="1"/>
          <p:nvPr/>
        </p:nvSpPr>
        <p:spPr>
          <a:xfrm>
            <a:off x="914400" y="4712940"/>
            <a:ext cx="76200" cy="342900"/>
          </a:xfrm>
          <a:prstGeom prst="rect">
            <a:avLst/>
          </a:prstGeom>
          <a:noFill/>
        </p:spPr>
        <p:txBody>
          <a:bodyPr wrap="none" lIns="0" tIns="0" rIns="0" bIns="0" anchor="t">
            <a:spAutoFit/>
          </a:bodyPr>
          <a:lstStyle/>
          <a:p>
            <a:pPr algn="l"/>
            <a:r>
              <a:rPr sz="1800" b="0" i="0" u="none">
                <a:solidFill>
                  <a:srgbClr val="475569"/>
                </a:solidFill>
                <a:latin typeface="Noto Sans KR"/>
              </a:rPr>
              <a:t>•</a:t>
            </a:r>
          </a:p>
        </p:txBody>
      </p:sp>
      <p:sp>
        <p:nvSpPr>
          <p:cNvPr id="10" name="TextBox 9"/>
          <p:cNvSpPr txBox="1"/>
          <p:nvPr/>
        </p:nvSpPr>
        <p:spPr>
          <a:xfrm>
            <a:off x="990600" y="4712940"/>
            <a:ext cx="6096000" cy="342900"/>
          </a:xfrm>
          <a:prstGeom prst="rect">
            <a:avLst/>
          </a:prstGeom>
          <a:noFill/>
        </p:spPr>
        <p:txBody>
          <a:bodyPr wrap="none" lIns="76200" tIns="0" rIns="0" bIns="0" anchor="t">
            <a:spAutoFit/>
          </a:bodyPr>
          <a:lstStyle/>
          <a:p>
            <a:pPr algn="l">
              <a:lnSpc>
                <a:spcPts val="2700"/>
              </a:lnSpc>
            </a:pPr>
            <a:r>
              <a:rPr sz="1800" b="0" i="0" u="none">
                <a:solidFill>
                  <a:srgbClr val="475569"/>
                </a:solidFill>
                <a:latin typeface="Noto Sans KR"/>
              </a:rPr>
              <a:t>선제적인 이탈 방지 관리가 필수적</a:t>
            </a:r>
          </a:p>
        </p:txBody>
      </p:sp>
      <p:sp>
        <p:nvSpPr>
          <p:cNvPr id="11" name="TextBox 10"/>
          <p:cNvSpPr txBox="1"/>
          <p:nvPr/>
        </p:nvSpPr>
        <p:spPr>
          <a:xfrm>
            <a:off x="8998204" y="3743325"/>
            <a:ext cx="2426828" cy="400050"/>
          </a:xfrm>
          <a:prstGeom prst="rect">
            <a:avLst/>
          </a:prstGeom>
          <a:noFill/>
        </p:spPr>
        <p:txBody>
          <a:bodyPr wrap="square" lIns="0" tIns="0" rIns="0" bIns="0" anchor="t">
            <a:spAutoFit/>
          </a:bodyPr>
          <a:lstStyle/>
          <a:p>
            <a:pPr algn="ctr"/>
            <a:r>
              <a:rPr sz="1200" b="0" i="0" u="none">
                <a:solidFill>
                  <a:srgbClr val="64748B"/>
                </a:solidFill>
                <a:latin typeface="Noto Sans KR"/>
              </a:rPr>
              <a:t>(신입사원 조기퇴사 관련 기사 3개)</a:t>
            </a:r>
          </a:p>
        </p:txBody>
      </p:sp>
      <p:pic>
        <p:nvPicPr>
          <p:cNvPr id="13" name="그림 12" descr="The text indicates that 61% of social workers leave their positions between the first and third year.&#10;&#10;AI 생성 콘텐츠는 정확하지 않을 수 있습니다.">
            <a:extLst>
              <a:ext uri="{FF2B5EF4-FFF2-40B4-BE49-F238E27FC236}">
                <a16:creationId xmlns:a16="http://schemas.microsoft.com/office/drawing/2014/main" id="{C5A1E521-5F0C-C50E-7519-6521D0F3874E}"/>
              </a:ext>
            </a:extLst>
          </p:cNvPr>
          <p:cNvPicPr>
            <a:picLocks noChangeAspect="1"/>
          </p:cNvPicPr>
          <p:nvPr/>
        </p:nvPicPr>
        <p:blipFill>
          <a:blip r:embed="rId2"/>
          <a:stretch>
            <a:fillRect/>
          </a:stretch>
        </p:blipFill>
        <p:spPr>
          <a:xfrm>
            <a:off x="6324600" y="1562100"/>
            <a:ext cx="5105400" cy="1866900"/>
          </a:xfrm>
          <a:prstGeom prst="rect">
            <a:avLst/>
          </a:prstGeom>
        </p:spPr>
      </p:pic>
      <p:pic>
        <p:nvPicPr>
          <p:cNvPr id="15" name="그림 14" descr="The image displays a news headline in Korean, indicating that 60.9% of companies report that new employees leave within 1 to 3 years.&#10;&#10;AI 생성 콘텐츠는 정확하지 않을 수 있습니다.">
            <a:extLst>
              <a:ext uri="{FF2B5EF4-FFF2-40B4-BE49-F238E27FC236}">
                <a16:creationId xmlns:a16="http://schemas.microsoft.com/office/drawing/2014/main" id="{DC5521D3-997B-21F0-F808-4A0CFF0F1B6C}"/>
              </a:ext>
            </a:extLst>
          </p:cNvPr>
          <p:cNvPicPr>
            <a:picLocks noChangeAspect="1"/>
          </p:cNvPicPr>
          <p:nvPr/>
        </p:nvPicPr>
        <p:blipFill>
          <a:blip r:embed="rId3"/>
          <a:stretch>
            <a:fillRect/>
          </a:stretch>
        </p:blipFill>
        <p:spPr>
          <a:xfrm>
            <a:off x="6324600" y="3435648"/>
            <a:ext cx="5178698" cy="1364950"/>
          </a:xfrm>
          <a:prstGeom prst="rect">
            <a:avLst/>
          </a:prstGeom>
        </p:spPr>
      </p:pic>
      <p:pic>
        <p:nvPicPr>
          <p:cNvPr id="17" name="그림 16" descr="The text appears to be a Korean phrase questioning why someone would leave their job in the year 2025, followed by a reference to a 'Great Departure' era.&#10;&#10;AI 생성 콘텐츠는 정확하지 않을 수 있습니다.">
            <a:extLst>
              <a:ext uri="{FF2B5EF4-FFF2-40B4-BE49-F238E27FC236}">
                <a16:creationId xmlns:a16="http://schemas.microsoft.com/office/drawing/2014/main" id="{AEE9B599-2432-A585-0DEC-6BB801986218}"/>
              </a:ext>
            </a:extLst>
          </p:cNvPr>
          <p:cNvPicPr>
            <a:picLocks noChangeAspect="1"/>
          </p:cNvPicPr>
          <p:nvPr/>
        </p:nvPicPr>
        <p:blipFill>
          <a:blip r:embed="rId4"/>
          <a:stretch>
            <a:fillRect/>
          </a:stretch>
        </p:blipFill>
        <p:spPr>
          <a:xfrm>
            <a:off x="6324600" y="4815614"/>
            <a:ext cx="5118852" cy="14327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714500"/>
            <a:ext cx="5181600" cy="4533900"/>
          </a:xfrm>
          <a:prstGeom prst="roundRect">
            <a:avLst>
              <a:gd name="adj" fmla="val 252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1714500"/>
            <a:ext cx="5181600" cy="4533900"/>
          </a:xfrm>
          <a:prstGeom prst="roundRect">
            <a:avLst>
              <a:gd name="adj" fmla="val 2521"/>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2000" y="6238875"/>
            <a:ext cx="5181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1714500"/>
            <a:ext cx="51816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1714500"/>
            <a:ext cx="9525" cy="45339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34075" y="1714500"/>
            <a:ext cx="9525" cy="45339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48400" y="6238875"/>
            <a:ext cx="5181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48400" y="1714500"/>
            <a:ext cx="5181600" cy="381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48400" y="1714500"/>
            <a:ext cx="9525" cy="45339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420475" y="1714500"/>
            <a:ext cx="9525" cy="45339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2"/>
          <a:stretch>
            <a:fillRect/>
          </a:stretch>
        </p:blipFill>
        <p:spPr>
          <a:xfrm>
            <a:off x="1076325" y="2133600"/>
            <a:ext cx="4552950" cy="381000"/>
          </a:xfrm>
          <a:prstGeom prst="rect">
            <a:avLst/>
          </a:prstGeom>
        </p:spPr>
      </p:pic>
      <p:pic>
        <p:nvPicPr>
          <p:cNvPr id="13" name="Picture 12" descr="image.png"/>
          <p:cNvPicPr>
            <a:picLocks noChangeAspect="1"/>
          </p:cNvPicPr>
          <p:nvPr/>
        </p:nvPicPr>
        <p:blipFill>
          <a:blip r:embed="rId3"/>
          <a:stretch>
            <a:fillRect/>
          </a:stretch>
        </p:blipFill>
        <p:spPr>
          <a:xfrm>
            <a:off x="6562725" y="2133600"/>
            <a:ext cx="4552950" cy="381000"/>
          </a:xfrm>
          <a:prstGeom prst="rect">
            <a:avLst/>
          </a:prstGeom>
        </p:spPr>
      </p:pic>
      <p:sp>
        <p:nvSpPr>
          <p:cNvPr id="14" name="TextBox 13"/>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분석 목적</a:t>
            </a:r>
          </a:p>
        </p:txBody>
      </p:sp>
      <p:sp>
        <p:nvSpPr>
          <p:cNvPr id="15" name="TextBox 14"/>
          <p:cNvSpPr txBox="1"/>
          <p:nvPr/>
        </p:nvSpPr>
        <p:spPr>
          <a:xfrm>
            <a:off x="1076325" y="2819400"/>
            <a:ext cx="5975746"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퇴사 위험 직원 사전 식별</a:t>
            </a:r>
          </a:p>
        </p:txBody>
      </p:sp>
      <p:sp>
        <p:nvSpPr>
          <p:cNvPr id="16" name="TextBox 15"/>
          <p:cNvSpPr txBox="1"/>
          <p:nvPr/>
        </p:nvSpPr>
        <p:spPr>
          <a:xfrm>
            <a:off x="1076325" y="3367980"/>
            <a:ext cx="4648200" cy="685800"/>
          </a:xfrm>
          <a:prstGeom prst="rect">
            <a:avLst/>
          </a:prstGeom>
          <a:noFill/>
        </p:spPr>
        <p:txBody>
          <a:bodyPr wrap="square" lIns="0" tIns="0" rIns="0" bIns="0" anchor="t">
            <a:spAutoFit/>
          </a:bodyPr>
          <a:lstStyle/>
          <a:p>
            <a:pPr algn="l">
              <a:lnSpc>
                <a:spcPts val="2700"/>
              </a:lnSpc>
            </a:pPr>
            <a:r>
              <a:rPr sz="1800" b="0" i="0" u="none" dirty="0">
                <a:solidFill>
                  <a:srgbClr val="475569"/>
                </a:solidFill>
                <a:latin typeface="Noto Sans KR"/>
              </a:rPr>
              <a:t>HR </a:t>
            </a:r>
            <a:r>
              <a:rPr sz="1800" b="0" i="0" u="none" dirty="0" err="1">
                <a:solidFill>
                  <a:srgbClr val="475569"/>
                </a:solidFill>
                <a:latin typeface="Noto Sans KR"/>
              </a:rPr>
              <a:t>데이터를</a:t>
            </a:r>
            <a:r>
              <a:rPr sz="1800" b="0" i="0" u="none" dirty="0">
                <a:solidFill>
                  <a:srgbClr val="475569"/>
                </a:solidFill>
                <a:latin typeface="Noto Sans KR"/>
              </a:rPr>
              <a:t> </a:t>
            </a:r>
            <a:r>
              <a:rPr sz="1800" b="0" i="0" u="none" dirty="0" err="1">
                <a:solidFill>
                  <a:srgbClr val="475569"/>
                </a:solidFill>
                <a:latin typeface="Noto Sans KR"/>
              </a:rPr>
              <a:t>활용해</a:t>
            </a:r>
            <a:r>
              <a:rPr sz="1800" b="0" i="0" u="none" dirty="0">
                <a:solidFill>
                  <a:srgbClr val="475569"/>
                </a:solidFill>
                <a:latin typeface="Noto Sans KR"/>
              </a:rPr>
              <a:t> </a:t>
            </a:r>
            <a:r>
              <a:rPr sz="1800" b="0" i="0" u="none" dirty="0" err="1">
                <a:solidFill>
                  <a:srgbClr val="475569"/>
                </a:solidFill>
                <a:latin typeface="Noto Sans KR"/>
              </a:rPr>
              <a:t>조기</a:t>
            </a:r>
            <a:r>
              <a:rPr sz="1800" b="0" i="0" u="none" dirty="0">
                <a:solidFill>
                  <a:srgbClr val="475569"/>
                </a:solidFill>
                <a:latin typeface="Noto Sans KR"/>
              </a:rPr>
              <a:t> </a:t>
            </a:r>
            <a:r>
              <a:rPr sz="1800" b="0" i="0" u="none" dirty="0" err="1">
                <a:solidFill>
                  <a:srgbClr val="475569"/>
                </a:solidFill>
                <a:latin typeface="Noto Sans KR"/>
              </a:rPr>
              <a:t>이탈</a:t>
            </a:r>
            <a:r>
              <a:rPr sz="1800" b="0" i="0" u="none" dirty="0">
                <a:solidFill>
                  <a:srgbClr val="475569"/>
                </a:solidFill>
                <a:latin typeface="Noto Sans KR"/>
              </a:rPr>
              <a:t> </a:t>
            </a:r>
            <a:r>
              <a:rPr sz="1800" b="0" i="0" u="none" dirty="0" err="1">
                <a:solidFill>
                  <a:srgbClr val="475569"/>
                </a:solidFill>
                <a:latin typeface="Noto Sans KR"/>
              </a:rPr>
              <a:t>위험군을</a:t>
            </a:r>
            <a:r>
              <a:rPr sz="1800" b="0" i="0" u="none" dirty="0">
                <a:solidFill>
                  <a:srgbClr val="475569"/>
                </a:solidFill>
                <a:latin typeface="Noto Sans KR"/>
              </a:rPr>
              <a:t> </a:t>
            </a:r>
            <a:r>
              <a:rPr sz="1800" b="0" i="0" u="none" dirty="0" err="1">
                <a:solidFill>
                  <a:srgbClr val="475569"/>
                </a:solidFill>
                <a:latin typeface="Noto Sans KR"/>
              </a:rPr>
              <a:t>사전에</a:t>
            </a:r>
            <a:r>
              <a:rPr sz="1800" b="0" i="0" u="none" dirty="0">
                <a:solidFill>
                  <a:srgbClr val="475569"/>
                </a:solidFill>
                <a:latin typeface="Noto Sans KR"/>
              </a:rPr>
              <a:t> </a:t>
            </a:r>
            <a:r>
              <a:rPr sz="1800" b="0" i="0" u="none" dirty="0" err="1">
                <a:solidFill>
                  <a:srgbClr val="475569"/>
                </a:solidFill>
                <a:latin typeface="Noto Sans KR"/>
              </a:rPr>
              <a:t>탐지하고</a:t>
            </a:r>
            <a:r>
              <a:rPr sz="1800" b="0" i="0" u="none" dirty="0">
                <a:solidFill>
                  <a:srgbClr val="475569"/>
                </a:solidFill>
                <a:latin typeface="Noto Sans KR"/>
              </a:rPr>
              <a:t> </a:t>
            </a:r>
            <a:r>
              <a:rPr sz="1800" b="0" i="0" u="none" dirty="0" err="1">
                <a:solidFill>
                  <a:srgbClr val="475569"/>
                </a:solidFill>
                <a:latin typeface="Noto Sans KR"/>
              </a:rPr>
              <a:t>원인을</a:t>
            </a:r>
            <a:r>
              <a:rPr sz="1800" b="0" i="0" u="none" dirty="0">
                <a:solidFill>
                  <a:srgbClr val="475569"/>
                </a:solidFill>
                <a:latin typeface="Noto Sans KR"/>
              </a:rPr>
              <a:t> </a:t>
            </a:r>
            <a:r>
              <a:rPr sz="1800" b="0" i="0" u="none" dirty="0" err="1">
                <a:solidFill>
                  <a:srgbClr val="475569"/>
                </a:solidFill>
                <a:latin typeface="Noto Sans KR"/>
              </a:rPr>
              <a:t>파악</a:t>
            </a:r>
            <a:endParaRPr sz="1800" b="0" i="0" u="none" dirty="0">
              <a:solidFill>
                <a:srgbClr val="475569"/>
              </a:solidFill>
              <a:latin typeface="Noto Sans KR"/>
            </a:endParaRPr>
          </a:p>
        </p:txBody>
      </p:sp>
      <p:sp>
        <p:nvSpPr>
          <p:cNvPr id="17" name="TextBox 16"/>
          <p:cNvSpPr txBox="1"/>
          <p:nvPr/>
        </p:nvSpPr>
        <p:spPr>
          <a:xfrm>
            <a:off x="6562725" y="2819400"/>
            <a:ext cx="5629275"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최적의 예측 모델 선정</a:t>
            </a:r>
          </a:p>
        </p:txBody>
      </p:sp>
      <p:sp>
        <p:nvSpPr>
          <p:cNvPr id="18" name="TextBox 17"/>
          <p:cNvSpPr txBox="1"/>
          <p:nvPr/>
        </p:nvSpPr>
        <p:spPr>
          <a:xfrm>
            <a:off x="6562725" y="3367980"/>
            <a:ext cx="4648200" cy="685800"/>
          </a:xfrm>
          <a:prstGeom prst="rect">
            <a:avLst/>
          </a:prstGeom>
          <a:noFill/>
        </p:spPr>
        <p:txBody>
          <a:bodyPr wrap="square" lIns="0" tIns="0" rIns="0" bIns="0" anchor="t">
            <a:spAutoFit/>
          </a:bodyPr>
          <a:lstStyle/>
          <a:p>
            <a:pPr algn="l">
              <a:lnSpc>
                <a:spcPts val="2700"/>
              </a:lnSpc>
            </a:pPr>
            <a:r>
              <a:rPr sz="1800" b="0" i="0" u="none" dirty="0">
                <a:solidFill>
                  <a:srgbClr val="475569"/>
                </a:solidFill>
                <a:latin typeface="Noto Sans KR"/>
              </a:rPr>
              <a:t>11개의 </a:t>
            </a:r>
            <a:r>
              <a:rPr sz="1800" b="0" i="0" u="none" dirty="0" err="1">
                <a:solidFill>
                  <a:srgbClr val="475569"/>
                </a:solidFill>
                <a:latin typeface="Noto Sans KR"/>
              </a:rPr>
              <a:t>머신러닝</a:t>
            </a:r>
            <a:r>
              <a:rPr sz="1800" b="0" i="0" u="none" dirty="0">
                <a:solidFill>
                  <a:srgbClr val="475569"/>
                </a:solidFill>
                <a:latin typeface="Noto Sans KR"/>
              </a:rPr>
              <a:t> </a:t>
            </a:r>
            <a:r>
              <a:rPr sz="1800" b="0" i="0" u="none" dirty="0" err="1">
                <a:solidFill>
                  <a:srgbClr val="475569"/>
                </a:solidFill>
                <a:latin typeface="Noto Sans KR"/>
              </a:rPr>
              <a:t>분류</a:t>
            </a:r>
            <a:r>
              <a:rPr sz="1800" b="0" i="0" u="none" dirty="0">
                <a:solidFill>
                  <a:srgbClr val="475569"/>
                </a:solidFill>
                <a:latin typeface="Noto Sans KR"/>
              </a:rPr>
              <a:t> </a:t>
            </a:r>
            <a:r>
              <a:rPr sz="1800" b="0" i="0" u="none" dirty="0" err="1">
                <a:solidFill>
                  <a:srgbClr val="475569"/>
                </a:solidFill>
                <a:latin typeface="Noto Sans KR"/>
              </a:rPr>
              <a:t>모델을</a:t>
            </a:r>
            <a:r>
              <a:rPr sz="1800" b="0" i="0" u="none" dirty="0">
                <a:solidFill>
                  <a:srgbClr val="475569"/>
                </a:solidFill>
                <a:latin typeface="Noto Sans KR"/>
              </a:rPr>
              <a:t> </a:t>
            </a:r>
            <a:r>
              <a:rPr sz="1800" b="0" i="0" u="none" dirty="0" err="1">
                <a:solidFill>
                  <a:srgbClr val="475569"/>
                </a:solidFill>
                <a:latin typeface="Noto Sans KR"/>
              </a:rPr>
              <a:t>비교하여</a:t>
            </a:r>
            <a:r>
              <a:rPr sz="1800" b="0" i="0" u="none" dirty="0">
                <a:solidFill>
                  <a:srgbClr val="475569"/>
                </a:solidFill>
                <a:latin typeface="Noto Sans KR"/>
              </a:rPr>
              <a:t> </a:t>
            </a:r>
            <a:r>
              <a:rPr sz="1800" b="0" i="0" u="none" dirty="0" err="1">
                <a:solidFill>
                  <a:srgbClr val="475569"/>
                </a:solidFill>
                <a:latin typeface="Noto Sans KR"/>
              </a:rPr>
              <a:t>가장</a:t>
            </a:r>
            <a:r>
              <a:rPr sz="1800" b="0" i="0" u="none" dirty="0">
                <a:solidFill>
                  <a:srgbClr val="475569"/>
                </a:solidFill>
                <a:latin typeface="Noto Sans KR"/>
              </a:rPr>
              <a:t> </a:t>
            </a:r>
            <a:r>
              <a:rPr sz="1800" b="0" i="0" u="none" dirty="0" err="1">
                <a:solidFill>
                  <a:srgbClr val="475569"/>
                </a:solidFill>
                <a:latin typeface="Noto Sans KR"/>
              </a:rPr>
              <a:t>적합한</a:t>
            </a:r>
            <a:r>
              <a:rPr sz="1800" b="0" i="0" u="none" dirty="0">
                <a:solidFill>
                  <a:srgbClr val="475569"/>
                </a:solidFill>
                <a:latin typeface="Noto Sans KR"/>
              </a:rPr>
              <a:t> </a:t>
            </a:r>
            <a:r>
              <a:rPr lang="ko-KR" altLang="en-US" sz="1800" b="0" i="0" u="none" dirty="0">
                <a:solidFill>
                  <a:srgbClr val="475569"/>
                </a:solidFill>
                <a:latin typeface="Noto Sans KR"/>
              </a:rPr>
              <a:t>예측 모델 선정</a:t>
            </a:r>
            <a:endParaRPr sz="1800" b="0" i="0" u="none" dirty="0">
              <a:solidFill>
                <a:srgbClr val="475569"/>
              </a:solidFill>
              <a:latin typeface="Noto Sans K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4178498" y="2861369"/>
            <a:ext cx="5033441" cy="639960"/>
          </a:xfrm>
          <a:prstGeom prst="rect">
            <a:avLst/>
          </a:prstGeom>
          <a:noFill/>
        </p:spPr>
        <p:txBody>
          <a:bodyPr wrap="none" lIns="0" tIns="0" rIns="0" bIns="0" anchor="t">
            <a:spAutoFit/>
          </a:bodyPr>
          <a:lstStyle/>
          <a:p>
            <a:pPr algn="l">
              <a:lnSpc>
                <a:spcPts val="5040"/>
              </a:lnSpc>
            </a:pPr>
            <a:r>
              <a:rPr sz="4200" b="1" i="0" u="none">
                <a:solidFill>
                  <a:srgbClr val="FFFFFF"/>
                </a:solidFill>
                <a:latin typeface="Noto Sans KR"/>
              </a:rPr>
              <a:t>2. 데이터 전처리</a:t>
            </a:r>
          </a:p>
        </p:txBody>
      </p:sp>
      <p:sp>
        <p:nvSpPr>
          <p:cNvPr id="3" name="TextBox 2"/>
          <p:cNvSpPr txBox="1"/>
          <p:nvPr/>
        </p:nvSpPr>
        <p:spPr>
          <a:xfrm>
            <a:off x="5092154" y="3653730"/>
            <a:ext cx="2509614" cy="342900"/>
          </a:xfrm>
          <a:prstGeom prst="rect">
            <a:avLst/>
          </a:prstGeom>
          <a:noFill/>
        </p:spPr>
        <p:txBody>
          <a:bodyPr wrap="none" lIns="0" tIns="0" rIns="0" bIns="0" anchor="t">
            <a:spAutoFit/>
          </a:bodyPr>
          <a:lstStyle/>
          <a:p>
            <a:pPr algn="l">
              <a:lnSpc>
                <a:spcPts val="2700"/>
              </a:lnSpc>
            </a:pPr>
            <a:r>
              <a:rPr sz="1800" b="0" i="0" u="none">
                <a:solidFill>
                  <a:srgbClr val="94A3B8"/>
                </a:solidFill>
                <a:latin typeface="Noto Sans KR"/>
              </a:rPr>
              <a:t>Data Preprocessing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62000" y="1562100"/>
            <a:ext cx="10668000" cy="108585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2000" y="2952750"/>
            <a:ext cx="10668000" cy="137160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2000" y="4629150"/>
            <a:ext cx="10668000" cy="173355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1562100"/>
            <a:ext cx="38100" cy="108585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2952750"/>
            <a:ext cx="38100" cy="13716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62000" y="4629150"/>
            <a:ext cx="38100" cy="17335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분석 데이터 소개</a:t>
            </a:r>
          </a:p>
        </p:txBody>
      </p:sp>
      <p:sp>
        <p:nvSpPr>
          <p:cNvPr id="9" name="TextBox 8"/>
          <p:cNvSpPr txBox="1"/>
          <p:nvPr/>
        </p:nvSpPr>
        <p:spPr>
          <a:xfrm>
            <a:off x="1028700" y="1790700"/>
            <a:ext cx="11163300" cy="342900"/>
          </a:xfrm>
          <a:prstGeom prst="rect">
            <a:avLst/>
          </a:prstGeom>
          <a:noFill/>
        </p:spPr>
        <p:txBody>
          <a:bodyPr wrap="none" lIns="0" tIns="0" rIns="0" bIns="0" anchor="t">
            <a:spAutoFit/>
          </a:bodyPr>
          <a:lstStyle/>
          <a:p>
            <a:pPr algn="l">
              <a:lnSpc>
                <a:spcPts val="2700"/>
              </a:lnSpc>
            </a:pPr>
            <a:r>
              <a:rPr sz="1800" b="0" i="0" u="none">
                <a:solidFill>
                  <a:srgbClr val="1E293B"/>
                </a:solidFill>
                <a:latin typeface="Noto Sans KR"/>
              </a:rPr>
              <a:t>원본 데이터</a:t>
            </a:r>
          </a:p>
        </p:txBody>
      </p:sp>
      <p:sp>
        <p:nvSpPr>
          <p:cNvPr id="10" name="TextBox 9"/>
          <p:cNvSpPr txBox="1"/>
          <p:nvPr/>
        </p:nvSpPr>
        <p:spPr>
          <a:xfrm>
            <a:off x="1028700" y="2133600"/>
            <a:ext cx="11163300"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IBM HR Analytics Employee Attrition &amp; Performance (1,470명, 35개 변수)</a:t>
            </a:r>
          </a:p>
        </p:txBody>
      </p:sp>
      <p:sp>
        <p:nvSpPr>
          <p:cNvPr id="11" name="TextBox 10"/>
          <p:cNvSpPr txBox="1"/>
          <p:nvPr/>
        </p:nvSpPr>
        <p:spPr>
          <a:xfrm>
            <a:off x="1028700" y="3181350"/>
            <a:ext cx="11163300" cy="342900"/>
          </a:xfrm>
          <a:prstGeom prst="rect">
            <a:avLst/>
          </a:prstGeom>
          <a:noFill/>
        </p:spPr>
        <p:txBody>
          <a:bodyPr wrap="none" lIns="0" tIns="0" rIns="0" bIns="0" anchor="t">
            <a:spAutoFit/>
          </a:bodyPr>
          <a:lstStyle/>
          <a:p>
            <a:pPr algn="l">
              <a:lnSpc>
                <a:spcPts val="2700"/>
              </a:lnSpc>
            </a:pPr>
            <a:r>
              <a:rPr sz="1800" b="0" i="0" u="none">
                <a:solidFill>
                  <a:srgbClr val="1E293B"/>
                </a:solidFill>
                <a:latin typeface="Noto Sans KR"/>
              </a:rPr>
              <a:t>타겟 변수: Attrition (퇴사 여부)</a:t>
            </a:r>
          </a:p>
        </p:txBody>
      </p:sp>
      <p:sp>
        <p:nvSpPr>
          <p:cNvPr id="12" name="TextBox 11"/>
          <p:cNvSpPr txBox="1"/>
          <p:nvPr/>
        </p:nvSpPr>
        <p:spPr>
          <a:xfrm>
            <a:off x="1028700" y="3524250"/>
            <a:ext cx="11163300"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0 (잔류): 83.8% / 1 (퇴사): 16.1% </a:t>
            </a:r>
            <a:r>
              <a:rPr sz="1500" b="1" i="0" u="none">
                <a:solidFill>
                  <a:srgbClr val="2563EB"/>
                </a:solidFill>
                <a:latin typeface="Noto Sans KR"/>
              </a:rPr>
              <a:t>→ 심한 클래스 불균형 존재</a:t>
            </a:r>
          </a:p>
        </p:txBody>
      </p:sp>
      <p:sp>
        <p:nvSpPr>
          <p:cNvPr id="13" name="TextBox 12"/>
          <p:cNvSpPr txBox="1"/>
          <p:nvPr/>
        </p:nvSpPr>
        <p:spPr>
          <a:xfrm>
            <a:off x="1028700" y="3810000"/>
            <a:ext cx="11163300"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 모델 평가 시 F1-score를 중심 지표로 활용하여 불균형 문제 대응</a:t>
            </a:r>
          </a:p>
        </p:txBody>
      </p:sp>
      <p:sp>
        <p:nvSpPr>
          <p:cNvPr id="14" name="TextBox 13"/>
          <p:cNvSpPr txBox="1"/>
          <p:nvPr/>
        </p:nvSpPr>
        <p:spPr>
          <a:xfrm>
            <a:off x="1028700" y="4857750"/>
            <a:ext cx="11163300" cy="342900"/>
          </a:xfrm>
          <a:prstGeom prst="rect">
            <a:avLst/>
          </a:prstGeom>
          <a:noFill/>
        </p:spPr>
        <p:txBody>
          <a:bodyPr wrap="none" lIns="0" tIns="0" rIns="0" bIns="0" anchor="t">
            <a:spAutoFit/>
          </a:bodyPr>
          <a:lstStyle/>
          <a:p>
            <a:pPr algn="l">
              <a:lnSpc>
                <a:spcPts val="2700"/>
              </a:lnSpc>
            </a:pPr>
            <a:r>
              <a:rPr sz="1800" b="0" i="0" u="none">
                <a:solidFill>
                  <a:srgbClr val="1E293B"/>
                </a:solidFill>
                <a:latin typeface="Noto Sans KR"/>
              </a:rPr>
              <a:t>전체 변수 (35개)</a:t>
            </a:r>
          </a:p>
        </p:txBody>
      </p:sp>
      <p:sp>
        <p:nvSpPr>
          <p:cNvPr id="15" name="TextBox 14"/>
          <p:cNvSpPr txBox="1"/>
          <p:nvPr/>
        </p:nvSpPr>
        <p:spPr>
          <a:xfrm>
            <a:off x="1190625" y="527685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16" name="TextBox 15"/>
          <p:cNvSpPr txBox="1"/>
          <p:nvPr/>
        </p:nvSpPr>
        <p:spPr>
          <a:xfrm>
            <a:off x="1257300" y="5276850"/>
            <a:ext cx="10934700"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인구통계학적 요인: Age, MaritalStatus, Gender</a:t>
            </a:r>
          </a:p>
        </p:txBody>
      </p:sp>
      <p:sp>
        <p:nvSpPr>
          <p:cNvPr id="17" name="TextBox 16"/>
          <p:cNvSpPr txBox="1"/>
          <p:nvPr/>
        </p:nvSpPr>
        <p:spPr>
          <a:xfrm>
            <a:off x="1190625" y="556260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18" name="TextBox 17"/>
          <p:cNvSpPr txBox="1"/>
          <p:nvPr/>
        </p:nvSpPr>
        <p:spPr>
          <a:xfrm>
            <a:off x="1257300" y="5562600"/>
            <a:ext cx="10934700"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환경 및 직무 요인: Department, JobRole, OverTime 등</a:t>
            </a:r>
          </a:p>
        </p:txBody>
      </p:sp>
      <p:sp>
        <p:nvSpPr>
          <p:cNvPr id="19" name="TextBox 18"/>
          <p:cNvSpPr txBox="1"/>
          <p:nvPr/>
        </p:nvSpPr>
        <p:spPr>
          <a:xfrm>
            <a:off x="1190625" y="584835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20" name="TextBox 19"/>
          <p:cNvSpPr txBox="1"/>
          <p:nvPr/>
        </p:nvSpPr>
        <p:spPr>
          <a:xfrm>
            <a:off x="1257300" y="5848350"/>
            <a:ext cx="10934700"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보상, 워라벨 요인: MonthlyIncome, EnvironmentSatisfaction 등</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212109" y="1333500"/>
            <a:ext cx="6217890" cy="4914900"/>
          </a:xfrm>
          <a:prstGeom prst="roundRect">
            <a:avLst>
              <a:gd name="adj" fmla="val 155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근속 연수별 퇴사 민감도 분석 (크래머 V계수)</a:t>
            </a:r>
          </a:p>
        </p:txBody>
      </p:sp>
      <p:sp>
        <p:nvSpPr>
          <p:cNvPr id="4" name="TextBox 3"/>
          <p:cNvSpPr txBox="1"/>
          <p:nvPr/>
        </p:nvSpPr>
        <p:spPr>
          <a:xfrm>
            <a:off x="762000" y="1333500"/>
            <a:ext cx="5440719"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타겟 설정 기준</a:t>
            </a:r>
          </a:p>
        </p:txBody>
      </p:sp>
      <p:sp>
        <p:nvSpPr>
          <p:cNvPr id="5" name="TextBox 4"/>
          <p:cNvSpPr txBox="1"/>
          <p:nvPr/>
        </p:nvSpPr>
        <p:spPr>
          <a:xfrm>
            <a:off x="762000" y="1882080"/>
            <a:ext cx="4240559" cy="1028700"/>
          </a:xfrm>
          <a:prstGeom prst="rect">
            <a:avLst/>
          </a:prstGeom>
          <a:noFill/>
        </p:spPr>
        <p:txBody>
          <a:bodyPr wrap="square" lIns="0" tIns="0" rIns="0" bIns="0" anchor="t">
            <a:spAutoFit/>
          </a:bodyPr>
          <a:lstStyle/>
          <a:p>
            <a:pPr algn="l">
              <a:lnSpc>
                <a:spcPts val="2700"/>
              </a:lnSpc>
            </a:pPr>
            <a:r>
              <a:rPr sz="1800" b="0" i="0" u="none">
                <a:solidFill>
                  <a:srgbClr val="475569"/>
                </a:solidFill>
                <a:latin typeface="Noto Sans KR"/>
              </a:rPr>
              <a:t>크래머 V계수 확인 결과, 1년 차(0.211), 2년 차(0.205)에서 퇴사 민감도가 가장 높음.</a:t>
            </a:r>
          </a:p>
        </p:txBody>
      </p:sp>
      <p:sp>
        <p:nvSpPr>
          <p:cNvPr id="6" name="TextBox 5"/>
          <p:cNvSpPr txBox="1"/>
          <p:nvPr/>
        </p:nvSpPr>
        <p:spPr>
          <a:xfrm>
            <a:off x="762000" y="3063180"/>
            <a:ext cx="4240559" cy="685800"/>
          </a:xfrm>
          <a:prstGeom prst="rect">
            <a:avLst/>
          </a:prstGeom>
          <a:noFill/>
        </p:spPr>
        <p:txBody>
          <a:bodyPr wrap="square" lIns="0" tIns="0" rIns="0" bIns="0" anchor="t">
            <a:spAutoFit/>
          </a:bodyPr>
          <a:lstStyle/>
          <a:p>
            <a:pPr algn="l">
              <a:lnSpc>
                <a:spcPts val="2700"/>
              </a:lnSpc>
            </a:pPr>
            <a:r>
              <a:rPr sz="1800" b="0" i="0" u="none" dirty="0" err="1">
                <a:solidFill>
                  <a:srgbClr val="475569"/>
                </a:solidFill>
                <a:latin typeface="Noto Sans KR"/>
              </a:rPr>
              <a:t>데이터</a:t>
            </a:r>
            <a:r>
              <a:rPr sz="1800" b="0" i="0" u="none" dirty="0">
                <a:solidFill>
                  <a:srgbClr val="475569"/>
                </a:solidFill>
                <a:latin typeface="Noto Sans KR"/>
              </a:rPr>
              <a:t> </a:t>
            </a:r>
            <a:r>
              <a:rPr sz="1800" b="0" i="0" u="none" dirty="0" err="1">
                <a:solidFill>
                  <a:srgbClr val="475569"/>
                </a:solidFill>
                <a:latin typeface="Noto Sans KR"/>
              </a:rPr>
              <a:t>확보</a:t>
            </a:r>
            <a:r>
              <a:rPr sz="1800" b="0" i="0" u="none" dirty="0">
                <a:solidFill>
                  <a:srgbClr val="475569"/>
                </a:solidFill>
                <a:latin typeface="Noto Sans KR"/>
              </a:rPr>
              <a:t> 및 </a:t>
            </a:r>
            <a:r>
              <a:rPr sz="1800" b="0" i="0" u="none" dirty="0" err="1">
                <a:solidFill>
                  <a:srgbClr val="475569"/>
                </a:solidFill>
                <a:latin typeface="Noto Sans KR"/>
              </a:rPr>
              <a:t>조기</a:t>
            </a:r>
            <a:r>
              <a:rPr sz="1800" b="0" i="0" u="none" dirty="0">
                <a:solidFill>
                  <a:srgbClr val="475569"/>
                </a:solidFill>
                <a:latin typeface="Noto Sans KR"/>
              </a:rPr>
              <a:t> </a:t>
            </a:r>
            <a:r>
              <a:rPr sz="1800" b="0" i="0" u="none" dirty="0" err="1">
                <a:solidFill>
                  <a:srgbClr val="475569"/>
                </a:solidFill>
                <a:latin typeface="Noto Sans KR"/>
              </a:rPr>
              <a:t>퇴사</a:t>
            </a:r>
            <a:r>
              <a:rPr sz="1800" b="0" i="0" u="none" dirty="0">
                <a:solidFill>
                  <a:srgbClr val="475569"/>
                </a:solidFill>
                <a:latin typeface="Noto Sans KR"/>
              </a:rPr>
              <a:t> </a:t>
            </a:r>
            <a:r>
              <a:rPr sz="1800" b="0" i="0" u="none" dirty="0" err="1">
                <a:solidFill>
                  <a:srgbClr val="475569"/>
                </a:solidFill>
                <a:latin typeface="Noto Sans KR"/>
              </a:rPr>
              <a:t>분석을</a:t>
            </a:r>
            <a:r>
              <a:rPr sz="1800" b="0" i="0" u="none" dirty="0">
                <a:solidFill>
                  <a:srgbClr val="475569"/>
                </a:solidFill>
                <a:latin typeface="Noto Sans KR"/>
              </a:rPr>
              <a:t> </a:t>
            </a:r>
            <a:r>
              <a:rPr sz="1800" b="0" i="0" u="none" dirty="0" err="1">
                <a:solidFill>
                  <a:srgbClr val="475569"/>
                </a:solidFill>
                <a:latin typeface="Noto Sans KR"/>
              </a:rPr>
              <a:t>위해</a:t>
            </a:r>
            <a:r>
              <a:rPr sz="1800" b="0" i="0" u="none" dirty="0">
                <a:solidFill>
                  <a:srgbClr val="475569"/>
                </a:solidFill>
                <a:latin typeface="Noto Sans KR"/>
              </a:rPr>
              <a:t> </a:t>
            </a:r>
            <a:endParaRPr lang="en-US" sz="1800" b="0" i="0" u="none" dirty="0">
              <a:solidFill>
                <a:srgbClr val="475569"/>
              </a:solidFill>
              <a:latin typeface="Noto Sans KR"/>
            </a:endParaRPr>
          </a:p>
          <a:p>
            <a:pPr algn="l">
              <a:lnSpc>
                <a:spcPts val="2700"/>
              </a:lnSpc>
            </a:pPr>
            <a:r>
              <a:rPr sz="1800" b="1" i="0" u="none" dirty="0">
                <a:solidFill>
                  <a:srgbClr val="2563EB"/>
                </a:solidFill>
                <a:latin typeface="Noto Sans KR"/>
              </a:rPr>
              <a:t>0~2년 차(342명)</a:t>
            </a:r>
            <a:r>
              <a:rPr sz="1800" b="0" i="0" u="none" dirty="0">
                <a:solidFill>
                  <a:srgbClr val="475569"/>
                </a:solidFill>
                <a:latin typeface="Noto Sans KR"/>
              </a:rPr>
              <a:t>를 </a:t>
            </a:r>
            <a:r>
              <a:rPr sz="1800" b="0" i="0" u="none" dirty="0" err="1">
                <a:solidFill>
                  <a:srgbClr val="475569"/>
                </a:solidFill>
                <a:latin typeface="Noto Sans KR"/>
              </a:rPr>
              <a:t>최종</a:t>
            </a:r>
            <a:r>
              <a:rPr sz="1800" b="0" i="0" u="none" dirty="0">
                <a:solidFill>
                  <a:srgbClr val="475569"/>
                </a:solidFill>
                <a:latin typeface="Noto Sans KR"/>
              </a:rPr>
              <a:t> </a:t>
            </a:r>
            <a:r>
              <a:rPr sz="1800" b="0" i="0" u="none" dirty="0" err="1">
                <a:solidFill>
                  <a:srgbClr val="475569"/>
                </a:solidFill>
                <a:latin typeface="Noto Sans KR"/>
              </a:rPr>
              <a:t>타겟으로</a:t>
            </a:r>
            <a:r>
              <a:rPr sz="1800" b="0" i="0" u="none" dirty="0">
                <a:solidFill>
                  <a:srgbClr val="475569"/>
                </a:solidFill>
                <a:latin typeface="Noto Sans KR"/>
              </a:rPr>
              <a:t> </a:t>
            </a:r>
            <a:r>
              <a:rPr sz="1800" b="0" i="0" u="none" dirty="0" err="1">
                <a:solidFill>
                  <a:srgbClr val="475569"/>
                </a:solidFill>
                <a:latin typeface="Noto Sans KR"/>
              </a:rPr>
              <a:t>선정</a:t>
            </a:r>
            <a:r>
              <a:rPr sz="1800" b="0" i="0" u="none" dirty="0">
                <a:solidFill>
                  <a:srgbClr val="475569"/>
                </a:solidFill>
                <a:latin typeface="Noto Sans KR"/>
              </a:rPr>
              <a:t>.</a:t>
            </a:r>
          </a:p>
        </p:txBody>
      </p:sp>
      <p:sp>
        <p:nvSpPr>
          <p:cNvPr id="7" name="TextBox 6"/>
          <p:cNvSpPr txBox="1"/>
          <p:nvPr/>
        </p:nvSpPr>
        <p:spPr>
          <a:xfrm>
            <a:off x="4663473" y="1562100"/>
            <a:ext cx="7315162" cy="4457700"/>
          </a:xfrm>
          <a:prstGeom prst="rect">
            <a:avLst/>
          </a:prstGeom>
          <a:noFill/>
        </p:spPr>
        <p:txBody>
          <a:bodyPr wrap="square" lIns="0" tIns="0" rIns="0" bIns="0" anchor="ctr">
            <a:spAutoFit/>
          </a:bodyPr>
          <a:lstStyle/>
          <a:p>
            <a:pPr algn="ctr"/>
            <a:r>
              <a:rPr sz="1500" b="1" i="0" u="none">
                <a:solidFill>
                  <a:srgbClr val="64748B"/>
                </a:solidFill>
                <a:latin typeface="Noto Sans KR"/>
              </a:rPr>
              <a:t>[ 📷 크래머 V계수 분석 코드 및 결과 표 이미지 삽입 ]</a:t>
            </a:r>
          </a:p>
        </p:txBody>
      </p:sp>
      <p:pic>
        <p:nvPicPr>
          <p:cNvPr id="9" name="그림 8" descr="The provided text is a code snippet, specifically a Python script that calculates and prints a DataFrame with statistics about employee attrition based on their years at the company. It uses the pandas library to filter the data, compute the mean attrition rate for new hires versus existing employees, and then performs a chi-square test to evaluate the statistical significance of the difference in attrition rates. The results are displayed in a tabular format, showing thresholds for years at the company, counts of new hires, attrition percentages, the gap in attrition percentages, chi-square statistic, and Cramer's V statistic.&#10;&#10;AI 생성 콘텐츠는 정확하지 않을 수 있습니다.">
            <a:extLst>
              <a:ext uri="{FF2B5EF4-FFF2-40B4-BE49-F238E27FC236}">
                <a16:creationId xmlns:a16="http://schemas.microsoft.com/office/drawing/2014/main" id="{888202F9-0F29-17F7-3BE2-7FB8029C35A2}"/>
              </a:ext>
            </a:extLst>
          </p:cNvPr>
          <p:cNvPicPr>
            <a:picLocks noChangeAspect="1"/>
          </p:cNvPicPr>
          <p:nvPr/>
        </p:nvPicPr>
        <p:blipFill>
          <a:blip r:embed="rId2"/>
          <a:stretch>
            <a:fillRect/>
          </a:stretch>
        </p:blipFill>
        <p:spPr>
          <a:xfrm>
            <a:off x="5212109" y="1333500"/>
            <a:ext cx="6217890" cy="3734751"/>
          </a:xfrm>
          <a:prstGeom prst="rect">
            <a:avLst/>
          </a:prstGeom>
        </p:spPr>
      </p:pic>
      <p:pic>
        <p:nvPicPr>
          <p:cNvPr id="11" name="그림 10" descr="The provided text appears to be a table presenting data on employee retention, comparing new hires and existing employees across different tenure brackets, and including statistical measures such as chi-square and Cramer's V.&#10;&#10;AI 생성 콘텐츠는 정확하지 않을 수 있습니다.">
            <a:extLst>
              <a:ext uri="{FF2B5EF4-FFF2-40B4-BE49-F238E27FC236}">
                <a16:creationId xmlns:a16="http://schemas.microsoft.com/office/drawing/2014/main" id="{551ED95C-6C43-335F-B3BA-A58B0A43B907}"/>
              </a:ext>
            </a:extLst>
          </p:cNvPr>
          <p:cNvPicPr>
            <a:picLocks noChangeAspect="1"/>
          </p:cNvPicPr>
          <p:nvPr/>
        </p:nvPicPr>
        <p:blipFill>
          <a:blip r:embed="rId3"/>
          <a:stretch>
            <a:fillRect/>
          </a:stretch>
        </p:blipFill>
        <p:spPr>
          <a:xfrm>
            <a:off x="5212109" y="5068251"/>
            <a:ext cx="6217890" cy="11801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212109" y="1333500"/>
            <a:ext cx="6217890" cy="4914900"/>
          </a:xfrm>
          <a:prstGeom prst="roundRect">
            <a:avLst>
              <a:gd name="adj" fmla="val 155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변수 유의성 검정 및 전처리</a:t>
            </a:r>
          </a:p>
        </p:txBody>
      </p:sp>
      <p:sp>
        <p:nvSpPr>
          <p:cNvPr id="4" name="TextBox 3"/>
          <p:cNvSpPr txBox="1"/>
          <p:nvPr/>
        </p:nvSpPr>
        <p:spPr>
          <a:xfrm>
            <a:off x="762000" y="1333500"/>
            <a:ext cx="5440719"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퇴사 관련 변수 유의성 검정</a:t>
            </a:r>
          </a:p>
        </p:txBody>
      </p:sp>
      <p:sp>
        <p:nvSpPr>
          <p:cNvPr id="5" name="TextBox 4"/>
          <p:cNvSpPr txBox="1"/>
          <p:nvPr/>
        </p:nvSpPr>
        <p:spPr>
          <a:xfrm>
            <a:off x="4663473" y="1562100"/>
            <a:ext cx="7315162" cy="4457700"/>
          </a:xfrm>
          <a:prstGeom prst="rect">
            <a:avLst/>
          </a:prstGeom>
          <a:noFill/>
        </p:spPr>
        <p:txBody>
          <a:bodyPr wrap="square" lIns="0" tIns="0" rIns="0" bIns="0" anchor="ctr">
            <a:spAutoFit/>
          </a:bodyPr>
          <a:lstStyle/>
          <a:p>
            <a:pPr algn="ctr"/>
            <a:r>
              <a:rPr sz="1500" b="1" i="0" u="none">
                <a:solidFill>
                  <a:srgbClr val="64748B"/>
                </a:solidFill>
                <a:latin typeface="Noto Sans KR"/>
              </a:rPr>
              <a:t>[ 📷 p-value 기반 변수 유의성 검정 표 캡처 삽입 ]</a:t>
            </a:r>
          </a:p>
        </p:txBody>
      </p:sp>
      <p:sp>
        <p:nvSpPr>
          <p:cNvPr id="6" name="TextBox 5"/>
          <p:cNvSpPr txBox="1"/>
          <p:nvPr/>
        </p:nvSpPr>
        <p:spPr>
          <a:xfrm>
            <a:off x="923925" y="188208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7" name="TextBox 6"/>
          <p:cNvSpPr txBox="1"/>
          <p:nvPr/>
        </p:nvSpPr>
        <p:spPr>
          <a:xfrm>
            <a:off x="990600" y="1882080"/>
            <a:ext cx="4011959" cy="571500"/>
          </a:xfrm>
          <a:prstGeom prst="rect">
            <a:avLst/>
          </a:prstGeom>
          <a:noFill/>
        </p:spPr>
        <p:txBody>
          <a:bodyPr wrap="square" lIns="66675" tIns="0" rIns="0" bIns="0" anchor="t">
            <a:spAutoFit/>
          </a:bodyPr>
          <a:lstStyle/>
          <a:p>
            <a:pPr algn="l">
              <a:lnSpc>
                <a:spcPts val="2250"/>
              </a:lnSpc>
            </a:pPr>
            <a:r>
              <a:rPr sz="1500" b="0" i="0" u="none">
                <a:solidFill>
                  <a:srgbClr val="475569"/>
                </a:solidFill>
                <a:latin typeface="Noto Sans KR"/>
              </a:rPr>
              <a:t>p-value 검정을 통해 퇴사와 유의미한 상관관계를 가진 칼럼 선별</a:t>
            </a:r>
          </a:p>
        </p:txBody>
      </p:sp>
      <p:sp>
        <p:nvSpPr>
          <p:cNvPr id="8" name="TextBox 7"/>
          <p:cNvSpPr txBox="1"/>
          <p:nvPr/>
        </p:nvSpPr>
        <p:spPr>
          <a:xfrm>
            <a:off x="923925" y="260598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9" name="TextBox 8"/>
          <p:cNvSpPr txBox="1"/>
          <p:nvPr/>
        </p:nvSpPr>
        <p:spPr>
          <a:xfrm>
            <a:off x="990600" y="2605980"/>
            <a:ext cx="4011959" cy="571500"/>
          </a:xfrm>
          <a:prstGeom prst="rect">
            <a:avLst/>
          </a:prstGeom>
          <a:noFill/>
        </p:spPr>
        <p:txBody>
          <a:bodyPr wrap="square" lIns="66675" tIns="0" rIns="0" bIns="0" anchor="t">
            <a:spAutoFit/>
          </a:bodyPr>
          <a:lstStyle/>
          <a:p>
            <a:pPr algn="l">
              <a:lnSpc>
                <a:spcPts val="2250"/>
              </a:lnSpc>
            </a:pPr>
            <a:r>
              <a:rPr sz="1500" b="0" i="0" u="none">
                <a:solidFill>
                  <a:srgbClr val="475569"/>
                </a:solidFill>
                <a:latin typeface="Noto Sans KR"/>
              </a:rPr>
              <a:t>나이, 결혼여부, 직무, 직급 등 회사에서 통제/변화를 가할 수 없는 인구통계학적 칼럼 제외</a:t>
            </a:r>
          </a:p>
        </p:txBody>
      </p:sp>
      <p:sp>
        <p:nvSpPr>
          <p:cNvPr id="10" name="TextBox 9"/>
          <p:cNvSpPr txBox="1"/>
          <p:nvPr/>
        </p:nvSpPr>
        <p:spPr>
          <a:xfrm>
            <a:off x="923925" y="332988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11" name="TextBox 10"/>
          <p:cNvSpPr txBox="1"/>
          <p:nvPr/>
        </p:nvSpPr>
        <p:spPr>
          <a:xfrm>
            <a:off x="990600" y="3329880"/>
            <a:ext cx="4895887"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최종적으로 유의미한 칼럼 </a:t>
            </a:r>
            <a:r>
              <a:rPr sz="1500" b="1" i="0" u="none">
                <a:solidFill>
                  <a:srgbClr val="2563EB"/>
                </a:solidFill>
                <a:latin typeface="Noto Sans KR"/>
              </a:rPr>
              <a:t>16개 추출</a:t>
            </a:r>
          </a:p>
        </p:txBody>
      </p:sp>
      <p:pic>
        <p:nvPicPr>
          <p:cNvPr id="13" name="그림 12" descr="The image presents a table with various variables, their corresponding p-values, and significance levels (p &lt; 0.05 or p &gt; 0.05), indicating statistical tests results for factors like age, job role, and job satisfaction.">
            <a:extLst>
              <a:ext uri="{FF2B5EF4-FFF2-40B4-BE49-F238E27FC236}">
                <a16:creationId xmlns:a16="http://schemas.microsoft.com/office/drawing/2014/main" id="{41109B45-E352-2A84-4467-0DCAAAE01550}"/>
              </a:ext>
            </a:extLst>
          </p:cNvPr>
          <p:cNvPicPr>
            <a:picLocks noChangeAspect="1"/>
          </p:cNvPicPr>
          <p:nvPr/>
        </p:nvPicPr>
        <p:blipFill>
          <a:blip r:embed="rId2"/>
          <a:stretch>
            <a:fillRect/>
          </a:stretch>
        </p:blipFill>
        <p:spPr>
          <a:xfrm>
            <a:off x="5212109" y="1333500"/>
            <a:ext cx="6217890" cy="4914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212109" y="1333500"/>
            <a:ext cx="6217890" cy="4914900"/>
          </a:xfrm>
          <a:prstGeom prst="roundRect">
            <a:avLst>
              <a:gd name="adj" fmla="val 155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최종 변수 선정 및 데이터 정제</a:t>
            </a:r>
          </a:p>
        </p:txBody>
      </p:sp>
      <p:sp>
        <p:nvSpPr>
          <p:cNvPr id="4" name="TextBox 3"/>
          <p:cNvSpPr txBox="1"/>
          <p:nvPr/>
        </p:nvSpPr>
        <p:spPr>
          <a:xfrm>
            <a:off x="762000" y="1333500"/>
            <a:ext cx="5440719"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최종 선정된 변수</a:t>
            </a:r>
          </a:p>
        </p:txBody>
      </p:sp>
      <p:sp>
        <p:nvSpPr>
          <p:cNvPr id="5" name="TextBox 4"/>
          <p:cNvSpPr txBox="1"/>
          <p:nvPr/>
        </p:nvSpPr>
        <p:spPr>
          <a:xfrm>
            <a:off x="762000" y="1882080"/>
            <a:ext cx="4240559" cy="571500"/>
          </a:xfrm>
          <a:prstGeom prst="rect">
            <a:avLst/>
          </a:prstGeom>
          <a:noFill/>
        </p:spPr>
        <p:txBody>
          <a:bodyPr wrap="square" lIns="0" tIns="0" rIns="0" bIns="0" anchor="t">
            <a:spAutoFit/>
          </a:bodyPr>
          <a:lstStyle/>
          <a:p>
            <a:pPr algn="l">
              <a:lnSpc>
                <a:spcPts val="2250"/>
              </a:lnSpc>
            </a:pPr>
            <a:r>
              <a:rPr sz="1400" b="0" i="0" u="none" dirty="0" err="1">
                <a:solidFill>
                  <a:srgbClr val="475569"/>
                </a:solidFill>
                <a:latin typeface="Noto Sans KR"/>
              </a:rPr>
              <a:t>유의성</a:t>
            </a:r>
            <a:r>
              <a:rPr sz="1400" b="0" i="0" u="none" dirty="0">
                <a:solidFill>
                  <a:srgbClr val="475569"/>
                </a:solidFill>
                <a:latin typeface="Noto Sans KR"/>
              </a:rPr>
              <a:t> </a:t>
            </a:r>
            <a:r>
              <a:rPr sz="1400" b="0" i="0" u="none" dirty="0" err="1">
                <a:solidFill>
                  <a:srgbClr val="475569"/>
                </a:solidFill>
                <a:latin typeface="Noto Sans KR"/>
              </a:rPr>
              <a:t>검정을</a:t>
            </a:r>
            <a:r>
              <a:rPr sz="1400" b="0" i="0" u="none" dirty="0">
                <a:solidFill>
                  <a:srgbClr val="475569"/>
                </a:solidFill>
                <a:latin typeface="Noto Sans KR"/>
              </a:rPr>
              <a:t> </a:t>
            </a:r>
            <a:r>
              <a:rPr sz="1400" b="0" i="0" u="none" dirty="0" err="1">
                <a:solidFill>
                  <a:srgbClr val="475569"/>
                </a:solidFill>
                <a:latin typeface="Noto Sans KR"/>
              </a:rPr>
              <a:t>통과한</a:t>
            </a:r>
            <a:r>
              <a:rPr sz="1400" b="0" i="0" u="none" dirty="0">
                <a:solidFill>
                  <a:srgbClr val="475569"/>
                </a:solidFill>
                <a:latin typeface="Noto Sans KR"/>
              </a:rPr>
              <a:t> 8개 </a:t>
            </a:r>
            <a:r>
              <a:rPr sz="1400" b="0" i="0" u="none" dirty="0" err="1">
                <a:solidFill>
                  <a:srgbClr val="475569"/>
                </a:solidFill>
                <a:latin typeface="Noto Sans KR"/>
              </a:rPr>
              <a:t>칼럼</a:t>
            </a:r>
            <a:r>
              <a:rPr sz="1400" b="0" i="0" u="none" dirty="0">
                <a:solidFill>
                  <a:srgbClr val="475569"/>
                </a:solidFill>
                <a:latin typeface="Noto Sans KR"/>
              </a:rPr>
              <a:t> + (</a:t>
            </a:r>
            <a:r>
              <a:rPr sz="1400" b="0" i="0" u="none" dirty="0" err="1">
                <a:solidFill>
                  <a:srgbClr val="475569"/>
                </a:solidFill>
                <a:latin typeface="Noto Sans KR"/>
              </a:rPr>
              <a:t>근속연수</a:t>
            </a:r>
            <a:r>
              <a:rPr sz="1400" b="0" i="0" u="none" dirty="0">
                <a:solidFill>
                  <a:srgbClr val="475569"/>
                </a:solidFill>
                <a:latin typeface="Noto Sans KR"/>
              </a:rPr>
              <a:t>, </a:t>
            </a:r>
            <a:r>
              <a:rPr sz="1400" b="0" i="0" u="none" dirty="0" err="1">
                <a:solidFill>
                  <a:srgbClr val="475569"/>
                </a:solidFill>
                <a:latin typeface="Noto Sans KR"/>
              </a:rPr>
              <a:t>퇴사</a:t>
            </a:r>
            <a:r>
              <a:rPr sz="1400" b="0" i="0" u="none" dirty="0">
                <a:solidFill>
                  <a:srgbClr val="475569"/>
                </a:solidFill>
                <a:latin typeface="Noto Sans KR"/>
              </a:rPr>
              <a:t> </a:t>
            </a:r>
            <a:r>
              <a:rPr sz="1400" b="0" i="0" u="none" dirty="0" err="1">
                <a:solidFill>
                  <a:srgbClr val="475569"/>
                </a:solidFill>
                <a:latin typeface="Noto Sans KR"/>
              </a:rPr>
              <a:t>여부</a:t>
            </a:r>
            <a:r>
              <a:rPr sz="1400" b="0" i="0" u="none" dirty="0">
                <a:solidFill>
                  <a:srgbClr val="475569"/>
                </a:solidFill>
                <a:latin typeface="Noto Sans KR"/>
              </a:rPr>
              <a:t>) </a:t>
            </a:r>
            <a:endParaRPr lang="en-US" sz="1400" b="0" i="0" u="none" dirty="0">
              <a:solidFill>
                <a:srgbClr val="475569"/>
              </a:solidFill>
              <a:latin typeface="Noto Sans KR"/>
            </a:endParaRPr>
          </a:p>
          <a:p>
            <a:pPr algn="l">
              <a:lnSpc>
                <a:spcPts val="2250"/>
              </a:lnSpc>
            </a:pPr>
            <a:r>
              <a:rPr sz="1400" b="0" i="0" u="none" dirty="0" err="1">
                <a:solidFill>
                  <a:srgbClr val="475569"/>
                </a:solidFill>
                <a:latin typeface="Noto Sans KR"/>
              </a:rPr>
              <a:t>포함</a:t>
            </a:r>
            <a:r>
              <a:rPr sz="1400" b="0" i="0" u="none" dirty="0">
                <a:solidFill>
                  <a:srgbClr val="475569"/>
                </a:solidFill>
                <a:latin typeface="Noto Sans KR"/>
              </a:rPr>
              <a:t> </a:t>
            </a:r>
            <a:r>
              <a:rPr sz="1400" b="1" i="0" u="none" dirty="0">
                <a:solidFill>
                  <a:srgbClr val="2563EB"/>
                </a:solidFill>
                <a:latin typeface="Noto Sans KR"/>
              </a:rPr>
              <a:t>총 10개</a:t>
            </a:r>
          </a:p>
        </p:txBody>
      </p:sp>
      <p:sp>
        <p:nvSpPr>
          <p:cNvPr id="6" name="TextBox 5"/>
          <p:cNvSpPr txBox="1"/>
          <p:nvPr/>
        </p:nvSpPr>
        <p:spPr>
          <a:xfrm>
            <a:off x="762000" y="4510980"/>
            <a:ext cx="5440719"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데이터 정제</a:t>
            </a:r>
          </a:p>
        </p:txBody>
      </p:sp>
      <p:sp>
        <p:nvSpPr>
          <p:cNvPr id="7" name="TextBox 6"/>
          <p:cNvSpPr txBox="1"/>
          <p:nvPr/>
        </p:nvSpPr>
        <p:spPr>
          <a:xfrm>
            <a:off x="762000" y="5059560"/>
            <a:ext cx="4240559" cy="571500"/>
          </a:xfrm>
          <a:prstGeom prst="rect">
            <a:avLst/>
          </a:prstGeom>
          <a:noFill/>
        </p:spPr>
        <p:txBody>
          <a:bodyPr wrap="square" lIns="0" tIns="0" rIns="0" bIns="0" anchor="t">
            <a:spAutoFit/>
          </a:bodyPr>
          <a:lstStyle/>
          <a:p>
            <a:pPr algn="l">
              <a:lnSpc>
                <a:spcPts val="2250"/>
              </a:lnSpc>
            </a:pPr>
            <a:r>
              <a:rPr sz="1500" b="0" i="0" u="none">
                <a:solidFill>
                  <a:srgbClr val="475569"/>
                </a:solidFill>
                <a:latin typeface="Noto Sans KR"/>
              </a:rPr>
              <a:t>Yes/No 등의 문자열 데이터를 모델 학습을 위해 숫자로 변환 (인코딩)</a:t>
            </a:r>
          </a:p>
        </p:txBody>
      </p:sp>
      <p:sp>
        <p:nvSpPr>
          <p:cNvPr id="8" name="TextBox 7"/>
          <p:cNvSpPr txBox="1"/>
          <p:nvPr/>
        </p:nvSpPr>
        <p:spPr>
          <a:xfrm>
            <a:off x="4663473" y="1562100"/>
            <a:ext cx="7315162" cy="4457700"/>
          </a:xfrm>
          <a:prstGeom prst="rect">
            <a:avLst/>
          </a:prstGeom>
          <a:noFill/>
        </p:spPr>
        <p:txBody>
          <a:bodyPr wrap="square" lIns="0" tIns="0" rIns="0" bIns="0" anchor="ctr">
            <a:spAutoFit/>
          </a:bodyPr>
          <a:lstStyle/>
          <a:p>
            <a:pPr algn="ctr"/>
            <a:r>
              <a:rPr sz="1500" b="1" i="0" u="none" dirty="0">
                <a:solidFill>
                  <a:srgbClr val="64748B"/>
                </a:solidFill>
                <a:latin typeface="Noto Sans KR"/>
              </a:rPr>
              <a:t>[ 📷 </a:t>
            </a:r>
            <a:r>
              <a:rPr sz="1500" b="1" i="0" u="none" dirty="0" err="1">
                <a:solidFill>
                  <a:srgbClr val="64748B"/>
                </a:solidFill>
                <a:latin typeface="Noto Sans KR"/>
              </a:rPr>
              <a:t>설명변수</a:t>
            </a:r>
            <a:r>
              <a:rPr sz="1500" b="1" i="0" u="none" dirty="0">
                <a:solidFill>
                  <a:srgbClr val="64748B"/>
                </a:solidFill>
                <a:latin typeface="Noto Sans KR"/>
              </a:rPr>
              <a:t> </a:t>
            </a:r>
            <a:r>
              <a:rPr sz="1500" b="1" i="0" u="none" dirty="0" err="1">
                <a:solidFill>
                  <a:srgbClr val="64748B"/>
                </a:solidFill>
                <a:latin typeface="Noto Sans KR"/>
              </a:rPr>
              <a:t>선정</a:t>
            </a:r>
            <a:r>
              <a:rPr sz="1500" b="1" i="0" u="none" dirty="0">
                <a:solidFill>
                  <a:srgbClr val="64748B"/>
                </a:solidFill>
                <a:latin typeface="Noto Sans KR"/>
              </a:rPr>
              <a:t> 및 </a:t>
            </a:r>
            <a:r>
              <a:rPr sz="1500" b="1" i="0" u="none" dirty="0" err="1">
                <a:solidFill>
                  <a:srgbClr val="64748B"/>
                </a:solidFill>
                <a:latin typeface="Noto Sans KR"/>
              </a:rPr>
              <a:t>인코딩</a:t>
            </a:r>
            <a:r>
              <a:rPr sz="1500" b="1" i="0" u="none" dirty="0">
                <a:solidFill>
                  <a:srgbClr val="64748B"/>
                </a:solidFill>
                <a:latin typeface="Noto Sans KR"/>
              </a:rPr>
              <a:t> </a:t>
            </a:r>
            <a:r>
              <a:rPr sz="1500" b="1" i="0" u="none" dirty="0" err="1">
                <a:solidFill>
                  <a:srgbClr val="64748B"/>
                </a:solidFill>
                <a:latin typeface="Noto Sans KR"/>
              </a:rPr>
              <a:t>결과</a:t>
            </a:r>
            <a:r>
              <a:rPr sz="1500" b="1" i="0" u="none" dirty="0">
                <a:solidFill>
                  <a:srgbClr val="64748B"/>
                </a:solidFill>
                <a:latin typeface="Noto Sans KR"/>
              </a:rPr>
              <a:t> </a:t>
            </a:r>
            <a:r>
              <a:rPr sz="1500" b="1" i="0" u="none" dirty="0" err="1">
                <a:solidFill>
                  <a:srgbClr val="64748B"/>
                </a:solidFill>
                <a:latin typeface="Noto Sans KR"/>
              </a:rPr>
              <a:t>코드</a:t>
            </a:r>
            <a:r>
              <a:rPr sz="1500" b="1" i="0" u="none" dirty="0">
                <a:solidFill>
                  <a:srgbClr val="64748B"/>
                </a:solidFill>
                <a:latin typeface="Noto Sans KR"/>
              </a:rPr>
              <a:t> </a:t>
            </a:r>
            <a:r>
              <a:rPr sz="1500" b="1" i="0" u="none" dirty="0" err="1">
                <a:solidFill>
                  <a:srgbClr val="64748B"/>
                </a:solidFill>
                <a:latin typeface="Noto Sans KR"/>
              </a:rPr>
              <a:t>캡처</a:t>
            </a:r>
            <a:r>
              <a:rPr sz="1500" b="1" i="0" u="none" dirty="0">
                <a:solidFill>
                  <a:srgbClr val="64748B"/>
                </a:solidFill>
                <a:latin typeface="Noto Sans KR"/>
              </a:rPr>
              <a:t> </a:t>
            </a:r>
            <a:r>
              <a:rPr sz="1500" b="1" i="0" u="none" dirty="0" err="1">
                <a:solidFill>
                  <a:srgbClr val="64748B"/>
                </a:solidFill>
                <a:latin typeface="Noto Sans KR"/>
              </a:rPr>
              <a:t>삽입</a:t>
            </a:r>
            <a:r>
              <a:rPr sz="1500" b="1" i="0" u="none" dirty="0">
                <a:solidFill>
                  <a:srgbClr val="64748B"/>
                </a:solidFill>
                <a:latin typeface="Noto Sans KR"/>
              </a:rPr>
              <a:t> ]</a:t>
            </a:r>
          </a:p>
        </p:txBody>
      </p:sp>
      <p:sp>
        <p:nvSpPr>
          <p:cNvPr id="9" name="TextBox 8"/>
          <p:cNvSpPr txBox="1"/>
          <p:nvPr/>
        </p:nvSpPr>
        <p:spPr>
          <a:xfrm>
            <a:off x="923925" y="260598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10" name="TextBox 9"/>
          <p:cNvSpPr txBox="1"/>
          <p:nvPr/>
        </p:nvSpPr>
        <p:spPr>
          <a:xfrm>
            <a:off x="990600" y="2605980"/>
            <a:ext cx="4895887"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OverTime (야근 여부)</a:t>
            </a:r>
          </a:p>
        </p:txBody>
      </p:sp>
      <p:sp>
        <p:nvSpPr>
          <p:cNvPr id="11" name="TextBox 10"/>
          <p:cNvSpPr txBox="1"/>
          <p:nvPr/>
        </p:nvSpPr>
        <p:spPr>
          <a:xfrm>
            <a:off x="923925" y="304413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12" name="TextBox 11"/>
          <p:cNvSpPr txBox="1"/>
          <p:nvPr/>
        </p:nvSpPr>
        <p:spPr>
          <a:xfrm>
            <a:off x="990600" y="3044130"/>
            <a:ext cx="4895887"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MonthlyIncome (월 급여)</a:t>
            </a:r>
          </a:p>
        </p:txBody>
      </p:sp>
      <p:sp>
        <p:nvSpPr>
          <p:cNvPr id="13" name="TextBox 12"/>
          <p:cNvSpPr txBox="1"/>
          <p:nvPr/>
        </p:nvSpPr>
        <p:spPr>
          <a:xfrm>
            <a:off x="923925" y="348228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14" name="TextBox 13"/>
          <p:cNvSpPr txBox="1"/>
          <p:nvPr/>
        </p:nvSpPr>
        <p:spPr>
          <a:xfrm>
            <a:off x="990600" y="3482280"/>
            <a:ext cx="4895887"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EnvironmentSatisfaction (환경 만족도)</a:t>
            </a:r>
          </a:p>
        </p:txBody>
      </p:sp>
      <p:sp>
        <p:nvSpPr>
          <p:cNvPr id="15" name="TextBox 14"/>
          <p:cNvSpPr txBox="1"/>
          <p:nvPr/>
        </p:nvSpPr>
        <p:spPr>
          <a:xfrm>
            <a:off x="923925" y="3920430"/>
            <a:ext cx="66675" cy="285750"/>
          </a:xfrm>
          <a:prstGeom prst="rect">
            <a:avLst/>
          </a:prstGeom>
          <a:noFill/>
        </p:spPr>
        <p:txBody>
          <a:bodyPr wrap="none" lIns="0" tIns="0" rIns="0" bIns="0" anchor="t">
            <a:spAutoFit/>
          </a:bodyPr>
          <a:lstStyle/>
          <a:p>
            <a:pPr algn="l"/>
            <a:r>
              <a:rPr sz="1500" b="0" i="0" u="none">
                <a:solidFill>
                  <a:srgbClr val="475569"/>
                </a:solidFill>
                <a:latin typeface="Noto Sans KR"/>
              </a:rPr>
              <a:t>•</a:t>
            </a:r>
          </a:p>
        </p:txBody>
      </p:sp>
      <p:sp>
        <p:nvSpPr>
          <p:cNvPr id="16" name="TextBox 15"/>
          <p:cNvSpPr txBox="1"/>
          <p:nvPr/>
        </p:nvSpPr>
        <p:spPr>
          <a:xfrm>
            <a:off x="990600" y="3920430"/>
            <a:ext cx="4895887" cy="285750"/>
          </a:xfrm>
          <a:prstGeom prst="rect">
            <a:avLst/>
          </a:prstGeom>
          <a:noFill/>
        </p:spPr>
        <p:txBody>
          <a:bodyPr wrap="none" lIns="66675" tIns="0" rIns="0" bIns="0" anchor="t">
            <a:spAutoFit/>
          </a:bodyPr>
          <a:lstStyle/>
          <a:p>
            <a:pPr algn="l">
              <a:lnSpc>
                <a:spcPts val="2250"/>
              </a:lnSpc>
            </a:pPr>
            <a:r>
              <a:rPr sz="1500" b="0" i="0" u="none">
                <a:solidFill>
                  <a:srgbClr val="475569"/>
                </a:solidFill>
                <a:latin typeface="Noto Sans KR"/>
              </a:rPr>
              <a:t>JobRole, StockOptionLevel 등</a:t>
            </a:r>
          </a:p>
        </p:txBody>
      </p:sp>
      <p:pic>
        <p:nvPicPr>
          <p:cNvPr id="18" name="그림 17">
            <a:extLst>
              <a:ext uri="{FF2B5EF4-FFF2-40B4-BE49-F238E27FC236}">
                <a16:creationId xmlns:a16="http://schemas.microsoft.com/office/drawing/2014/main" id="{31427038-D899-3259-6610-2D01655FE24F}"/>
              </a:ext>
            </a:extLst>
          </p:cNvPr>
          <p:cNvPicPr>
            <a:picLocks noChangeAspect="1"/>
          </p:cNvPicPr>
          <p:nvPr/>
        </p:nvPicPr>
        <p:blipFill>
          <a:blip r:embed="rId2"/>
          <a:stretch>
            <a:fillRect/>
          </a:stretch>
        </p:blipFill>
        <p:spPr>
          <a:xfrm>
            <a:off x="5212111" y="1329965"/>
            <a:ext cx="6217888" cy="3433129"/>
          </a:xfrm>
          <a:prstGeom prst="rect">
            <a:avLst/>
          </a:prstGeom>
        </p:spPr>
      </p:pic>
      <p:pic>
        <p:nvPicPr>
          <p:cNvPr id="20" name="그림 19" descr="The image shows a text display with a filtered dataset size of (342, 10) and a message indicating the completion of data storage in 'Main.csv'.&#10;&#10;AI 생성 콘텐츠는 정확하지 않을 수 있습니다.">
            <a:extLst>
              <a:ext uri="{FF2B5EF4-FFF2-40B4-BE49-F238E27FC236}">
                <a16:creationId xmlns:a16="http://schemas.microsoft.com/office/drawing/2014/main" id="{69ADCEAE-E1CD-EE3B-E03B-CCA49A95DA8E}"/>
              </a:ext>
            </a:extLst>
          </p:cNvPr>
          <p:cNvPicPr>
            <a:picLocks noChangeAspect="1"/>
          </p:cNvPicPr>
          <p:nvPr/>
        </p:nvPicPr>
        <p:blipFill>
          <a:blip r:embed="rId3"/>
          <a:stretch>
            <a:fillRect/>
          </a:stretch>
        </p:blipFill>
        <p:spPr>
          <a:xfrm>
            <a:off x="5211209" y="4766629"/>
            <a:ext cx="6218790" cy="14782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4701182" y="2861369"/>
            <a:ext cx="3661395" cy="639960"/>
          </a:xfrm>
          <a:prstGeom prst="rect">
            <a:avLst/>
          </a:prstGeom>
          <a:noFill/>
        </p:spPr>
        <p:txBody>
          <a:bodyPr wrap="none" lIns="0" tIns="0" rIns="0" bIns="0" anchor="t">
            <a:spAutoFit/>
          </a:bodyPr>
          <a:lstStyle/>
          <a:p>
            <a:pPr algn="l">
              <a:lnSpc>
                <a:spcPts val="5040"/>
              </a:lnSpc>
            </a:pPr>
            <a:r>
              <a:rPr sz="4200" b="1" i="0" u="none">
                <a:solidFill>
                  <a:srgbClr val="FFFFFF"/>
                </a:solidFill>
                <a:latin typeface="Noto Sans KR"/>
              </a:rPr>
              <a:t>3. 모델 구축</a:t>
            </a:r>
          </a:p>
        </p:txBody>
      </p:sp>
      <p:sp>
        <p:nvSpPr>
          <p:cNvPr id="3" name="TextBox 2"/>
          <p:cNvSpPr txBox="1"/>
          <p:nvPr/>
        </p:nvSpPr>
        <p:spPr>
          <a:xfrm>
            <a:off x="4984105" y="3653730"/>
            <a:ext cx="2779737" cy="342900"/>
          </a:xfrm>
          <a:prstGeom prst="rect">
            <a:avLst/>
          </a:prstGeom>
          <a:noFill/>
        </p:spPr>
        <p:txBody>
          <a:bodyPr wrap="none" lIns="0" tIns="0" rIns="0" bIns="0" anchor="t">
            <a:spAutoFit/>
          </a:bodyPr>
          <a:lstStyle/>
          <a:p>
            <a:pPr algn="l">
              <a:lnSpc>
                <a:spcPts val="2700"/>
              </a:lnSpc>
            </a:pPr>
            <a:r>
              <a:rPr sz="1800" b="0" i="0" u="none">
                <a:solidFill>
                  <a:srgbClr val="94A3B8"/>
                </a:solidFill>
                <a:latin typeface="Noto Sans KR"/>
              </a:rPr>
              <a:t>Modeling &amp; Prediction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5505450"/>
            <a:ext cx="10668000" cy="742950"/>
          </a:xfrm>
          <a:prstGeom prst="roundRect">
            <a:avLst>
              <a:gd name="adj" fmla="val 10256"/>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228975"/>
            <a:ext cx="1425178" cy="876300"/>
          </a:xfrm>
          <a:prstGeom prst="roundRect">
            <a:avLst>
              <a:gd name="adj" fmla="val 130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610594" y="3328987"/>
            <a:ext cx="1425178" cy="676275"/>
          </a:xfrm>
          <a:prstGeom prst="roundRect">
            <a:avLst>
              <a:gd name="adj" fmla="val 1690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459188" y="3228975"/>
            <a:ext cx="1425178" cy="876300"/>
          </a:xfrm>
          <a:prstGeom prst="roundRect">
            <a:avLst>
              <a:gd name="adj" fmla="val 130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307782" y="3328987"/>
            <a:ext cx="1425178" cy="676275"/>
          </a:xfrm>
          <a:prstGeom prst="roundRect">
            <a:avLst>
              <a:gd name="adj" fmla="val 1690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156376" y="3328987"/>
            <a:ext cx="1425178" cy="676275"/>
          </a:xfrm>
          <a:prstGeom prst="roundRect">
            <a:avLst>
              <a:gd name="adj" fmla="val 1690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004970" y="3328987"/>
            <a:ext cx="1425178" cy="676275"/>
          </a:xfrm>
          <a:prstGeom prst="roundRect">
            <a:avLst>
              <a:gd name="adj" fmla="val 1690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2"/>
          <a:stretch>
            <a:fillRect/>
          </a:stretch>
        </p:blipFill>
        <p:spPr>
          <a:xfrm>
            <a:off x="2339578" y="3590925"/>
            <a:ext cx="118616" cy="152400"/>
          </a:xfrm>
          <a:prstGeom prst="rect">
            <a:avLst/>
          </a:prstGeom>
        </p:spPr>
      </p:pic>
      <p:pic>
        <p:nvPicPr>
          <p:cNvPr id="10" name="Picture 9" descr="image.png"/>
          <p:cNvPicPr>
            <a:picLocks noChangeAspect="1"/>
          </p:cNvPicPr>
          <p:nvPr/>
        </p:nvPicPr>
        <p:blipFill>
          <a:blip r:embed="rId3"/>
          <a:stretch>
            <a:fillRect/>
          </a:stretch>
        </p:blipFill>
        <p:spPr>
          <a:xfrm>
            <a:off x="4188172" y="3590925"/>
            <a:ext cx="118616" cy="152400"/>
          </a:xfrm>
          <a:prstGeom prst="rect">
            <a:avLst/>
          </a:prstGeom>
        </p:spPr>
      </p:pic>
      <p:pic>
        <p:nvPicPr>
          <p:cNvPr id="11" name="Picture 10" descr="image.png"/>
          <p:cNvPicPr>
            <a:picLocks noChangeAspect="1"/>
          </p:cNvPicPr>
          <p:nvPr/>
        </p:nvPicPr>
        <p:blipFill>
          <a:blip r:embed="rId3"/>
          <a:stretch>
            <a:fillRect/>
          </a:stretch>
        </p:blipFill>
        <p:spPr>
          <a:xfrm>
            <a:off x="6036766" y="3590925"/>
            <a:ext cx="118616" cy="152400"/>
          </a:xfrm>
          <a:prstGeom prst="rect">
            <a:avLst/>
          </a:prstGeom>
        </p:spPr>
      </p:pic>
      <p:pic>
        <p:nvPicPr>
          <p:cNvPr id="12" name="Picture 11" descr="image.png"/>
          <p:cNvPicPr>
            <a:picLocks noChangeAspect="1"/>
          </p:cNvPicPr>
          <p:nvPr/>
        </p:nvPicPr>
        <p:blipFill>
          <a:blip r:embed="rId2"/>
          <a:stretch>
            <a:fillRect/>
          </a:stretch>
        </p:blipFill>
        <p:spPr>
          <a:xfrm>
            <a:off x="7885360" y="3590925"/>
            <a:ext cx="118616" cy="152400"/>
          </a:xfrm>
          <a:prstGeom prst="rect">
            <a:avLst/>
          </a:prstGeom>
        </p:spPr>
      </p:pic>
      <p:pic>
        <p:nvPicPr>
          <p:cNvPr id="13" name="Picture 12" descr="image.png"/>
          <p:cNvPicPr>
            <a:picLocks noChangeAspect="1"/>
          </p:cNvPicPr>
          <p:nvPr/>
        </p:nvPicPr>
        <p:blipFill>
          <a:blip r:embed="rId3"/>
          <a:stretch>
            <a:fillRect/>
          </a:stretch>
        </p:blipFill>
        <p:spPr>
          <a:xfrm>
            <a:off x="9733954" y="3590925"/>
            <a:ext cx="118616" cy="152400"/>
          </a:xfrm>
          <a:prstGeom prst="rect">
            <a:avLst/>
          </a:prstGeom>
        </p:spPr>
      </p:pic>
      <p:sp>
        <p:nvSpPr>
          <p:cNvPr id="14" name="TextBox 13"/>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퇴사 예측 모델링</a:t>
            </a:r>
          </a:p>
        </p:txBody>
      </p:sp>
      <p:sp>
        <p:nvSpPr>
          <p:cNvPr id="15" name="TextBox 14"/>
          <p:cNvSpPr txBox="1"/>
          <p:nvPr/>
        </p:nvSpPr>
        <p:spPr>
          <a:xfrm>
            <a:off x="762000" y="156210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전처리 완료 데이터부터 최종 모델 선정까지의 전체 분석 프로세스 흐름</a:t>
            </a:r>
          </a:p>
        </p:txBody>
      </p:sp>
      <p:sp>
        <p:nvSpPr>
          <p:cNvPr id="16" name="TextBox 15"/>
          <p:cNvSpPr txBox="1"/>
          <p:nvPr/>
        </p:nvSpPr>
        <p:spPr>
          <a:xfrm>
            <a:off x="781050" y="3467100"/>
            <a:ext cx="1387078" cy="400050"/>
          </a:xfrm>
          <a:prstGeom prst="rect">
            <a:avLst/>
          </a:prstGeom>
          <a:noFill/>
        </p:spPr>
        <p:txBody>
          <a:bodyPr wrap="square" lIns="0" tIns="0" rIns="0" bIns="0" anchor="t">
            <a:spAutoFit/>
          </a:bodyPr>
          <a:lstStyle/>
          <a:p>
            <a:pPr algn="ctr"/>
            <a:r>
              <a:rPr sz="1200" b="0" i="0" u="none">
                <a:solidFill>
                  <a:srgbClr val="1E293B"/>
                </a:solidFill>
                <a:latin typeface="Noto Sans KR"/>
              </a:rPr>
              <a:t>전처리 완료 데이터</a:t>
            </a:r>
          </a:p>
        </p:txBody>
      </p:sp>
      <p:sp>
        <p:nvSpPr>
          <p:cNvPr id="17" name="TextBox 16"/>
          <p:cNvSpPr txBox="1"/>
          <p:nvPr/>
        </p:nvSpPr>
        <p:spPr>
          <a:xfrm>
            <a:off x="2629644" y="3567112"/>
            <a:ext cx="1387078" cy="200025"/>
          </a:xfrm>
          <a:prstGeom prst="rect">
            <a:avLst/>
          </a:prstGeom>
          <a:noFill/>
        </p:spPr>
        <p:txBody>
          <a:bodyPr wrap="none" lIns="0" tIns="0" rIns="0" bIns="0" anchor="t">
            <a:spAutoFit/>
          </a:bodyPr>
          <a:lstStyle/>
          <a:p>
            <a:pPr algn="ctr"/>
            <a:r>
              <a:rPr sz="1200" b="0" i="0" u="none">
                <a:solidFill>
                  <a:srgbClr val="1E293B"/>
                </a:solidFill>
                <a:latin typeface="Noto Sans KR"/>
              </a:rPr>
              <a:t>Train / Test 분할</a:t>
            </a:r>
          </a:p>
        </p:txBody>
      </p:sp>
      <p:sp>
        <p:nvSpPr>
          <p:cNvPr id="18" name="TextBox 17"/>
          <p:cNvSpPr txBox="1"/>
          <p:nvPr/>
        </p:nvSpPr>
        <p:spPr>
          <a:xfrm>
            <a:off x="4478238" y="3467100"/>
            <a:ext cx="1387078" cy="400050"/>
          </a:xfrm>
          <a:prstGeom prst="rect">
            <a:avLst/>
          </a:prstGeom>
          <a:noFill/>
        </p:spPr>
        <p:txBody>
          <a:bodyPr wrap="square" lIns="0" tIns="0" rIns="0" bIns="0" anchor="t">
            <a:spAutoFit/>
          </a:bodyPr>
          <a:lstStyle/>
          <a:p>
            <a:pPr algn="ctr"/>
            <a:r>
              <a:rPr sz="1200" b="0" i="0" u="none">
                <a:solidFill>
                  <a:srgbClr val="1E293B"/>
                </a:solidFill>
                <a:latin typeface="Noto Sans KR"/>
              </a:rPr>
              <a:t>11개 분류모델 학습</a:t>
            </a:r>
          </a:p>
        </p:txBody>
      </p:sp>
      <p:sp>
        <p:nvSpPr>
          <p:cNvPr id="19" name="TextBox 18"/>
          <p:cNvSpPr txBox="1"/>
          <p:nvPr/>
        </p:nvSpPr>
        <p:spPr>
          <a:xfrm>
            <a:off x="6326832" y="3567112"/>
            <a:ext cx="1387078" cy="200025"/>
          </a:xfrm>
          <a:prstGeom prst="rect">
            <a:avLst/>
          </a:prstGeom>
          <a:noFill/>
        </p:spPr>
        <p:txBody>
          <a:bodyPr wrap="none" lIns="0" tIns="0" rIns="0" bIns="0" anchor="t">
            <a:spAutoFit/>
          </a:bodyPr>
          <a:lstStyle/>
          <a:p>
            <a:pPr algn="ctr"/>
            <a:r>
              <a:rPr sz="1200" b="0" i="0" u="none">
                <a:solidFill>
                  <a:srgbClr val="1E293B"/>
                </a:solidFill>
                <a:latin typeface="Noto Sans KR"/>
              </a:rPr>
              <a:t>파라미터 튜닝</a:t>
            </a:r>
          </a:p>
        </p:txBody>
      </p:sp>
      <p:sp>
        <p:nvSpPr>
          <p:cNvPr id="20" name="TextBox 19"/>
          <p:cNvSpPr txBox="1"/>
          <p:nvPr/>
        </p:nvSpPr>
        <p:spPr>
          <a:xfrm>
            <a:off x="8175426" y="3567112"/>
            <a:ext cx="1387078" cy="200025"/>
          </a:xfrm>
          <a:prstGeom prst="rect">
            <a:avLst/>
          </a:prstGeom>
          <a:noFill/>
        </p:spPr>
        <p:txBody>
          <a:bodyPr wrap="none" lIns="0" tIns="0" rIns="0" bIns="0" anchor="t">
            <a:spAutoFit/>
          </a:bodyPr>
          <a:lstStyle/>
          <a:p>
            <a:pPr algn="ctr"/>
            <a:r>
              <a:rPr sz="1200" b="0" i="0" u="none">
                <a:solidFill>
                  <a:srgbClr val="1E293B"/>
                </a:solidFill>
                <a:latin typeface="Noto Sans KR"/>
              </a:rPr>
              <a:t>Test 성능 평가</a:t>
            </a:r>
          </a:p>
        </p:txBody>
      </p:sp>
      <p:sp>
        <p:nvSpPr>
          <p:cNvPr id="21" name="TextBox 20"/>
          <p:cNvSpPr txBox="1"/>
          <p:nvPr/>
        </p:nvSpPr>
        <p:spPr>
          <a:xfrm>
            <a:off x="10024020" y="3567112"/>
            <a:ext cx="1387078" cy="200025"/>
          </a:xfrm>
          <a:prstGeom prst="rect">
            <a:avLst/>
          </a:prstGeom>
          <a:noFill/>
        </p:spPr>
        <p:txBody>
          <a:bodyPr wrap="none" lIns="0" tIns="0" rIns="0" bIns="0" anchor="t">
            <a:spAutoFit/>
          </a:bodyPr>
          <a:lstStyle/>
          <a:p>
            <a:pPr algn="ctr"/>
            <a:r>
              <a:rPr sz="1200" b="0" i="0" u="none">
                <a:solidFill>
                  <a:srgbClr val="0F172A"/>
                </a:solidFill>
                <a:latin typeface="Noto Sans KR"/>
              </a:rPr>
              <a:t>최종 모델 선정</a:t>
            </a:r>
          </a:p>
        </p:txBody>
      </p:sp>
      <p:sp>
        <p:nvSpPr>
          <p:cNvPr id="22" name="TextBox 21"/>
          <p:cNvSpPr txBox="1"/>
          <p:nvPr/>
        </p:nvSpPr>
        <p:spPr>
          <a:xfrm>
            <a:off x="1066800" y="5734050"/>
            <a:ext cx="3937062" cy="285750"/>
          </a:xfrm>
          <a:prstGeom prst="rect">
            <a:avLst/>
          </a:prstGeom>
          <a:noFill/>
        </p:spPr>
        <p:txBody>
          <a:bodyPr wrap="none" lIns="0" tIns="0" rIns="0" bIns="0" anchor="t">
            <a:spAutoFit/>
          </a:bodyPr>
          <a:lstStyle/>
          <a:p>
            <a:pPr algn="l">
              <a:lnSpc>
                <a:spcPts val="2250"/>
              </a:lnSpc>
            </a:pPr>
            <a:r>
              <a:rPr sz="1500" b="1" i="0" u="none">
                <a:solidFill>
                  <a:srgbClr val="2563EB"/>
                </a:solidFill>
                <a:latin typeface="Noto Sans KR"/>
              </a:rPr>
              <a:t>342명, Attrition 이진분류</a:t>
            </a:r>
          </a:p>
        </p:txBody>
      </p:sp>
      <p:sp>
        <p:nvSpPr>
          <p:cNvPr id="23" name="TextBox 22"/>
          <p:cNvSpPr txBox="1"/>
          <p:nvPr/>
        </p:nvSpPr>
        <p:spPr>
          <a:xfrm>
            <a:off x="4521249" y="5734050"/>
            <a:ext cx="3937062" cy="285750"/>
          </a:xfrm>
          <a:prstGeom prst="rect">
            <a:avLst/>
          </a:prstGeom>
          <a:noFill/>
        </p:spPr>
        <p:txBody>
          <a:bodyPr wrap="none" lIns="0" tIns="0" rIns="0" bIns="0" anchor="t">
            <a:spAutoFit/>
          </a:bodyPr>
          <a:lstStyle/>
          <a:p>
            <a:pPr algn="l">
              <a:lnSpc>
                <a:spcPts val="2250"/>
              </a:lnSpc>
            </a:pPr>
            <a:r>
              <a:rPr sz="1500" b="1" i="0" u="none">
                <a:solidFill>
                  <a:srgbClr val="2563EB"/>
                </a:solidFill>
                <a:latin typeface="Noto Sans KR"/>
              </a:rPr>
              <a:t>모든 모델 공통 Train/Test 비교</a:t>
            </a:r>
          </a:p>
        </p:txBody>
      </p:sp>
      <p:sp>
        <p:nvSpPr>
          <p:cNvPr id="24" name="TextBox 23"/>
          <p:cNvSpPr txBox="1"/>
          <p:nvPr/>
        </p:nvSpPr>
        <p:spPr>
          <a:xfrm>
            <a:off x="7975699" y="5734050"/>
            <a:ext cx="3937062" cy="285750"/>
          </a:xfrm>
          <a:prstGeom prst="rect">
            <a:avLst/>
          </a:prstGeom>
          <a:noFill/>
        </p:spPr>
        <p:txBody>
          <a:bodyPr wrap="none" lIns="0" tIns="0" rIns="0" bIns="0" anchor="t">
            <a:spAutoFit/>
          </a:bodyPr>
          <a:lstStyle/>
          <a:p>
            <a:pPr algn="l">
              <a:lnSpc>
                <a:spcPts val="2250"/>
              </a:lnSpc>
            </a:pPr>
            <a:r>
              <a:rPr sz="1500" b="1" i="0" u="none">
                <a:solidFill>
                  <a:srgbClr val="2563EB"/>
                </a:solidFill>
                <a:latin typeface="Noto Sans KR"/>
              </a:rPr>
              <a:t>11개 모델을 4개 계열로 구분 평가</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2133600"/>
            <a:ext cx="5105400" cy="4114800"/>
          </a:xfrm>
          <a:prstGeom prst="roundRect">
            <a:avLst>
              <a:gd name="adj" fmla="val 1851"/>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공통 Train / Test 데이터 분리</a:t>
            </a:r>
          </a:p>
        </p:txBody>
      </p:sp>
      <p:sp>
        <p:nvSpPr>
          <p:cNvPr id="4" name="TextBox 3"/>
          <p:cNvSpPr txBox="1"/>
          <p:nvPr/>
        </p:nvSpPr>
        <p:spPr>
          <a:xfrm>
            <a:off x="762000" y="133350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모든 팀원이 동일한 표본으로 모델을 비교하기 위한 공통 설정</a:t>
            </a:r>
          </a:p>
        </p:txBody>
      </p:sp>
      <p:sp>
        <p:nvSpPr>
          <p:cNvPr id="5" name="TextBox 4"/>
          <p:cNvSpPr txBox="1"/>
          <p:nvPr/>
        </p:nvSpPr>
        <p:spPr>
          <a:xfrm>
            <a:off x="352425" y="2362200"/>
            <a:ext cx="5924550" cy="3657600"/>
          </a:xfrm>
          <a:prstGeom prst="rect">
            <a:avLst/>
          </a:prstGeom>
          <a:noFill/>
        </p:spPr>
        <p:txBody>
          <a:bodyPr wrap="square" lIns="0" tIns="0" rIns="0" bIns="0" anchor="ctr">
            <a:spAutoFit/>
          </a:bodyPr>
          <a:lstStyle/>
          <a:p>
            <a:pPr algn="ctr"/>
            <a:r>
              <a:rPr sz="1500" b="1" i="0" u="none">
                <a:solidFill>
                  <a:srgbClr val="F8FAFC"/>
                </a:solidFill>
                <a:latin typeface="Noto Sans KR"/>
              </a:rPr>
              <a:t>[ 📷 train_test_split 코드 캡처 삽입 ]</a:t>
            </a:r>
          </a:p>
        </p:txBody>
      </p:sp>
      <p:sp>
        <p:nvSpPr>
          <p:cNvPr id="6" name="TextBox 5"/>
          <p:cNvSpPr txBox="1"/>
          <p:nvPr/>
        </p:nvSpPr>
        <p:spPr>
          <a:xfrm>
            <a:off x="6324600" y="2533650"/>
            <a:ext cx="5867400" cy="342900"/>
          </a:xfrm>
          <a:prstGeom prst="rect">
            <a:avLst/>
          </a:prstGeom>
          <a:noFill/>
        </p:spPr>
        <p:txBody>
          <a:bodyPr wrap="none" lIns="0" tIns="0" rIns="0" bIns="0" anchor="t">
            <a:spAutoFit/>
          </a:bodyPr>
          <a:lstStyle/>
          <a:p>
            <a:pPr algn="l">
              <a:lnSpc>
                <a:spcPts val="2700"/>
              </a:lnSpc>
            </a:pPr>
            <a:r>
              <a:rPr sz="1800" b="0" i="0" u="none">
                <a:solidFill>
                  <a:srgbClr val="1E293B"/>
                </a:solidFill>
                <a:latin typeface="Noto Sans KR"/>
              </a:rPr>
              <a:t>전체 342명 → Train 273명(80%) / Test 69명(20%)</a:t>
            </a:r>
          </a:p>
        </p:txBody>
      </p:sp>
      <p:sp>
        <p:nvSpPr>
          <p:cNvPr id="7" name="TextBox 6"/>
          <p:cNvSpPr txBox="1"/>
          <p:nvPr/>
        </p:nvSpPr>
        <p:spPr>
          <a:xfrm>
            <a:off x="6324600" y="3105150"/>
            <a:ext cx="5867400" cy="342900"/>
          </a:xfrm>
          <a:prstGeom prst="rect">
            <a:avLst/>
          </a:prstGeom>
          <a:noFill/>
        </p:spPr>
        <p:txBody>
          <a:bodyPr wrap="none" lIns="0" tIns="0" rIns="0" bIns="0" anchor="t">
            <a:spAutoFit/>
          </a:bodyPr>
          <a:lstStyle/>
          <a:p>
            <a:pPr algn="l">
              <a:lnSpc>
                <a:spcPts val="2700"/>
              </a:lnSpc>
            </a:pPr>
            <a:r>
              <a:rPr sz="1800" b="1" i="0" u="none">
                <a:solidFill>
                  <a:srgbClr val="2563EB"/>
                </a:solidFill>
                <a:latin typeface="Noto Sans KR"/>
              </a:rPr>
              <a:t>Train:</a:t>
            </a:r>
            <a:r>
              <a:rPr sz="1800" b="0" i="0" u="none">
                <a:solidFill>
                  <a:srgbClr val="1E293B"/>
                </a:solidFill>
                <a:latin typeface="Noto Sans KR"/>
              </a:rPr>
              <a:t> 모델 학습 및 튜닝에 사용</a:t>
            </a:r>
          </a:p>
        </p:txBody>
      </p:sp>
      <p:sp>
        <p:nvSpPr>
          <p:cNvPr id="8" name="TextBox 7"/>
          <p:cNvSpPr txBox="1"/>
          <p:nvPr/>
        </p:nvSpPr>
        <p:spPr>
          <a:xfrm>
            <a:off x="6324600" y="3676650"/>
            <a:ext cx="5200650" cy="685800"/>
          </a:xfrm>
          <a:prstGeom prst="rect">
            <a:avLst/>
          </a:prstGeom>
          <a:noFill/>
        </p:spPr>
        <p:txBody>
          <a:bodyPr wrap="square" lIns="0" tIns="0" rIns="0" bIns="0" anchor="t">
            <a:spAutoFit/>
          </a:bodyPr>
          <a:lstStyle/>
          <a:p>
            <a:pPr algn="l">
              <a:lnSpc>
                <a:spcPts val="2700"/>
              </a:lnSpc>
            </a:pPr>
            <a:r>
              <a:rPr sz="1800" b="1" i="0" u="none">
                <a:solidFill>
                  <a:srgbClr val="2563EB"/>
                </a:solidFill>
                <a:latin typeface="Noto Sans KR"/>
              </a:rPr>
              <a:t>Test:</a:t>
            </a:r>
            <a:r>
              <a:rPr sz="1800" b="0" i="0" u="none">
                <a:solidFill>
                  <a:srgbClr val="1E293B"/>
                </a:solidFill>
                <a:latin typeface="Noto Sans KR"/>
              </a:rPr>
              <a:t> 학습에 사용하지 않고 최종 성능 평가에만 사용</a:t>
            </a:r>
          </a:p>
        </p:txBody>
      </p:sp>
      <p:sp>
        <p:nvSpPr>
          <p:cNvPr id="9" name="TextBox 8"/>
          <p:cNvSpPr txBox="1"/>
          <p:nvPr/>
        </p:nvSpPr>
        <p:spPr>
          <a:xfrm>
            <a:off x="6324600" y="4591050"/>
            <a:ext cx="5867400" cy="342900"/>
          </a:xfrm>
          <a:prstGeom prst="rect">
            <a:avLst/>
          </a:prstGeom>
          <a:noFill/>
        </p:spPr>
        <p:txBody>
          <a:bodyPr wrap="none" lIns="0" tIns="0" rIns="0" bIns="0" anchor="t">
            <a:spAutoFit/>
          </a:bodyPr>
          <a:lstStyle/>
          <a:p>
            <a:pPr algn="l">
              <a:lnSpc>
                <a:spcPts val="2700"/>
              </a:lnSpc>
            </a:pPr>
            <a:r>
              <a:rPr sz="1800" b="1" i="0" u="none">
                <a:solidFill>
                  <a:srgbClr val="2563EB"/>
                </a:solidFill>
                <a:latin typeface="Noto Sans KR"/>
              </a:rPr>
              <a:t>stratify=y:</a:t>
            </a:r>
            <a:r>
              <a:rPr sz="1800" b="0" i="0" u="none">
                <a:solidFill>
                  <a:srgbClr val="1E293B"/>
                </a:solidFill>
                <a:latin typeface="Noto Sans KR"/>
              </a:rPr>
              <a:t> 퇴사/잔류 비율 유지</a:t>
            </a:r>
          </a:p>
        </p:txBody>
      </p:sp>
      <p:sp>
        <p:nvSpPr>
          <p:cNvPr id="10" name="TextBox 9"/>
          <p:cNvSpPr txBox="1"/>
          <p:nvPr/>
        </p:nvSpPr>
        <p:spPr>
          <a:xfrm>
            <a:off x="6324600" y="5162550"/>
            <a:ext cx="5200650" cy="685800"/>
          </a:xfrm>
          <a:prstGeom prst="rect">
            <a:avLst/>
          </a:prstGeom>
          <a:noFill/>
        </p:spPr>
        <p:txBody>
          <a:bodyPr wrap="square" lIns="0" tIns="0" rIns="0" bIns="0" anchor="t">
            <a:spAutoFit/>
          </a:bodyPr>
          <a:lstStyle/>
          <a:p>
            <a:pPr algn="l">
              <a:lnSpc>
                <a:spcPts val="2700"/>
              </a:lnSpc>
            </a:pPr>
            <a:r>
              <a:rPr sz="1800" b="1" i="0" u="none">
                <a:solidFill>
                  <a:srgbClr val="2563EB"/>
                </a:solidFill>
                <a:latin typeface="Noto Sans KR"/>
              </a:rPr>
              <a:t>random_state=42:</a:t>
            </a:r>
            <a:r>
              <a:rPr sz="1800" b="0" i="0" u="none">
                <a:solidFill>
                  <a:srgbClr val="1E293B"/>
                </a:solidFill>
                <a:latin typeface="Noto Sans KR"/>
              </a:rPr>
              <a:t> 팀원별 분할 결과 동일하게 고정</a:t>
            </a:r>
          </a:p>
        </p:txBody>
      </p:sp>
      <p:pic>
        <p:nvPicPr>
          <p:cNvPr id="12" name="그림 11" descr="The provided text is a snippet of Python code that demonstrates data preprocessing and splitting for machine learning, specifically for a dataset with a column named 'Attrition'.&#10;&#10;AI 생성 콘텐츠는 정확하지 않을 수 있습니다.">
            <a:extLst>
              <a:ext uri="{FF2B5EF4-FFF2-40B4-BE49-F238E27FC236}">
                <a16:creationId xmlns:a16="http://schemas.microsoft.com/office/drawing/2014/main" id="{791028B7-332A-B3EA-9B77-FC394C7F59EE}"/>
              </a:ext>
            </a:extLst>
          </p:cNvPr>
          <p:cNvPicPr>
            <a:picLocks noChangeAspect="1"/>
          </p:cNvPicPr>
          <p:nvPr/>
        </p:nvPicPr>
        <p:blipFill>
          <a:blip r:embed="rId2"/>
          <a:stretch>
            <a:fillRect/>
          </a:stretch>
        </p:blipFill>
        <p:spPr>
          <a:xfrm>
            <a:off x="762000" y="2133600"/>
            <a:ext cx="5105400" cy="4114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62000" y="2686050"/>
            <a:ext cx="1896665"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658665" y="2686050"/>
            <a:ext cx="4134296"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792962" y="2686050"/>
            <a:ext cx="4637037"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3243262"/>
            <a:ext cx="18966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658665" y="3243262"/>
            <a:ext cx="413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792962" y="3243262"/>
            <a:ext cx="4637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2000" y="3786187"/>
            <a:ext cx="18966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658665" y="3786187"/>
            <a:ext cx="413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792962" y="3786187"/>
            <a:ext cx="4637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2000" y="4329112"/>
            <a:ext cx="18966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658665" y="4329112"/>
            <a:ext cx="413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792962" y="4329112"/>
            <a:ext cx="4637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2000" y="4872037"/>
            <a:ext cx="18966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658665" y="4872037"/>
            <a:ext cx="413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792962" y="4872037"/>
            <a:ext cx="4637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62000" y="5414962"/>
            <a:ext cx="189666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658665" y="5414962"/>
            <a:ext cx="413429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792962" y="5414962"/>
            <a:ext cx="463703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Table 19"/>
          <p:cNvGraphicFramePr>
            <a:graphicFrameLocks noGrp="1"/>
          </p:cNvGraphicFramePr>
          <p:nvPr/>
        </p:nvGraphicFramePr>
        <p:xfrm>
          <a:off x="762000" y="2133600"/>
          <a:ext cx="10667998" cy="3295650"/>
        </p:xfrm>
        <a:graphic>
          <a:graphicData uri="http://schemas.openxmlformats.org/drawingml/2006/table">
            <a:tbl>
              <a:tblPr/>
              <a:tblGrid>
                <a:gridCol w="1896665">
                  <a:extLst>
                    <a:ext uri="{9D8B030D-6E8A-4147-A177-3AD203B41FA5}">
                      <a16:colId xmlns:a16="http://schemas.microsoft.com/office/drawing/2014/main" val="20000"/>
                    </a:ext>
                  </a:extLst>
                </a:gridCol>
                <a:gridCol w="4134296">
                  <a:extLst>
                    <a:ext uri="{9D8B030D-6E8A-4147-A177-3AD203B41FA5}">
                      <a16:colId xmlns:a16="http://schemas.microsoft.com/office/drawing/2014/main" val="20001"/>
                    </a:ext>
                  </a:extLst>
                </a:gridCol>
                <a:gridCol w="4637037">
                  <a:extLst>
                    <a:ext uri="{9D8B030D-6E8A-4147-A177-3AD203B41FA5}">
                      <a16:colId xmlns:a16="http://schemas.microsoft.com/office/drawing/2014/main" val="20002"/>
                    </a:ext>
                  </a:extLst>
                </a:gridCol>
              </a:tblGrid>
              <a:tr h="549275">
                <a:tc>
                  <a:txBody>
                    <a:bodyPr/>
                    <a:lstStyle/>
                    <a:p>
                      <a:pPr algn="l"/>
                      <a:r>
                        <a:rPr sz="1500" b="1" i="0" u="none">
                          <a:solidFill>
                            <a:srgbClr val="1E293B"/>
                          </a:solidFill>
                          <a:latin typeface="Noto Sans KR"/>
                        </a:rPr>
                        <a:t>지표</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1E293B"/>
                          </a:solidFill>
                          <a:latin typeface="Noto Sans KR"/>
                        </a:rPr>
                        <a:t>의미</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1E293B"/>
                          </a:solidFill>
                          <a:latin typeface="Noto Sans KR"/>
                        </a:rPr>
                        <a:t>본 분석에서의 의미</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549275">
                <a:tc>
                  <a:txBody>
                    <a:bodyPr/>
                    <a:lstStyle/>
                    <a:p>
                      <a:pPr algn="l"/>
                      <a:r>
                        <a:rPr sz="1350" b="1" i="0" u="none">
                          <a:solidFill>
                            <a:srgbClr val="000000"/>
                          </a:solidFill>
                          <a:latin typeface="Noto Sans KR"/>
                        </a:rPr>
                        <a:t>Accuracy</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전체 예측 중 맞춘 비율</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퇴사/잔류 전체 예측 정확도</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549275">
                <a:tc>
                  <a:txBody>
                    <a:bodyPr/>
                    <a:lstStyle/>
                    <a:p>
                      <a:pPr algn="l"/>
                      <a:r>
                        <a:rPr sz="1350" b="1" i="0" u="none">
                          <a:solidFill>
                            <a:srgbClr val="000000"/>
                          </a:solidFill>
                          <a:latin typeface="Noto Sans KR"/>
                        </a:rPr>
                        <a:t>Precision</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퇴사 예측 중 실제 퇴사 비율</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위험군으로 잡은 직원의 정확성</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549275">
                <a:tc>
                  <a:txBody>
                    <a:bodyPr/>
                    <a:lstStyle/>
                    <a:p>
                      <a:pPr algn="l"/>
                      <a:r>
                        <a:rPr sz="1350" b="1" i="0" u="none">
                          <a:solidFill>
                            <a:srgbClr val="000000"/>
                          </a:solidFill>
                          <a:latin typeface="Noto Sans KR"/>
                        </a:rPr>
                        <a:t>Recall</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실제 퇴사자 중 찾아낸 비율</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실제 퇴사자를 놓치지 않는 정도</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549275">
                <a:tc>
                  <a:txBody>
                    <a:bodyPr/>
                    <a:lstStyle/>
                    <a:p>
                      <a:pPr algn="l"/>
                      <a:r>
                        <a:rPr sz="1350" b="1" i="0" u="none">
                          <a:solidFill>
                            <a:srgbClr val="2563EB"/>
                          </a:solidFill>
                          <a:latin typeface="Noto Sans KR"/>
                        </a:rPr>
                        <a:t>F1-score</a:t>
                      </a:r>
                    </a:p>
                  </a:txBody>
                  <a:tcPr marL="63500" marR="63500" marT="25400" marB="25400" anchor="ctr">
                    <a:lnL>
                      <a:noFill/>
                    </a:lnL>
                    <a:lnR>
                      <a:noFill/>
                    </a:lnR>
                    <a:lnT>
                      <a:noFill/>
                    </a:lnT>
                    <a:lnB>
                      <a:noFill/>
                    </a:lnB>
                    <a:solidFill>
                      <a:srgbClr val="EFF6FF"/>
                    </a:solidFill>
                  </a:tcPr>
                </a:tc>
                <a:tc>
                  <a:txBody>
                    <a:bodyPr/>
                    <a:lstStyle/>
                    <a:p>
                      <a:pPr algn="l"/>
                      <a:r>
                        <a:rPr sz="1350" b="0" i="0" u="none">
                          <a:solidFill>
                            <a:srgbClr val="2563EB"/>
                          </a:solidFill>
                          <a:latin typeface="Noto Sans KR"/>
                        </a:rPr>
                        <a:t>Precision·Recall 조화평균</a:t>
                      </a:r>
                    </a:p>
                  </a:txBody>
                  <a:tcPr marL="63500" marR="63500" marT="25400" marB="25400" anchor="ctr">
                    <a:lnL>
                      <a:noFill/>
                    </a:lnL>
                    <a:lnR>
                      <a:noFill/>
                    </a:lnR>
                    <a:lnT>
                      <a:noFill/>
                    </a:lnT>
                    <a:lnB>
                      <a:noFill/>
                    </a:lnB>
                    <a:solidFill>
                      <a:srgbClr val="EFF6FF"/>
                    </a:solidFill>
                  </a:tcPr>
                </a:tc>
                <a:tc>
                  <a:txBody>
                    <a:bodyPr/>
                    <a:lstStyle/>
                    <a:p>
                      <a:pPr algn="l"/>
                      <a:r>
                        <a:rPr sz="1350" b="1" i="0" u="none">
                          <a:solidFill>
                            <a:srgbClr val="2563EB"/>
                          </a:solidFill>
                          <a:latin typeface="Noto Sans KR"/>
                        </a:rPr>
                        <a:t>정확성과 탐지력의 균형</a:t>
                      </a:r>
                    </a:p>
                  </a:txBody>
                  <a:tcPr marL="63500" marR="63500" marT="25400" marB="25400" anchor="ctr">
                    <a:lnL>
                      <a:noFill/>
                    </a:lnL>
                    <a:lnR>
                      <a:noFill/>
                    </a:lnR>
                    <a:lnT>
                      <a:noFill/>
                    </a:lnT>
                    <a:lnB>
                      <a:noFill/>
                    </a:lnB>
                    <a:solidFill>
                      <a:srgbClr val="EFF6FF"/>
                    </a:solidFill>
                  </a:tcPr>
                </a:tc>
                <a:extLst>
                  <a:ext uri="{0D108BD9-81ED-4DB2-BD59-A6C34878D82A}">
                    <a16:rowId xmlns:a16="http://schemas.microsoft.com/office/drawing/2014/main" val="10004"/>
                  </a:ext>
                </a:extLst>
              </a:tr>
              <a:tr h="549275">
                <a:tc>
                  <a:txBody>
                    <a:bodyPr/>
                    <a:lstStyle/>
                    <a:p>
                      <a:pPr algn="l"/>
                      <a:r>
                        <a:rPr sz="1350" b="1" i="0" u="none">
                          <a:solidFill>
                            <a:srgbClr val="000000"/>
                          </a:solidFill>
                          <a:latin typeface="Noto Sans KR"/>
                        </a:rPr>
                        <a:t>ROC-AUC</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전반적인 분류 구분 능력</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퇴사자와 잔류자 구분 능력</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5"/>
                  </a:ext>
                </a:extLst>
              </a:tr>
            </a:tbl>
          </a:graphicData>
        </a:graphic>
      </p:graphicFrame>
      <p:sp>
        <p:nvSpPr>
          <p:cNvPr id="21" name="TextBox 20"/>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분류모델 성능 평가 지표</a:t>
            </a:r>
          </a:p>
        </p:txBody>
      </p:sp>
      <p:sp>
        <p:nvSpPr>
          <p:cNvPr id="22" name="TextBox 21"/>
          <p:cNvSpPr txBox="1"/>
          <p:nvPr/>
        </p:nvSpPr>
        <p:spPr>
          <a:xfrm>
            <a:off x="762000" y="140970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Attrition이 0/1인 이진분류 문제이므로 아래 분류지표를 사용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2286000"/>
            <a:ext cx="5181600" cy="3962400"/>
          </a:xfrm>
          <a:prstGeom prst="roundRect">
            <a:avLst>
              <a:gd name="adj" fmla="val 28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2286000"/>
            <a:ext cx="5181600" cy="3962400"/>
          </a:xfrm>
          <a:prstGeom prst="roundRect">
            <a:avLst>
              <a:gd name="adj" fmla="val 28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2000" y="6238875"/>
            <a:ext cx="5181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286000"/>
            <a:ext cx="5181600"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2286000"/>
            <a:ext cx="9525" cy="3962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34075" y="2286000"/>
            <a:ext cx="9525" cy="3962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248400" y="6238875"/>
            <a:ext cx="5181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48400" y="2286000"/>
            <a:ext cx="51816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48400" y="2286000"/>
            <a:ext cx="9525" cy="3962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420475" y="2286000"/>
            <a:ext cx="9525" cy="3962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F1-score 중심의 모델 평가</a:t>
            </a:r>
          </a:p>
        </p:txBody>
      </p:sp>
      <p:sp>
        <p:nvSpPr>
          <p:cNvPr id="13" name="TextBox 12"/>
          <p:cNvSpPr txBox="1"/>
          <p:nvPr/>
        </p:nvSpPr>
        <p:spPr>
          <a:xfrm>
            <a:off x="762000" y="133350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주요 비교지표는 F1-score, Recall과 ROC-AUC는 보조적으로 함께 확인</a:t>
            </a:r>
          </a:p>
        </p:txBody>
      </p:sp>
      <p:sp>
        <p:nvSpPr>
          <p:cNvPr id="14" name="TextBox 13"/>
          <p:cNvSpPr txBox="1"/>
          <p:nvPr/>
        </p:nvSpPr>
        <p:spPr>
          <a:xfrm>
            <a:off x="1076325" y="2705100"/>
            <a:ext cx="5975746"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클래스 불균형 존재</a:t>
            </a:r>
          </a:p>
        </p:txBody>
      </p:sp>
      <p:sp>
        <p:nvSpPr>
          <p:cNvPr id="15" name="TextBox 14"/>
          <p:cNvSpPr txBox="1"/>
          <p:nvPr/>
        </p:nvSpPr>
        <p:spPr>
          <a:xfrm>
            <a:off x="1076325" y="3253680"/>
            <a:ext cx="5691187"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전체 데이터 중 잔류 240명(70%), 퇴사 102명(30%)</a:t>
            </a:r>
          </a:p>
        </p:txBody>
      </p:sp>
      <p:sp>
        <p:nvSpPr>
          <p:cNvPr id="16" name="TextBox 15"/>
          <p:cNvSpPr txBox="1"/>
          <p:nvPr/>
        </p:nvSpPr>
        <p:spPr>
          <a:xfrm>
            <a:off x="1076325" y="3691830"/>
            <a:ext cx="4648200" cy="571500"/>
          </a:xfrm>
          <a:prstGeom prst="rect">
            <a:avLst/>
          </a:prstGeom>
          <a:noFill/>
        </p:spPr>
        <p:txBody>
          <a:bodyPr wrap="square" lIns="0" tIns="0" rIns="0" bIns="0" anchor="t">
            <a:spAutoFit/>
          </a:bodyPr>
          <a:lstStyle/>
          <a:p>
            <a:pPr algn="l">
              <a:lnSpc>
                <a:spcPts val="2250"/>
              </a:lnSpc>
            </a:pPr>
            <a:r>
              <a:rPr sz="1500" b="0" i="0" u="none">
                <a:solidFill>
                  <a:srgbClr val="475569"/>
                </a:solidFill>
                <a:latin typeface="Noto Sans KR"/>
              </a:rPr>
              <a:t>Accuracy만 보면 다수 집단인 잔류자를 잘 맞히는 모델이 유리할 수 있음.</a:t>
            </a:r>
          </a:p>
        </p:txBody>
      </p:sp>
      <p:sp>
        <p:nvSpPr>
          <p:cNvPr id="17" name="TextBox 16"/>
          <p:cNvSpPr txBox="1"/>
          <p:nvPr/>
        </p:nvSpPr>
        <p:spPr>
          <a:xfrm>
            <a:off x="6562725" y="2705100"/>
            <a:ext cx="5629275"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주요 지표: F1-score</a:t>
            </a:r>
          </a:p>
        </p:txBody>
      </p:sp>
      <p:sp>
        <p:nvSpPr>
          <p:cNvPr id="18" name="TextBox 17"/>
          <p:cNvSpPr txBox="1"/>
          <p:nvPr/>
        </p:nvSpPr>
        <p:spPr>
          <a:xfrm>
            <a:off x="6562725" y="3253680"/>
            <a:ext cx="4648200" cy="571500"/>
          </a:xfrm>
          <a:prstGeom prst="rect">
            <a:avLst/>
          </a:prstGeom>
          <a:noFill/>
        </p:spPr>
        <p:txBody>
          <a:bodyPr wrap="square" lIns="0" tIns="0" rIns="0" bIns="0" anchor="t">
            <a:spAutoFit/>
          </a:bodyPr>
          <a:lstStyle/>
          <a:p>
            <a:pPr algn="l">
              <a:lnSpc>
                <a:spcPts val="2250"/>
              </a:lnSpc>
            </a:pPr>
            <a:r>
              <a:rPr sz="1500" b="0" i="0" u="none">
                <a:solidFill>
                  <a:srgbClr val="475569"/>
                </a:solidFill>
                <a:latin typeface="Noto Sans KR"/>
              </a:rPr>
              <a:t>따라서 Precision과 Recall을 동시에 반영하는 F1-score를 주요 기준으로 설정.</a:t>
            </a:r>
          </a:p>
        </p:txBody>
      </p:sp>
      <p:sp>
        <p:nvSpPr>
          <p:cNvPr id="19" name="TextBox 18"/>
          <p:cNvSpPr txBox="1"/>
          <p:nvPr/>
        </p:nvSpPr>
        <p:spPr>
          <a:xfrm>
            <a:off x="6562725" y="3977580"/>
            <a:ext cx="4648200" cy="571500"/>
          </a:xfrm>
          <a:prstGeom prst="rect">
            <a:avLst/>
          </a:prstGeom>
          <a:noFill/>
        </p:spPr>
        <p:txBody>
          <a:bodyPr wrap="square" lIns="0" tIns="0" rIns="0" bIns="0" anchor="t">
            <a:spAutoFit/>
          </a:bodyPr>
          <a:lstStyle/>
          <a:p>
            <a:pPr algn="l">
              <a:lnSpc>
                <a:spcPts val="2250"/>
              </a:lnSpc>
            </a:pPr>
            <a:r>
              <a:rPr sz="1500" b="0" i="0" u="none">
                <a:solidFill>
                  <a:srgbClr val="475569"/>
                </a:solidFill>
                <a:latin typeface="Noto Sans KR"/>
              </a:rPr>
              <a:t>퇴사자 탐지 능력인 Recall과 전체 구분 능력인 ROC-AUC도 함께 확인.</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62000" y="2114550"/>
            <a:ext cx="213360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895600" y="2114550"/>
            <a:ext cx="373380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629400" y="2114550"/>
            <a:ext cx="4800600" cy="1905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2671762"/>
            <a:ext cx="2133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895600" y="2671762"/>
            <a:ext cx="3733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629400" y="2671762"/>
            <a:ext cx="4800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62000" y="3214687"/>
            <a:ext cx="2133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95600" y="3214687"/>
            <a:ext cx="3733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629400" y="3214687"/>
            <a:ext cx="4800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2000" y="3757612"/>
            <a:ext cx="2133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895600" y="3757612"/>
            <a:ext cx="3733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629400" y="3757612"/>
            <a:ext cx="4800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2000" y="4300537"/>
            <a:ext cx="2133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895600" y="4300537"/>
            <a:ext cx="3733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629400" y="4300537"/>
            <a:ext cx="48006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Table 16"/>
          <p:cNvGraphicFramePr>
            <a:graphicFrameLocks noGrp="1"/>
          </p:cNvGraphicFramePr>
          <p:nvPr/>
        </p:nvGraphicFramePr>
        <p:xfrm>
          <a:off x="762000" y="1562100"/>
          <a:ext cx="10668000" cy="2752725"/>
        </p:xfrm>
        <a:graphic>
          <a:graphicData uri="http://schemas.openxmlformats.org/drawingml/2006/table">
            <a:tbl>
              <a:tblPr/>
              <a:tblGrid>
                <a:gridCol w="21336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550545">
                <a:tc>
                  <a:txBody>
                    <a:bodyPr/>
                    <a:lstStyle/>
                    <a:p>
                      <a:pPr algn="l"/>
                      <a:r>
                        <a:rPr sz="1500" b="1" i="0" u="none">
                          <a:solidFill>
                            <a:srgbClr val="1E293B"/>
                          </a:solidFill>
                          <a:latin typeface="Noto Sans KR"/>
                        </a:rPr>
                        <a:t>계열</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1E293B"/>
                          </a:solidFill>
                          <a:latin typeface="Noto Sans KR"/>
                        </a:rPr>
                        <a:t>모델</a:t>
                      </a:r>
                    </a:p>
                  </a:txBody>
                  <a:tcPr marL="63500" marR="63500" marT="25400" marB="25400" anchor="ctr">
                    <a:lnL>
                      <a:noFill/>
                    </a:lnL>
                    <a:lnR>
                      <a:noFill/>
                    </a:lnR>
                    <a:lnT>
                      <a:noFill/>
                    </a:lnT>
                    <a:lnB>
                      <a:noFill/>
                    </a:lnB>
                    <a:solidFill>
                      <a:srgbClr val="F8FAFC"/>
                    </a:solidFill>
                  </a:tcPr>
                </a:tc>
                <a:tc>
                  <a:txBody>
                    <a:bodyPr/>
                    <a:lstStyle/>
                    <a:p>
                      <a:pPr algn="l"/>
                      <a:r>
                        <a:rPr sz="1500" b="1" i="0" u="none">
                          <a:solidFill>
                            <a:srgbClr val="1E293B"/>
                          </a:solidFill>
                          <a:latin typeface="Noto Sans KR"/>
                        </a:rPr>
                        <a:t>핵심 특징</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550545">
                <a:tc>
                  <a:txBody>
                    <a:bodyPr/>
                    <a:lstStyle/>
                    <a:p>
                      <a:pPr algn="l"/>
                      <a:r>
                        <a:rPr sz="1350" b="1" i="0" u="none">
                          <a:solidFill>
                            <a:srgbClr val="2563EB"/>
                          </a:solidFill>
                          <a:latin typeface="Noto Sans KR"/>
                        </a:rPr>
                        <a:t>Logistic 계열</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Logistic / L1 / L2 / Elastic Net</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비교적 단순하고 해석 가능한 확률 예측</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550545">
                <a:tc>
                  <a:txBody>
                    <a:bodyPr/>
                    <a:lstStyle/>
                    <a:p>
                      <a:pPr algn="l"/>
                      <a:r>
                        <a:rPr sz="1350" b="1" i="0" u="none">
                          <a:solidFill>
                            <a:srgbClr val="2563EB"/>
                          </a:solidFill>
                          <a:latin typeface="Noto Sans KR"/>
                        </a:rPr>
                        <a:t>Boosting 1</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XGBoost / LightGBM</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트리를 순차 결합해 복잡한 비선형 관계 학습</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550545">
                <a:tc>
                  <a:txBody>
                    <a:bodyPr/>
                    <a:lstStyle/>
                    <a:p>
                      <a:pPr algn="l"/>
                      <a:r>
                        <a:rPr sz="1350" b="1" i="0" u="none">
                          <a:solidFill>
                            <a:srgbClr val="2563EB"/>
                          </a:solidFill>
                          <a:latin typeface="Noto Sans KR"/>
                        </a:rPr>
                        <a:t>Boosting 2</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NGBoost / CatBoost</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확률적 예측·범주형 처리 등 서로 다른 Boosting 방식</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550545">
                <a:tc>
                  <a:txBody>
                    <a:bodyPr/>
                    <a:lstStyle/>
                    <a:p>
                      <a:pPr algn="l"/>
                      <a:r>
                        <a:rPr sz="1350" b="1" i="0" u="none">
                          <a:solidFill>
                            <a:srgbClr val="2563EB"/>
                          </a:solidFill>
                          <a:latin typeface="Noto Sans KR"/>
                        </a:rPr>
                        <a:t>비선형 기타</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KNN / SVM / Random Forest</a:t>
                      </a:r>
                    </a:p>
                  </a:txBody>
                  <a:tcPr marL="63500" marR="63500" marT="25400" marB="25400" anchor="ctr">
                    <a:lnL>
                      <a:noFill/>
                    </a:lnL>
                    <a:lnR>
                      <a:noFill/>
                    </a:lnR>
                    <a:lnT>
                      <a:noFill/>
                    </a:lnT>
                    <a:lnB>
                      <a:noFill/>
                    </a:lnB>
                    <a:solidFill>
                      <a:srgbClr val="FFFFFF"/>
                    </a:solidFill>
                  </a:tcPr>
                </a:tc>
                <a:tc>
                  <a:txBody>
                    <a:bodyPr/>
                    <a:lstStyle/>
                    <a:p>
                      <a:pPr algn="l"/>
                      <a:r>
                        <a:rPr sz="1350" b="0" i="0" u="none">
                          <a:solidFill>
                            <a:srgbClr val="000000"/>
                          </a:solidFill>
                          <a:latin typeface="Noto Sans KR"/>
                        </a:rPr>
                        <a:t>거리·경계·다수 트리를 이용한 다양한 분류</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11개 분류모델 구성</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333500"/>
            <a:ext cx="10668000" cy="4914900"/>
          </a:xfrm>
          <a:prstGeom prst="roundRect">
            <a:avLst>
              <a:gd name="adj" fmla="val 155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4703211" cy="466923"/>
          </a:xfrm>
          <a:prstGeom prst="rect">
            <a:avLst/>
          </a:prstGeom>
          <a:noFill/>
        </p:spPr>
        <p:txBody>
          <a:bodyPr wrap="none" lIns="0" tIns="0" rIns="0" bIns="0" anchor="t">
            <a:spAutoFit/>
          </a:bodyPr>
          <a:lstStyle/>
          <a:p>
            <a:pPr algn="l">
              <a:lnSpc>
                <a:spcPts val="3900"/>
              </a:lnSpc>
            </a:pPr>
            <a:r>
              <a:rPr lang="en-US" sz="3000" b="1" i="0" u="none" dirty="0">
                <a:solidFill>
                  <a:srgbClr val="1E293B"/>
                </a:solidFill>
                <a:latin typeface="Noto Sans KR"/>
              </a:rPr>
              <a:t>1.</a:t>
            </a:r>
            <a:r>
              <a:rPr sz="3000" b="1" i="0" u="none" dirty="0">
                <a:solidFill>
                  <a:srgbClr val="1E293B"/>
                </a:solidFill>
                <a:latin typeface="Noto Sans KR"/>
              </a:rPr>
              <a:t>Logistic </a:t>
            </a:r>
            <a:r>
              <a:rPr sz="3000" b="1" i="0" u="none" dirty="0" err="1">
                <a:solidFill>
                  <a:srgbClr val="1E293B"/>
                </a:solidFill>
                <a:latin typeface="Noto Sans KR"/>
              </a:rPr>
              <a:t>계열</a:t>
            </a:r>
            <a:r>
              <a:rPr sz="3000" b="1" i="0" u="none" dirty="0">
                <a:solidFill>
                  <a:srgbClr val="1E293B"/>
                </a:solidFill>
                <a:latin typeface="Noto Sans KR"/>
              </a:rPr>
              <a:t> </a:t>
            </a:r>
            <a:r>
              <a:rPr sz="3000" b="1" i="0" u="none" dirty="0" err="1">
                <a:solidFill>
                  <a:srgbClr val="1E293B"/>
                </a:solidFill>
                <a:latin typeface="Noto Sans KR"/>
              </a:rPr>
              <a:t>학습</a:t>
            </a:r>
            <a:r>
              <a:rPr sz="3000" b="1" i="0" u="none" dirty="0">
                <a:solidFill>
                  <a:srgbClr val="1E293B"/>
                </a:solidFill>
                <a:latin typeface="Noto Sans KR"/>
              </a:rPr>
              <a:t> 및 </a:t>
            </a:r>
            <a:r>
              <a:rPr sz="3000" b="1" i="0" u="none" dirty="0" err="1">
                <a:solidFill>
                  <a:srgbClr val="1E293B"/>
                </a:solidFill>
                <a:latin typeface="Noto Sans KR"/>
              </a:rPr>
              <a:t>튜닝</a:t>
            </a:r>
            <a:endParaRPr sz="3000" b="1" i="0" u="none" dirty="0">
              <a:solidFill>
                <a:srgbClr val="1E293B"/>
              </a:solidFill>
              <a:latin typeface="Noto Sans KR"/>
            </a:endParaRPr>
          </a:p>
        </p:txBody>
      </p:sp>
      <p:sp>
        <p:nvSpPr>
          <p:cNvPr id="4" name="TextBox 3"/>
          <p:cNvSpPr txBox="1"/>
          <p:nvPr/>
        </p:nvSpPr>
        <p:spPr>
          <a:xfrm>
            <a:off x="-171450" y="1562100"/>
            <a:ext cx="12534900" cy="4457700"/>
          </a:xfrm>
          <a:prstGeom prst="rect">
            <a:avLst/>
          </a:prstGeom>
          <a:noFill/>
        </p:spPr>
        <p:txBody>
          <a:bodyPr wrap="square" lIns="0" tIns="0" rIns="0" bIns="0" anchor="ctr">
            <a:spAutoFit/>
          </a:bodyPr>
          <a:lstStyle/>
          <a:p>
            <a:pPr algn="ctr"/>
            <a:r>
              <a:rPr sz="1500" b="1" i="0" u="none">
                <a:solidFill>
                  <a:srgbClr val="64748B"/>
                </a:solidFill>
                <a:latin typeface="Noto Sans KR"/>
              </a:rPr>
              <a:t>[ 📷 Logistic / L1 GridSearchCV 모델 학습 튜닝 코드 캡처 삽입 ]</a:t>
            </a:r>
          </a:p>
        </p:txBody>
      </p:sp>
      <p:graphicFrame>
        <p:nvGraphicFramePr>
          <p:cNvPr id="6" name="Table 3">
            <a:extLst>
              <a:ext uri="{FF2B5EF4-FFF2-40B4-BE49-F238E27FC236}">
                <a16:creationId xmlns:a16="http://schemas.microsoft.com/office/drawing/2014/main" id="{F84824AA-6BF8-B0B5-99B5-BF7B5C1B0865}"/>
              </a:ext>
            </a:extLst>
          </p:cNvPr>
          <p:cNvGraphicFramePr>
            <a:graphicFrameLocks noGrp="1"/>
          </p:cNvGraphicFramePr>
          <p:nvPr>
            <p:extLst>
              <p:ext uri="{D42A27DB-BD31-4B8C-83A1-F6EECF244321}">
                <p14:modId xmlns:p14="http://schemas.microsoft.com/office/powerpoint/2010/main" val="1821421211"/>
              </p:ext>
            </p:extLst>
          </p:nvPr>
        </p:nvGraphicFramePr>
        <p:xfrm>
          <a:off x="777240" y="1333500"/>
          <a:ext cx="5453439" cy="4987290"/>
        </p:xfrm>
        <a:graphic>
          <a:graphicData uri="http://schemas.openxmlformats.org/drawingml/2006/table">
            <a:tbl>
              <a:tblPr firstRow="1" bandRow="1">
                <a:tableStyleId>{5C22544A-7EE6-4342-B048-85BDC9FD1C3A}</a:tableStyleId>
              </a:tblPr>
              <a:tblGrid>
                <a:gridCol w="1258486">
                  <a:extLst>
                    <a:ext uri="{9D8B030D-6E8A-4147-A177-3AD203B41FA5}">
                      <a16:colId xmlns:a16="http://schemas.microsoft.com/office/drawing/2014/main" val="20000"/>
                    </a:ext>
                  </a:extLst>
                </a:gridCol>
                <a:gridCol w="1957645">
                  <a:extLst>
                    <a:ext uri="{9D8B030D-6E8A-4147-A177-3AD203B41FA5}">
                      <a16:colId xmlns:a16="http://schemas.microsoft.com/office/drawing/2014/main" val="20001"/>
                    </a:ext>
                  </a:extLst>
                </a:gridCol>
                <a:gridCol w="2237308">
                  <a:extLst>
                    <a:ext uri="{9D8B030D-6E8A-4147-A177-3AD203B41FA5}">
                      <a16:colId xmlns:a16="http://schemas.microsoft.com/office/drawing/2014/main" val="20002"/>
                    </a:ext>
                  </a:extLst>
                </a:gridCol>
              </a:tblGrid>
              <a:tr h="997458">
                <a:tc>
                  <a:txBody>
                    <a:bodyPr/>
                    <a:lstStyle/>
                    <a:p>
                      <a:pPr algn="ctr">
                        <a:defRPr sz="1400" b="1">
                          <a:solidFill>
                            <a:srgbClr val="000000"/>
                          </a:solidFill>
                          <a:latin typeface="Malgun Gothic"/>
                        </a:defRPr>
                      </a:pPr>
                      <a:r>
                        <a:t>모델</a:t>
                      </a:r>
                    </a:p>
                  </a:txBody>
                  <a:tcPr anchor="ctr">
                    <a:solidFill>
                      <a:srgbClr val="F2F2F2"/>
                    </a:solidFill>
                  </a:tcPr>
                </a:tc>
                <a:tc>
                  <a:txBody>
                    <a:bodyPr/>
                    <a:lstStyle/>
                    <a:p>
                      <a:pPr algn="ctr">
                        <a:defRPr sz="1400" b="1">
                          <a:solidFill>
                            <a:srgbClr val="000000"/>
                          </a:solidFill>
                          <a:latin typeface="Malgun Gothic"/>
                        </a:defRPr>
                      </a:pPr>
                      <a:r>
                        <a:t>핵심 아이디어</a:t>
                      </a:r>
                    </a:p>
                  </a:txBody>
                  <a:tcPr anchor="ctr">
                    <a:solidFill>
                      <a:srgbClr val="F2F2F2"/>
                    </a:solidFill>
                  </a:tcPr>
                </a:tc>
                <a:tc>
                  <a:txBody>
                    <a:bodyPr/>
                    <a:lstStyle/>
                    <a:p>
                      <a:pPr algn="ctr">
                        <a:defRPr sz="1400" b="1">
                          <a:solidFill>
                            <a:srgbClr val="000000"/>
                          </a:solidFill>
                          <a:latin typeface="Malgun Gothic"/>
                        </a:defRPr>
                      </a:pPr>
                      <a:r>
                        <a:t>확인하려는 점</a:t>
                      </a:r>
                    </a:p>
                  </a:txBody>
                  <a:tcPr anchor="ctr">
                    <a:solidFill>
                      <a:srgbClr val="F2F2F2"/>
                    </a:solidFill>
                  </a:tcPr>
                </a:tc>
                <a:extLst>
                  <a:ext uri="{0D108BD9-81ED-4DB2-BD59-A6C34878D82A}">
                    <a16:rowId xmlns:a16="http://schemas.microsoft.com/office/drawing/2014/main" val="10000"/>
                  </a:ext>
                </a:extLst>
              </a:tr>
              <a:tr h="997458">
                <a:tc>
                  <a:txBody>
                    <a:bodyPr/>
                    <a:lstStyle/>
                    <a:p>
                      <a:pPr algn="ctr">
                        <a:defRPr sz="1400" b="0">
                          <a:solidFill>
                            <a:srgbClr val="000000"/>
                          </a:solidFill>
                          <a:latin typeface="Malgun Gothic"/>
                        </a:defRPr>
                      </a:pPr>
                      <a:r>
                        <a:t>Logistic Regression</a:t>
                      </a:r>
                    </a:p>
                  </a:txBody>
                  <a:tcPr anchor="ctr">
                    <a:solidFill>
                      <a:srgbClr val="FFFFFF"/>
                    </a:solidFill>
                  </a:tcPr>
                </a:tc>
                <a:tc>
                  <a:txBody>
                    <a:bodyPr/>
                    <a:lstStyle/>
                    <a:p>
                      <a:pPr algn="ctr">
                        <a:defRPr sz="1400" b="0">
                          <a:solidFill>
                            <a:srgbClr val="000000"/>
                          </a:solidFill>
                          <a:latin typeface="Malgun Gothic"/>
                        </a:defRPr>
                      </a:pPr>
                      <a:r>
                        <a:t>설명변수의 선형 결합으로 퇴사확률 예측</a:t>
                      </a:r>
                    </a:p>
                  </a:txBody>
                  <a:tcPr anchor="ctr">
                    <a:solidFill>
                      <a:srgbClr val="FFFFFF"/>
                    </a:solidFill>
                  </a:tcPr>
                </a:tc>
                <a:tc>
                  <a:txBody>
                    <a:bodyPr/>
                    <a:lstStyle/>
                    <a:p>
                      <a:pPr algn="ctr">
                        <a:defRPr sz="1400" b="0">
                          <a:solidFill>
                            <a:srgbClr val="000000"/>
                          </a:solidFill>
                          <a:latin typeface="Malgun Gothic"/>
                        </a:defRPr>
                      </a:pPr>
                      <a:r>
                        <a:t>기본 Logistic 성능</a:t>
                      </a:r>
                    </a:p>
                  </a:txBody>
                  <a:tcPr anchor="ctr">
                    <a:solidFill>
                      <a:srgbClr val="FFFFFF"/>
                    </a:solidFill>
                  </a:tcPr>
                </a:tc>
                <a:extLst>
                  <a:ext uri="{0D108BD9-81ED-4DB2-BD59-A6C34878D82A}">
                    <a16:rowId xmlns:a16="http://schemas.microsoft.com/office/drawing/2014/main" val="10001"/>
                  </a:ext>
                </a:extLst>
              </a:tr>
              <a:tr h="997458">
                <a:tc>
                  <a:txBody>
                    <a:bodyPr/>
                    <a:lstStyle/>
                    <a:p>
                      <a:pPr algn="ctr">
                        <a:defRPr sz="1400" b="0">
                          <a:solidFill>
                            <a:srgbClr val="000000"/>
                          </a:solidFill>
                          <a:latin typeface="Malgun Gothic"/>
                        </a:defRPr>
                      </a:pPr>
                      <a:r>
                        <a:t>L1 Logistic</a:t>
                      </a:r>
                    </a:p>
                  </a:txBody>
                  <a:tcPr anchor="ctr">
                    <a:solidFill>
                      <a:srgbClr val="FFFFFF"/>
                    </a:solidFill>
                  </a:tcPr>
                </a:tc>
                <a:tc>
                  <a:txBody>
                    <a:bodyPr/>
                    <a:lstStyle/>
                    <a:p>
                      <a:pPr algn="ctr">
                        <a:defRPr sz="1400" b="0">
                          <a:solidFill>
                            <a:srgbClr val="000000"/>
                          </a:solidFill>
                          <a:latin typeface="Malgun Gothic"/>
                        </a:defRPr>
                      </a:pPr>
                      <a:r>
                        <a:t>일부 계수를 0으로 축소 가능</a:t>
                      </a:r>
                    </a:p>
                  </a:txBody>
                  <a:tcPr anchor="ctr">
                    <a:solidFill>
                      <a:srgbClr val="FFFFFF"/>
                    </a:solidFill>
                  </a:tcPr>
                </a:tc>
                <a:tc>
                  <a:txBody>
                    <a:bodyPr/>
                    <a:lstStyle/>
                    <a:p>
                      <a:pPr algn="ctr">
                        <a:defRPr sz="1400" b="0">
                          <a:solidFill>
                            <a:srgbClr val="000000"/>
                          </a:solidFill>
                          <a:latin typeface="Malgun Gothic"/>
                        </a:defRPr>
                      </a:pPr>
                      <a:r>
                        <a:t>변수 선택 효과</a:t>
                      </a:r>
                    </a:p>
                  </a:txBody>
                  <a:tcPr anchor="ctr">
                    <a:solidFill>
                      <a:srgbClr val="FFFFFF"/>
                    </a:solidFill>
                  </a:tcPr>
                </a:tc>
                <a:extLst>
                  <a:ext uri="{0D108BD9-81ED-4DB2-BD59-A6C34878D82A}">
                    <a16:rowId xmlns:a16="http://schemas.microsoft.com/office/drawing/2014/main" val="10002"/>
                  </a:ext>
                </a:extLst>
              </a:tr>
              <a:tr h="997458">
                <a:tc>
                  <a:txBody>
                    <a:bodyPr/>
                    <a:lstStyle/>
                    <a:p>
                      <a:pPr algn="ctr">
                        <a:defRPr sz="1400" b="0">
                          <a:solidFill>
                            <a:srgbClr val="000000"/>
                          </a:solidFill>
                          <a:latin typeface="Malgun Gothic"/>
                        </a:defRPr>
                      </a:pPr>
                      <a:r>
                        <a:t>L2 Logistic</a:t>
                      </a:r>
                    </a:p>
                  </a:txBody>
                  <a:tcPr anchor="ctr">
                    <a:solidFill>
                      <a:srgbClr val="FFFFFF"/>
                    </a:solidFill>
                  </a:tcPr>
                </a:tc>
                <a:tc>
                  <a:txBody>
                    <a:bodyPr/>
                    <a:lstStyle/>
                    <a:p>
                      <a:pPr algn="ctr">
                        <a:defRPr sz="1400" b="0">
                          <a:solidFill>
                            <a:srgbClr val="000000"/>
                          </a:solidFill>
                          <a:latin typeface="Malgun Gothic"/>
                        </a:defRPr>
                      </a:pPr>
                      <a:r>
                        <a:t>큰 계수를 축소</a:t>
                      </a:r>
                    </a:p>
                  </a:txBody>
                  <a:tcPr anchor="ctr">
                    <a:solidFill>
                      <a:srgbClr val="FFFFFF"/>
                    </a:solidFill>
                  </a:tcPr>
                </a:tc>
                <a:tc>
                  <a:txBody>
                    <a:bodyPr/>
                    <a:lstStyle/>
                    <a:p>
                      <a:pPr algn="ctr">
                        <a:defRPr sz="1400" b="0">
                          <a:solidFill>
                            <a:srgbClr val="000000"/>
                          </a:solidFill>
                          <a:latin typeface="Malgun Gothic"/>
                        </a:defRPr>
                      </a:pPr>
                      <a:r>
                        <a:rPr dirty="0" err="1"/>
                        <a:t>안정성·과적합</a:t>
                      </a:r>
                      <a:r>
                        <a:rPr dirty="0"/>
                        <a:t> </a:t>
                      </a:r>
                      <a:r>
                        <a:rPr dirty="0" err="1"/>
                        <a:t>완화</a:t>
                      </a:r>
                      <a:endParaRPr dirty="0"/>
                    </a:p>
                  </a:txBody>
                  <a:tcPr anchor="ctr">
                    <a:solidFill>
                      <a:srgbClr val="FFFFFF"/>
                    </a:solidFill>
                  </a:tcPr>
                </a:tc>
                <a:extLst>
                  <a:ext uri="{0D108BD9-81ED-4DB2-BD59-A6C34878D82A}">
                    <a16:rowId xmlns:a16="http://schemas.microsoft.com/office/drawing/2014/main" val="10003"/>
                  </a:ext>
                </a:extLst>
              </a:tr>
              <a:tr h="997458">
                <a:tc>
                  <a:txBody>
                    <a:bodyPr/>
                    <a:lstStyle/>
                    <a:p>
                      <a:pPr algn="ctr">
                        <a:defRPr sz="1400" b="0">
                          <a:solidFill>
                            <a:srgbClr val="000000"/>
                          </a:solidFill>
                          <a:latin typeface="Malgun Gothic"/>
                        </a:defRPr>
                      </a:pPr>
                      <a:r>
                        <a:t>Elastic Net</a:t>
                      </a:r>
                    </a:p>
                  </a:txBody>
                  <a:tcPr anchor="ctr">
                    <a:solidFill>
                      <a:srgbClr val="FFFFFF"/>
                    </a:solidFill>
                  </a:tcPr>
                </a:tc>
                <a:tc>
                  <a:txBody>
                    <a:bodyPr/>
                    <a:lstStyle/>
                    <a:p>
                      <a:pPr algn="ctr">
                        <a:defRPr sz="1400" b="0">
                          <a:solidFill>
                            <a:srgbClr val="000000"/>
                          </a:solidFill>
                          <a:latin typeface="Malgun Gothic"/>
                        </a:defRPr>
                      </a:pPr>
                      <a:r>
                        <a:t>L1 + L2 결합</a:t>
                      </a:r>
                    </a:p>
                  </a:txBody>
                  <a:tcPr anchor="ctr">
                    <a:solidFill>
                      <a:srgbClr val="FFFFFF"/>
                    </a:solidFill>
                  </a:tcPr>
                </a:tc>
                <a:tc>
                  <a:txBody>
                    <a:bodyPr/>
                    <a:lstStyle/>
                    <a:p>
                      <a:pPr algn="ctr">
                        <a:defRPr sz="1400" b="0">
                          <a:solidFill>
                            <a:srgbClr val="000000"/>
                          </a:solidFill>
                          <a:latin typeface="Malgun Gothic"/>
                        </a:defRPr>
                      </a:pPr>
                      <a:r>
                        <a:rPr dirty="0" err="1"/>
                        <a:t>변수</a:t>
                      </a:r>
                      <a:r>
                        <a:rPr dirty="0"/>
                        <a:t> </a:t>
                      </a:r>
                      <a:r>
                        <a:rPr dirty="0" err="1"/>
                        <a:t>선택과</a:t>
                      </a:r>
                      <a:r>
                        <a:rPr dirty="0"/>
                        <a:t> </a:t>
                      </a:r>
                      <a:r>
                        <a:rPr dirty="0" err="1"/>
                        <a:t>안정화</a:t>
                      </a:r>
                      <a:r>
                        <a:rPr dirty="0"/>
                        <a:t> </a:t>
                      </a:r>
                      <a:r>
                        <a:rPr dirty="0" err="1"/>
                        <a:t>동시</a:t>
                      </a:r>
                      <a:r>
                        <a:rPr dirty="0"/>
                        <a:t> </a:t>
                      </a:r>
                      <a:r>
                        <a:rPr dirty="0" err="1"/>
                        <a:t>적용</a:t>
                      </a:r>
                      <a:endParaRPr dirty="0"/>
                    </a:p>
                  </a:txBody>
                  <a:tcPr anchor="ctr">
                    <a:solidFill>
                      <a:srgbClr val="FFFFFF"/>
                    </a:solidFill>
                  </a:tcPr>
                </a:tc>
                <a:extLst>
                  <a:ext uri="{0D108BD9-81ED-4DB2-BD59-A6C34878D82A}">
                    <a16:rowId xmlns:a16="http://schemas.microsoft.com/office/drawing/2014/main" val="10004"/>
                  </a:ext>
                </a:extLst>
              </a:tr>
            </a:tbl>
          </a:graphicData>
        </a:graphic>
      </p:graphicFrame>
      <p:grpSp>
        <p:nvGrpSpPr>
          <p:cNvPr id="11" name="그룹 10">
            <a:extLst>
              <a:ext uri="{FF2B5EF4-FFF2-40B4-BE49-F238E27FC236}">
                <a16:creationId xmlns:a16="http://schemas.microsoft.com/office/drawing/2014/main" id="{4FCD773F-8D51-E3A8-7599-5EADAE5EDC7A}"/>
              </a:ext>
            </a:extLst>
          </p:cNvPr>
          <p:cNvGrpSpPr/>
          <p:nvPr/>
        </p:nvGrpSpPr>
        <p:grpSpPr>
          <a:xfrm>
            <a:off x="6245919" y="1333500"/>
            <a:ext cx="5184081" cy="4914900"/>
            <a:chOff x="7381031" y="1188719"/>
            <a:chExt cx="4064209" cy="5002711"/>
          </a:xfrm>
        </p:grpSpPr>
        <p:pic>
          <p:nvPicPr>
            <p:cNvPr id="8" name="그림 7" descr="The image depicts a code snippet in Python using Scikit-learn for hyperparameter tuning of an L1 Logistic Regression model, specifically adjusting the regularization parameter C for optimal F1 score.&#10;&#10;AI 생성 콘텐츠는 정확하지 않을 수 있습니다.">
              <a:extLst>
                <a:ext uri="{FF2B5EF4-FFF2-40B4-BE49-F238E27FC236}">
                  <a16:creationId xmlns:a16="http://schemas.microsoft.com/office/drawing/2014/main" id="{182B1822-5D41-4D5F-6E72-EC333856FD66}"/>
                </a:ext>
              </a:extLst>
            </p:cNvPr>
            <p:cNvPicPr>
              <a:picLocks noChangeAspect="1"/>
            </p:cNvPicPr>
            <p:nvPr/>
          </p:nvPicPr>
          <p:blipFill>
            <a:blip r:embed="rId2"/>
            <a:stretch>
              <a:fillRect/>
            </a:stretch>
          </p:blipFill>
          <p:spPr>
            <a:xfrm>
              <a:off x="7381031" y="1727151"/>
              <a:ext cx="4064209" cy="4464279"/>
            </a:xfrm>
            <a:prstGeom prst="rect">
              <a:avLst/>
            </a:prstGeom>
          </p:spPr>
        </p:pic>
        <p:pic>
          <p:nvPicPr>
            <p:cNvPr id="10" name="그림 9" descr="The image displays a technical diagram with Korean text indicating a hyperparameter tuning process for the regularization parameter (C) in logistic regression.&#10;&#10;AI 생성 콘텐츠는 정확하지 않을 수 있습니다.">
              <a:extLst>
                <a:ext uri="{FF2B5EF4-FFF2-40B4-BE49-F238E27FC236}">
                  <a16:creationId xmlns:a16="http://schemas.microsoft.com/office/drawing/2014/main" id="{921EAB2E-4244-A9F6-C962-24B8F87C8130}"/>
                </a:ext>
              </a:extLst>
            </p:cNvPr>
            <p:cNvPicPr>
              <a:picLocks noChangeAspect="1"/>
            </p:cNvPicPr>
            <p:nvPr/>
          </p:nvPicPr>
          <p:blipFill>
            <a:blip r:embed="rId3"/>
            <a:srcRect r="9986" b="-9709"/>
            <a:stretch>
              <a:fillRect/>
            </a:stretch>
          </p:blipFill>
          <p:spPr>
            <a:xfrm>
              <a:off x="7381031" y="1188719"/>
              <a:ext cx="4064209" cy="731520"/>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333500"/>
            <a:ext cx="10668000" cy="2670720"/>
          </a:xfrm>
          <a:prstGeom prst="roundRect">
            <a:avLst>
              <a:gd name="adj" fmla="val 285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4241546" cy="466923"/>
          </a:xfrm>
          <a:prstGeom prst="rect">
            <a:avLst/>
          </a:prstGeom>
          <a:noFill/>
        </p:spPr>
        <p:txBody>
          <a:bodyPr wrap="none" lIns="0" tIns="0" rIns="0" bIns="0" anchor="t">
            <a:spAutoFit/>
          </a:bodyPr>
          <a:lstStyle/>
          <a:p>
            <a:pPr algn="l">
              <a:lnSpc>
                <a:spcPts val="3900"/>
              </a:lnSpc>
            </a:pPr>
            <a:r>
              <a:rPr lang="en-US" sz="3000" b="1" i="0" u="none" dirty="0">
                <a:solidFill>
                  <a:srgbClr val="1E293B"/>
                </a:solidFill>
                <a:latin typeface="Noto Sans KR"/>
              </a:rPr>
              <a:t>1.</a:t>
            </a:r>
            <a:r>
              <a:rPr sz="3000" b="1" i="0" u="none" dirty="0">
                <a:solidFill>
                  <a:srgbClr val="1E293B"/>
                </a:solidFill>
                <a:latin typeface="Noto Sans KR"/>
              </a:rPr>
              <a:t>Logistic </a:t>
            </a:r>
            <a:r>
              <a:rPr sz="3000" b="1" i="0" u="none" dirty="0" err="1">
                <a:solidFill>
                  <a:srgbClr val="1E293B"/>
                </a:solidFill>
                <a:latin typeface="Noto Sans KR"/>
              </a:rPr>
              <a:t>계열</a:t>
            </a:r>
            <a:r>
              <a:rPr sz="3000" b="1" i="0" u="none" dirty="0">
                <a:solidFill>
                  <a:srgbClr val="1E293B"/>
                </a:solidFill>
                <a:latin typeface="Noto Sans KR"/>
              </a:rPr>
              <a:t> </a:t>
            </a:r>
            <a:r>
              <a:rPr sz="3000" b="1" i="0" u="none" dirty="0" err="1">
                <a:solidFill>
                  <a:srgbClr val="1E293B"/>
                </a:solidFill>
                <a:latin typeface="Noto Sans KR"/>
              </a:rPr>
              <a:t>평가</a:t>
            </a:r>
            <a:r>
              <a:rPr sz="3000" b="1" i="0" u="none" dirty="0">
                <a:solidFill>
                  <a:srgbClr val="1E293B"/>
                </a:solidFill>
                <a:latin typeface="Noto Sans KR"/>
              </a:rPr>
              <a:t> </a:t>
            </a:r>
            <a:r>
              <a:rPr sz="3000" b="1" i="0" u="none" dirty="0" err="1">
                <a:solidFill>
                  <a:srgbClr val="1E293B"/>
                </a:solidFill>
                <a:latin typeface="Noto Sans KR"/>
              </a:rPr>
              <a:t>결과</a:t>
            </a:r>
            <a:endParaRPr sz="3000" b="1" i="0" u="none" dirty="0">
              <a:solidFill>
                <a:srgbClr val="1E293B"/>
              </a:solidFill>
              <a:latin typeface="Noto Sans KR"/>
            </a:endParaRPr>
          </a:p>
        </p:txBody>
      </p:sp>
      <p:sp>
        <p:nvSpPr>
          <p:cNvPr id="4" name="TextBox 3"/>
          <p:cNvSpPr txBox="1"/>
          <p:nvPr/>
        </p:nvSpPr>
        <p:spPr>
          <a:xfrm>
            <a:off x="-171450" y="1562100"/>
            <a:ext cx="12534900" cy="2213520"/>
          </a:xfrm>
          <a:prstGeom prst="rect">
            <a:avLst/>
          </a:prstGeom>
          <a:noFill/>
        </p:spPr>
        <p:txBody>
          <a:bodyPr wrap="square" lIns="0" tIns="0" rIns="0" bIns="0" anchor="ctr">
            <a:spAutoFit/>
          </a:bodyPr>
          <a:lstStyle/>
          <a:p>
            <a:pPr algn="ctr"/>
            <a:r>
              <a:rPr sz="1500" b="1" i="0" u="none">
                <a:solidFill>
                  <a:srgbClr val="64748B"/>
                </a:solidFill>
                <a:latin typeface="Noto Sans KR"/>
              </a:rPr>
              <a:t>[ 📷 4개 Logistic 모델 Accuracy/Precision/Recall/F1/ROC-AUC 결과표 삽입 ]</a:t>
            </a:r>
            <a:r>
              <a:t>
</a:t>
            </a:r>
            <a:r>
              <a:rPr sz="1500" b="1" i="0" u="none">
                <a:solidFill>
                  <a:srgbClr val="64748B"/>
                </a:solidFill>
                <a:latin typeface="Noto Sans KR"/>
              </a:rPr>
              <a:t> (모든 모델 F1-score 0.5625 표)</a:t>
            </a:r>
          </a:p>
        </p:txBody>
      </p:sp>
      <p:sp>
        <p:nvSpPr>
          <p:cNvPr id="5" name="TextBox 4"/>
          <p:cNvSpPr txBox="1"/>
          <p:nvPr/>
        </p:nvSpPr>
        <p:spPr>
          <a:xfrm>
            <a:off x="923925" y="423282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6" name="TextBox 5"/>
          <p:cNvSpPr txBox="1"/>
          <p:nvPr/>
        </p:nvSpPr>
        <p:spPr>
          <a:xfrm>
            <a:off x="990600" y="4232820"/>
            <a:ext cx="11201400"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4개 모델의 F1-score가 모두 0.5625로 동일</a:t>
            </a:r>
          </a:p>
        </p:txBody>
      </p:sp>
      <p:sp>
        <p:nvSpPr>
          <p:cNvPr id="7" name="TextBox 6"/>
          <p:cNvSpPr txBox="1"/>
          <p:nvPr/>
        </p:nvSpPr>
        <p:spPr>
          <a:xfrm>
            <a:off x="923925" y="467097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8" name="TextBox 7"/>
          <p:cNvSpPr txBox="1"/>
          <p:nvPr/>
        </p:nvSpPr>
        <p:spPr>
          <a:xfrm>
            <a:off x="990600" y="4670970"/>
            <a:ext cx="11201400"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규제를 적용해도 기본 Logistic보다 Test F1-score는 개선되지 않음</a:t>
            </a:r>
          </a:p>
        </p:txBody>
      </p:sp>
      <p:sp>
        <p:nvSpPr>
          <p:cNvPr id="9" name="TextBox 8"/>
          <p:cNvSpPr txBox="1"/>
          <p:nvPr/>
        </p:nvSpPr>
        <p:spPr>
          <a:xfrm>
            <a:off x="923925" y="510912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10" name="TextBox 9"/>
          <p:cNvSpPr txBox="1"/>
          <p:nvPr/>
        </p:nvSpPr>
        <p:spPr>
          <a:xfrm>
            <a:off x="990600" y="5109120"/>
            <a:ext cx="11201400"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ROC-AUC는 L1 Logistic이 0.7798로 가장 높음</a:t>
            </a:r>
          </a:p>
        </p:txBody>
      </p:sp>
      <p:sp>
        <p:nvSpPr>
          <p:cNvPr id="11" name="TextBox 10"/>
          <p:cNvSpPr txBox="1"/>
          <p:nvPr/>
        </p:nvSpPr>
        <p:spPr>
          <a:xfrm>
            <a:off x="923925" y="554727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12" name="TextBox 11"/>
          <p:cNvSpPr txBox="1"/>
          <p:nvPr/>
        </p:nvSpPr>
        <p:spPr>
          <a:xfrm>
            <a:off x="990600" y="5547270"/>
            <a:ext cx="11201400"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따라서 Logistic 계열에서는 규제 방식에 따른 분류 성능 차이가 크지 않음</a:t>
            </a:r>
          </a:p>
        </p:txBody>
      </p:sp>
      <p:graphicFrame>
        <p:nvGraphicFramePr>
          <p:cNvPr id="16" name="Table 3">
            <a:extLst>
              <a:ext uri="{FF2B5EF4-FFF2-40B4-BE49-F238E27FC236}">
                <a16:creationId xmlns:a16="http://schemas.microsoft.com/office/drawing/2014/main" id="{F660265A-1C47-8BC9-135E-60FFACEBF304}"/>
              </a:ext>
            </a:extLst>
          </p:cNvPr>
          <p:cNvGraphicFramePr>
            <a:graphicFrameLocks noGrp="1"/>
          </p:cNvGraphicFramePr>
          <p:nvPr>
            <p:extLst>
              <p:ext uri="{D42A27DB-BD31-4B8C-83A1-F6EECF244321}">
                <p14:modId xmlns:p14="http://schemas.microsoft.com/office/powerpoint/2010/main" val="3220880708"/>
              </p:ext>
            </p:extLst>
          </p:nvPr>
        </p:nvGraphicFramePr>
        <p:xfrm>
          <a:off x="762000" y="1333500"/>
          <a:ext cx="10668000" cy="289932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gridCol w="1511300">
                  <a:extLst>
                    <a:ext uri="{9D8B030D-6E8A-4147-A177-3AD203B41FA5}">
                      <a16:colId xmlns:a16="http://schemas.microsoft.com/office/drawing/2014/main" val="20002"/>
                    </a:ext>
                  </a:extLst>
                </a:gridCol>
                <a:gridCol w="1511300">
                  <a:extLst>
                    <a:ext uri="{9D8B030D-6E8A-4147-A177-3AD203B41FA5}">
                      <a16:colId xmlns:a16="http://schemas.microsoft.com/office/drawing/2014/main" val="20003"/>
                    </a:ext>
                  </a:extLst>
                </a:gridCol>
                <a:gridCol w="1511300">
                  <a:extLst>
                    <a:ext uri="{9D8B030D-6E8A-4147-A177-3AD203B41FA5}">
                      <a16:colId xmlns:a16="http://schemas.microsoft.com/office/drawing/2014/main" val="20004"/>
                    </a:ext>
                  </a:extLst>
                </a:gridCol>
                <a:gridCol w="2133600">
                  <a:extLst>
                    <a:ext uri="{9D8B030D-6E8A-4147-A177-3AD203B41FA5}">
                      <a16:colId xmlns:a16="http://schemas.microsoft.com/office/drawing/2014/main" val="20005"/>
                    </a:ext>
                  </a:extLst>
                </a:gridCol>
              </a:tblGrid>
              <a:tr h="579864">
                <a:tc>
                  <a:txBody>
                    <a:bodyPr/>
                    <a:lstStyle/>
                    <a:p>
                      <a:pPr algn="ctr">
                        <a:defRPr sz="1200" b="1">
                          <a:solidFill>
                            <a:srgbClr val="000000"/>
                          </a:solidFill>
                          <a:latin typeface="Malgun Gothic"/>
                        </a:defRPr>
                      </a:pPr>
                      <a:r>
                        <a:t>Model</a:t>
                      </a:r>
                    </a:p>
                  </a:txBody>
                  <a:tcPr anchor="ctr">
                    <a:solidFill>
                      <a:srgbClr val="F2F2F2"/>
                    </a:solidFill>
                  </a:tcPr>
                </a:tc>
                <a:tc>
                  <a:txBody>
                    <a:bodyPr/>
                    <a:lstStyle/>
                    <a:p>
                      <a:pPr algn="ctr">
                        <a:defRPr sz="1200" b="1">
                          <a:solidFill>
                            <a:srgbClr val="000000"/>
                          </a:solidFill>
                          <a:latin typeface="Malgun Gothic"/>
                        </a:defRPr>
                      </a:pPr>
                      <a:r>
                        <a:t>Accuracy</a:t>
                      </a:r>
                    </a:p>
                  </a:txBody>
                  <a:tcPr anchor="ctr">
                    <a:solidFill>
                      <a:srgbClr val="F2F2F2"/>
                    </a:solidFill>
                  </a:tcPr>
                </a:tc>
                <a:tc>
                  <a:txBody>
                    <a:bodyPr/>
                    <a:lstStyle/>
                    <a:p>
                      <a:pPr algn="ctr">
                        <a:defRPr sz="1200" b="1">
                          <a:solidFill>
                            <a:srgbClr val="000000"/>
                          </a:solidFill>
                          <a:latin typeface="Malgun Gothic"/>
                        </a:defRPr>
                      </a:pPr>
                      <a:r>
                        <a:t>Precision</a:t>
                      </a:r>
                    </a:p>
                  </a:txBody>
                  <a:tcPr anchor="ctr">
                    <a:solidFill>
                      <a:srgbClr val="F2F2F2"/>
                    </a:solidFill>
                  </a:tcPr>
                </a:tc>
                <a:tc>
                  <a:txBody>
                    <a:bodyPr/>
                    <a:lstStyle/>
                    <a:p>
                      <a:pPr algn="ctr">
                        <a:defRPr sz="1200" b="1">
                          <a:solidFill>
                            <a:srgbClr val="000000"/>
                          </a:solidFill>
                          <a:latin typeface="Malgun Gothic"/>
                        </a:defRPr>
                      </a:pPr>
                      <a:r>
                        <a:t>Recall</a:t>
                      </a:r>
                    </a:p>
                  </a:txBody>
                  <a:tcPr anchor="ctr">
                    <a:solidFill>
                      <a:srgbClr val="F2F2F2"/>
                    </a:solidFill>
                  </a:tcPr>
                </a:tc>
                <a:tc>
                  <a:txBody>
                    <a:bodyPr/>
                    <a:lstStyle/>
                    <a:p>
                      <a:pPr algn="ctr">
                        <a:defRPr sz="1200" b="1">
                          <a:solidFill>
                            <a:srgbClr val="000000"/>
                          </a:solidFill>
                          <a:latin typeface="Malgun Gothic"/>
                        </a:defRPr>
                      </a:pPr>
                      <a:r>
                        <a:t>F1-score</a:t>
                      </a:r>
                    </a:p>
                  </a:txBody>
                  <a:tcPr anchor="ctr">
                    <a:solidFill>
                      <a:srgbClr val="F2F2F2"/>
                    </a:solidFill>
                  </a:tcPr>
                </a:tc>
                <a:tc>
                  <a:txBody>
                    <a:bodyPr/>
                    <a:lstStyle/>
                    <a:p>
                      <a:pPr algn="ctr">
                        <a:defRPr sz="1200" b="1">
                          <a:solidFill>
                            <a:srgbClr val="000000"/>
                          </a:solidFill>
                          <a:latin typeface="Malgun Gothic"/>
                        </a:defRPr>
                      </a:pPr>
                      <a:r>
                        <a:t>ROC-AUC</a:t>
                      </a:r>
                    </a:p>
                  </a:txBody>
                  <a:tcPr anchor="ctr">
                    <a:solidFill>
                      <a:srgbClr val="F2F2F2"/>
                    </a:solidFill>
                  </a:tcPr>
                </a:tc>
                <a:extLst>
                  <a:ext uri="{0D108BD9-81ED-4DB2-BD59-A6C34878D82A}">
                    <a16:rowId xmlns:a16="http://schemas.microsoft.com/office/drawing/2014/main" val="10000"/>
                  </a:ext>
                </a:extLst>
              </a:tr>
              <a:tr h="579864">
                <a:tc>
                  <a:txBody>
                    <a:bodyPr/>
                    <a:lstStyle/>
                    <a:p>
                      <a:pPr algn="ctr">
                        <a:defRPr sz="1200" b="0">
                          <a:solidFill>
                            <a:srgbClr val="000000"/>
                          </a:solidFill>
                          <a:latin typeface="Malgun Gothic"/>
                        </a:defRPr>
                      </a:pPr>
                      <a:r>
                        <a:t>Logistic Regression</a:t>
                      </a:r>
                    </a:p>
                  </a:txBody>
                  <a:tcPr anchor="ctr">
                    <a:solidFill>
                      <a:srgbClr val="FFFFFF"/>
                    </a:solidFill>
                  </a:tcPr>
                </a:tc>
                <a:tc>
                  <a:txBody>
                    <a:bodyPr/>
                    <a:lstStyle/>
                    <a:p>
                      <a:pPr algn="ctr">
                        <a:defRPr sz="1200" b="0">
                          <a:solidFill>
                            <a:srgbClr val="000000"/>
                          </a:solidFill>
                          <a:latin typeface="Malgun Gothic"/>
                        </a:defRPr>
                      </a:pPr>
                      <a:r>
                        <a:t>0.7971</a:t>
                      </a:r>
                    </a:p>
                  </a:txBody>
                  <a:tcPr anchor="ctr">
                    <a:solidFill>
                      <a:srgbClr val="FFFFFF"/>
                    </a:solidFill>
                  </a:tcPr>
                </a:tc>
                <a:tc>
                  <a:txBody>
                    <a:bodyPr/>
                    <a:lstStyle/>
                    <a:p>
                      <a:pPr algn="ctr">
                        <a:defRPr sz="1200" b="0">
                          <a:solidFill>
                            <a:srgbClr val="000000"/>
                          </a:solidFill>
                          <a:latin typeface="Malgun Gothic"/>
                        </a:defRPr>
                      </a:pPr>
                      <a:r>
                        <a:t>0.8182</a:t>
                      </a:r>
                    </a:p>
                  </a:txBody>
                  <a:tcPr anchor="ctr">
                    <a:solidFill>
                      <a:srgbClr val="FFFFFF"/>
                    </a:solidFill>
                  </a:tcPr>
                </a:tc>
                <a:tc>
                  <a:txBody>
                    <a:bodyPr/>
                    <a:lstStyle/>
                    <a:p>
                      <a:pPr algn="ctr">
                        <a:defRPr sz="1200" b="0">
                          <a:solidFill>
                            <a:srgbClr val="000000"/>
                          </a:solidFill>
                          <a:latin typeface="Malgun Gothic"/>
                        </a:defRPr>
                      </a:pPr>
                      <a:r>
                        <a:t>0.4286</a:t>
                      </a:r>
                    </a:p>
                  </a:txBody>
                  <a:tcPr anchor="ctr">
                    <a:solidFill>
                      <a:srgbClr val="FFFFFF"/>
                    </a:solidFill>
                  </a:tcPr>
                </a:tc>
                <a:tc>
                  <a:txBody>
                    <a:bodyPr/>
                    <a:lstStyle/>
                    <a:p>
                      <a:pPr algn="ctr">
                        <a:defRPr sz="1200" b="0">
                          <a:solidFill>
                            <a:srgbClr val="000000"/>
                          </a:solidFill>
                          <a:latin typeface="Malgun Gothic"/>
                        </a:defRPr>
                      </a:pPr>
                      <a:r>
                        <a:t>0.5625</a:t>
                      </a:r>
                    </a:p>
                  </a:txBody>
                  <a:tcPr anchor="ctr">
                    <a:solidFill>
                      <a:srgbClr val="FFFFFF"/>
                    </a:solidFill>
                  </a:tcPr>
                </a:tc>
                <a:tc>
                  <a:txBody>
                    <a:bodyPr/>
                    <a:lstStyle/>
                    <a:p>
                      <a:pPr algn="ctr">
                        <a:defRPr sz="1200" b="0">
                          <a:solidFill>
                            <a:srgbClr val="000000"/>
                          </a:solidFill>
                          <a:latin typeface="Malgun Gothic"/>
                        </a:defRPr>
                      </a:pPr>
                      <a:r>
                        <a:t>0.7748</a:t>
                      </a:r>
                    </a:p>
                  </a:txBody>
                  <a:tcPr anchor="ctr">
                    <a:solidFill>
                      <a:srgbClr val="FFFFFF"/>
                    </a:solidFill>
                  </a:tcPr>
                </a:tc>
                <a:extLst>
                  <a:ext uri="{0D108BD9-81ED-4DB2-BD59-A6C34878D82A}">
                    <a16:rowId xmlns:a16="http://schemas.microsoft.com/office/drawing/2014/main" val="10001"/>
                  </a:ext>
                </a:extLst>
              </a:tr>
              <a:tr h="579864">
                <a:tc>
                  <a:txBody>
                    <a:bodyPr/>
                    <a:lstStyle/>
                    <a:p>
                      <a:pPr algn="ctr">
                        <a:defRPr sz="1200" b="0">
                          <a:solidFill>
                            <a:srgbClr val="000000"/>
                          </a:solidFill>
                          <a:latin typeface="Malgun Gothic"/>
                        </a:defRPr>
                      </a:pPr>
                      <a:r>
                        <a:t>L1 Logistic</a:t>
                      </a:r>
                    </a:p>
                  </a:txBody>
                  <a:tcPr anchor="ctr">
                    <a:solidFill>
                      <a:srgbClr val="FFFFFF"/>
                    </a:solidFill>
                  </a:tcPr>
                </a:tc>
                <a:tc>
                  <a:txBody>
                    <a:bodyPr/>
                    <a:lstStyle/>
                    <a:p>
                      <a:pPr algn="ctr">
                        <a:defRPr sz="1200" b="0">
                          <a:solidFill>
                            <a:srgbClr val="000000"/>
                          </a:solidFill>
                          <a:latin typeface="Malgun Gothic"/>
                        </a:defRPr>
                      </a:pPr>
                      <a:r>
                        <a:t>0.7971</a:t>
                      </a:r>
                    </a:p>
                  </a:txBody>
                  <a:tcPr anchor="ctr">
                    <a:solidFill>
                      <a:srgbClr val="FFFFFF"/>
                    </a:solidFill>
                  </a:tcPr>
                </a:tc>
                <a:tc>
                  <a:txBody>
                    <a:bodyPr/>
                    <a:lstStyle/>
                    <a:p>
                      <a:pPr algn="ctr">
                        <a:defRPr sz="1200" b="0">
                          <a:solidFill>
                            <a:srgbClr val="000000"/>
                          </a:solidFill>
                          <a:latin typeface="Malgun Gothic"/>
                        </a:defRPr>
                      </a:pPr>
                      <a:r>
                        <a:t>0.8182</a:t>
                      </a:r>
                    </a:p>
                  </a:txBody>
                  <a:tcPr anchor="ctr">
                    <a:solidFill>
                      <a:srgbClr val="FFFFFF"/>
                    </a:solidFill>
                  </a:tcPr>
                </a:tc>
                <a:tc>
                  <a:txBody>
                    <a:bodyPr/>
                    <a:lstStyle/>
                    <a:p>
                      <a:pPr algn="ctr">
                        <a:defRPr sz="1200" b="0">
                          <a:solidFill>
                            <a:srgbClr val="000000"/>
                          </a:solidFill>
                          <a:latin typeface="Malgun Gothic"/>
                        </a:defRPr>
                      </a:pPr>
                      <a:r>
                        <a:rPr dirty="0"/>
                        <a:t>0.4286</a:t>
                      </a:r>
                    </a:p>
                  </a:txBody>
                  <a:tcPr anchor="ctr">
                    <a:solidFill>
                      <a:srgbClr val="FFFFFF"/>
                    </a:solidFill>
                  </a:tcPr>
                </a:tc>
                <a:tc>
                  <a:txBody>
                    <a:bodyPr/>
                    <a:lstStyle/>
                    <a:p>
                      <a:pPr algn="ctr">
                        <a:defRPr sz="1200" b="0">
                          <a:solidFill>
                            <a:srgbClr val="000000"/>
                          </a:solidFill>
                          <a:latin typeface="Malgun Gothic"/>
                        </a:defRPr>
                      </a:pPr>
                      <a:r>
                        <a:t>0.5625</a:t>
                      </a:r>
                    </a:p>
                  </a:txBody>
                  <a:tcPr anchor="ctr">
                    <a:solidFill>
                      <a:srgbClr val="FFFFFF"/>
                    </a:solidFill>
                  </a:tcPr>
                </a:tc>
                <a:tc>
                  <a:txBody>
                    <a:bodyPr/>
                    <a:lstStyle/>
                    <a:p>
                      <a:pPr algn="ctr">
                        <a:defRPr sz="1200" b="0">
                          <a:solidFill>
                            <a:srgbClr val="000000"/>
                          </a:solidFill>
                          <a:latin typeface="Malgun Gothic"/>
                        </a:defRPr>
                      </a:pPr>
                      <a:r>
                        <a:t>0.7798</a:t>
                      </a:r>
                    </a:p>
                  </a:txBody>
                  <a:tcPr anchor="ctr">
                    <a:solidFill>
                      <a:srgbClr val="FFFFFF"/>
                    </a:solidFill>
                  </a:tcPr>
                </a:tc>
                <a:extLst>
                  <a:ext uri="{0D108BD9-81ED-4DB2-BD59-A6C34878D82A}">
                    <a16:rowId xmlns:a16="http://schemas.microsoft.com/office/drawing/2014/main" val="10002"/>
                  </a:ext>
                </a:extLst>
              </a:tr>
              <a:tr h="579864">
                <a:tc>
                  <a:txBody>
                    <a:bodyPr/>
                    <a:lstStyle/>
                    <a:p>
                      <a:pPr algn="ctr">
                        <a:defRPr sz="1200" b="0">
                          <a:solidFill>
                            <a:srgbClr val="000000"/>
                          </a:solidFill>
                          <a:latin typeface="Malgun Gothic"/>
                        </a:defRPr>
                      </a:pPr>
                      <a:r>
                        <a:t>L2 Logistic</a:t>
                      </a:r>
                    </a:p>
                  </a:txBody>
                  <a:tcPr anchor="ctr">
                    <a:solidFill>
                      <a:srgbClr val="FFFFFF"/>
                    </a:solidFill>
                  </a:tcPr>
                </a:tc>
                <a:tc>
                  <a:txBody>
                    <a:bodyPr/>
                    <a:lstStyle/>
                    <a:p>
                      <a:pPr algn="ctr">
                        <a:defRPr sz="1200" b="0">
                          <a:solidFill>
                            <a:srgbClr val="000000"/>
                          </a:solidFill>
                          <a:latin typeface="Malgun Gothic"/>
                        </a:defRPr>
                      </a:pPr>
                      <a:r>
                        <a:t>0.7971</a:t>
                      </a:r>
                    </a:p>
                  </a:txBody>
                  <a:tcPr anchor="ctr">
                    <a:solidFill>
                      <a:srgbClr val="FFFFFF"/>
                    </a:solidFill>
                  </a:tcPr>
                </a:tc>
                <a:tc>
                  <a:txBody>
                    <a:bodyPr/>
                    <a:lstStyle/>
                    <a:p>
                      <a:pPr algn="ctr">
                        <a:defRPr sz="1200" b="0">
                          <a:solidFill>
                            <a:srgbClr val="000000"/>
                          </a:solidFill>
                          <a:latin typeface="Malgun Gothic"/>
                        </a:defRPr>
                      </a:pPr>
                      <a:r>
                        <a:t>0.8182</a:t>
                      </a:r>
                    </a:p>
                  </a:txBody>
                  <a:tcPr anchor="ctr">
                    <a:solidFill>
                      <a:srgbClr val="FFFFFF"/>
                    </a:solidFill>
                  </a:tcPr>
                </a:tc>
                <a:tc>
                  <a:txBody>
                    <a:bodyPr/>
                    <a:lstStyle/>
                    <a:p>
                      <a:pPr algn="ctr">
                        <a:defRPr sz="1200" b="0">
                          <a:solidFill>
                            <a:srgbClr val="000000"/>
                          </a:solidFill>
                          <a:latin typeface="Malgun Gothic"/>
                        </a:defRPr>
                      </a:pPr>
                      <a:r>
                        <a:t>0.4286</a:t>
                      </a:r>
                    </a:p>
                  </a:txBody>
                  <a:tcPr anchor="ctr">
                    <a:solidFill>
                      <a:srgbClr val="FFFFFF"/>
                    </a:solidFill>
                  </a:tcPr>
                </a:tc>
                <a:tc>
                  <a:txBody>
                    <a:bodyPr/>
                    <a:lstStyle/>
                    <a:p>
                      <a:pPr algn="ctr">
                        <a:defRPr sz="1200" b="0">
                          <a:solidFill>
                            <a:srgbClr val="000000"/>
                          </a:solidFill>
                          <a:latin typeface="Malgun Gothic"/>
                        </a:defRPr>
                      </a:pPr>
                      <a:r>
                        <a:t>0.5625</a:t>
                      </a:r>
                    </a:p>
                  </a:txBody>
                  <a:tcPr anchor="ctr">
                    <a:solidFill>
                      <a:srgbClr val="FFFFFF"/>
                    </a:solidFill>
                  </a:tcPr>
                </a:tc>
                <a:tc>
                  <a:txBody>
                    <a:bodyPr/>
                    <a:lstStyle/>
                    <a:p>
                      <a:pPr algn="ctr">
                        <a:defRPr sz="1200" b="0">
                          <a:solidFill>
                            <a:srgbClr val="000000"/>
                          </a:solidFill>
                          <a:latin typeface="Malgun Gothic"/>
                        </a:defRPr>
                      </a:pPr>
                      <a:r>
                        <a:t>0.7768</a:t>
                      </a:r>
                    </a:p>
                  </a:txBody>
                  <a:tcPr anchor="ctr">
                    <a:solidFill>
                      <a:srgbClr val="FFFFFF"/>
                    </a:solidFill>
                  </a:tcPr>
                </a:tc>
                <a:extLst>
                  <a:ext uri="{0D108BD9-81ED-4DB2-BD59-A6C34878D82A}">
                    <a16:rowId xmlns:a16="http://schemas.microsoft.com/office/drawing/2014/main" val="10003"/>
                  </a:ext>
                </a:extLst>
              </a:tr>
              <a:tr h="579864">
                <a:tc>
                  <a:txBody>
                    <a:bodyPr/>
                    <a:lstStyle/>
                    <a:p>
                      <a:pPr algn="ctr">
                        <a:defRPr sz="1200" b="0">
                          <a:solidFill>
                            <a:srgbClr val="000000"/>
                          </a:solidFill>
                          <a:latin typeface="Malgun Gothic"/>
                        </a:defRPr>
                      </a:pPr>
                      <a:r>
                        <a:t>Elastic Net Logistic</a:t>
                      </a:r>
                    </a:p>
                  </a:txBody>
                  <a:tcPr anchor="ctr">
                    <a:solidFill>
                      <a:srgbClr val="FFFFFF"/>
                    </a:solidFill>
                  </a:tcPr>
                </a:tc>
                <a:tc>
                  <a:txBody>
                    <a:bodyPr/>
                    <a:lstStyle/>
                    <a:p>
                      <a:pPr algn="ctr">
                        <a:defRPr sz="1200" b="0">
                          <a:solidFill>
                            <a:srgbClr val="000000"/>
                          </a:solidFill>
                          <a:latin typeface="Malgun Gothic"/>
                        </a:defRPr>
                      </a:pPr>
                      <a:r>
                        <a:t>0.7971</a:t>
                      </a:r>
                    </a:p>
                  </a:txBody>
                  <a:tcPr anchor="ctr">
                    <a:solidFill>
                      <a:srgbClr val="FFFFFF"/>
                    </a:solidFill>
                  </a:tcPr>
                </a:tc>
                <a:tc>
                  <a:txBody>
                    <a:bodyPr/>
                    <a:lstStyle/>
                    <a:p>
                      <a:pPr algn="ctr">
                        <a:defRPr sz="1200" b="0">
                          <a:solidFill>
                            <a:srgbClr val="000000"/>
                          </a:solidFill>
                          <a:latin typeface="Malgun Gothic"/>
                        </a:defRPr>
                      </a:pPr>
                      <a:r>
                        <a:t>0.8182</a:t>
                      </a:r>
                    </a:p>
                  </a:txBody>
                  <a:tcPr anchor="ctr">
                    <a:solidFill>
                      <a:srgbClr val="FFFFFF"/>
                    </a:solidFill>
                  </a:tcPr>
                </a:tc>
                <a:tc>
                  <a:txBody>
                    <a:bodyPr/>
                    <a:lstStyle/>
                    <a:p>
                      <a:pPr algn="ctr">
                        <a:defRPr sz="1200" b="0">
                          <a:solidFill>
                            <a:srgbClr val="000000"/>
                          </a:solidFill>
                          <a:latin typeface="Malgun Gothic"/>
                        </a:defRPr>
                      </a:pPr>
                      <a:r>
                        <a:t>0.4286</a:t>
                      </a:r>
                    </a:p>
                  </a:txBody>
                  <a:tcPr anchor="ctr">
                    <a:solidFill>
                      <a:srgbClr val="FFFFFF"/>
                    </a:solidFill>
                  </a:tcPr>
                </a:tc>
                <a:tc>
                  <a:txBody>
                    <a:bodyPr/>
                    <a:lstStyle/>
                    <a:p>
                      <a:pPr algn="ctr">
                        <a:defRPr sz="1200" b="0">
                          <a:solidFill>
                            <a:srgbClr val="000000"/>
                          </a:solidFill>
                          <a:latin typeface="Malgun Gothic"/>
                        </a:defRPr>
                      </a:pPr>
                      <a:r>
                        <a:t>0.5625</a:t>
                      </a:r>
                    </a:p>
                  </a:txBody>
                  <a:tcPr anchor="ctr">
                    <a:solidFill>
                      <a:srgbClr val="FFFFFF"/>
                    </a:solidFill>
                  </a:tcPr>
                </a:tc>
                <a:tc>
                  <a:txBody>
                    <a:bodyPr/>
                    <a:lstStyle/>
                    <a:p>
                      <a:pPr algn="ctr">
                        <a:defRPr sz="1200" b="0">
                          <a:solidFill>
                            <a:srgbClr val="000000"/>
                          </a:solidFill>
                          <a:latin typeface="Malgun Gothic"/>
                        </a:defRPr>
                      </a:pPr>
                      <a:r>
                        <a:rPr dirty="0"/>
                        <a:t>0.7788</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212109" y="1333500"/>
            <a:ext cx="6217890" cy="4914900"/>
          </a:xfrm>
          <a:prstGeom prst="roundRect">
            <a:avLst>
              <a:gd name="adj" fmla="val 155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7000314" cy="466923"/>
          </a:xfrm>
          <a:prstGeom prst="rect">
            <a:avLst/>
          </a:prstGeom>
          <a:noFill/>
        </p:spPr>
        <p:txBody>
          <a:bodyPr wrap="none" lIns="0" tIns="0" rIns="0" bIns="0" anchor="t">
            <a:spAutoFit/>
          </a:bodyPr>
          <a:lstStyle/>
          <a:p>
            <a:pPr algn="l">
              <a:lnSpc>
                <a:spcPts val="3900"/>
              </a:lnSpc>
            </a:pPr>
            <a:r>
              <a:rPr lang="en-US" sz="3000" b="1" i="0" u="none" dirty="0">
                <a:solidFill>
                  <a:srgbClr val="1E293B"/>
                </a:solidFill>
                <a:latin typeface="Noto Sans KR"/>
              </a:rPr>
              <a:t>2.</a:t>
            </a:r>
            <a:r>
              <a:rPr sz="3000" b="1" i="0" u="none" dirty="0">
                <a:solidFill>
                  <a:srgbClr val="1E293B"/>
                </a:solidFill>
                <a:latin typeface="Noto Sans KR"/>
              </a:rPr>
              <a:t>Boosting 1 </a:t>
            </a:r>
            <a:r>
              <a:rPr sz="3000" b="1" i="0" u="none" dirty="0" err="1">
                <a:solidFill>
                  <a:srgbClr val="1E293B"/>
                </a:solidFill>
                <a:latin typeface="Noto Sans KR"/>
              </a:rPr>
              <a:t>학습</a:t>
            </a:r>
            <a:r>
              <a:rPr sz="3000" b="1" i="0" u="none" dirty="0">
                <a:solidFill>
                  <a:srgbClr val="1E293B"/>
                </a:solidFill>
                <a:latin typeface="Noto Sans KR"/>
              </a:rPr>
              <a:t> 및 </a:t>
            </a:r>
            <a:r>
              <a:rPr sz="3000" b="1" i="0" u="none" dirty="0" err="1">
                <a:solidFill>
                  <a:srgbClr val="1E293B"/>
                </a:solidFill>
                <a:latin typeface="Noto Sans KR"/>
              </a:rPr>
              <a:t>하이퍼파라미터</a:t>
            </a:r>
            <a:r>
              <a:rPr sz="3000" b="1" i="0" u="none" dirty="0">
                <a:solidFill>
                  <a:srgbClr val="1E293B"/>
                </a:solidFill>
                <a:latin typeface="Noto Sans KR"/>
              </a:rPr>
              <a:t> </a:t>
            </a:r>
            <a:r>
              <a:rPr sz="3000" b="1" i="0" u="none" dirty="0" err="1">
                <a:solidFill>
                  <a:srgbClr val="1E293B"/>
                </a:solidFill>
                <a:latin typeface="Noto Sans KR"/>
              </a:rPr>
              <a:t>튜닝</a:t>
            </a:r>
            <a:endParaRPr sz="3000" b="1" i="0" u="none" dirty="0">
              <a:solidFill>
                <a:srgbClr val="1E293B"/>
              </a:solidFill>
              <a:latin typeface="Noto Sans KR"/>
            </a:endParaRPr>
          </a:p>
        </p:txBody>
      </p:sp>
      <p:sp>
        <p:nvSpPr>
          <p:cNvPr id="4" name="TextBox 3"/>
          <p:cNvSpPr txBox="1"/>
          <p:nvPr/>
        </p:nvSpPr>
        <p:spPr>
          <a:xfrm>
            <a:off x="4663473" y="1562100"/>
            <a:ext cx="7315162" cy="4457700"/>
          </a:xfrm>
          <a:prstGeom prst="rect">
            <a:avLst/>
          </a:prstGeom>
          <a:noFill/>
        </p:spPr>
        <p:txBody>
          <a:bodyPr wrap="square" lIns="0" tIns="0" rIns="0" bIns="0" anchor="ctr">
            <a:spAutoFit/>
          </a:bodyPr>
          <a:lstStyle/>
          <a:p>
            <a:pPr algn="ctr"/>
            <a:r>
              <a:rPr sz="1500" b="1" i="0" u="none">
                <a:solidFill>
                  <a:srgbClr val="64748B"/>
                </a:solidFill>
                <a:latin typeface="Noto Sans KR"/>
              </a:rPr>
              <a:t>[ 📷 XGBoost / LightGBM 튜닝 코드 캡처 삽입 ]</a:t>
            </a:r>
          </a:p>
        </p:txBody>
      </p:sp>
      <p:sp>
        <p:nvSpPr>
          <p:cNvPr id="5" name="TextBox 4"/>
          <p:cNvSpPr txBox="1"/>
          <p:nvPr/>
        </p:nvSpPr>
        <p:spPr>
          <a:xfrm>
            <a:off x="923925" y="133350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6" name="TextBox 5"/>
          <p:cNvSpPr txBox="1"/>
          <p:nvPr/>
        </p:nvSpPr>
        <p:spPr>
          <a:xfrm>
            <a:off x="990600" y="1333500"/>
            <a:ext cx="4895887"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기본 모델을 Train 데이터로 먼저 학습</a:t>
            </a:r>
          </a:p>
        </p:txBody>
      </p:sp>
      <p:sp>
        <p:nvSpPr>
          <p:cNvPr id="7" name="TextBox 6"/>
          <p:cNvSpPr txBox="1"/>
          <p:nvPr/>
        </p:nvSpPr>
        <p:spPr>
          <a:xfrm>
            <a:off x="923925" y="177165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8" name="TextBox 7"/>
          <p:cNvSpPr txBox="1"/>
          <p:nvPr/>
        </p:nvSpPr>
        <p:spPr>
          <a:xfrm>
            <a:off x="990600" y="1771650"/>
            <a:ext cx="4011959" cy="571500"/>
          </a:xfrm>
          <a:prstGeom prst="rect">
            <a:avLst/>
          </a:prstGeom>
          <a:noFill/>
        </p:spPr>
        <p:txBody>
          <a:bodyPr wrap="square" lIns="66675" tIns="0" rIns="0" bIns="0" anchor="t">
            <a:spAutoFit/>
          </a:bodyPr>
          <a:lstStyle/>
          <a:p>
            <a:pPr algn="l">
              <a:lnSpc>
                <a:spcPts val="2250"/>
              </a:lnSpc>
            </a:pPr>
            <a:r>
              <a:rPr sz="1500" b="0" i="0" u="none">
                <a:solidFill>
                  <a:srgbClr val="1E293B"/>
                </a:solidFill>
                <a:latin typeface="Noto Sans KR"/>
              </a:rPr>
              <a:t>n_estimators, max_depth, learning_rate 등 후보 탐색</a:t>
            </a:r>
          </a:p>
        </p:txBody>
      </p:sp>
      <p:sp>
        <p:nvSpPr>
          <p:cNvPr id="9" name="TextBox 8"/>
          <p:cNvSpPr txBox="1"/>
          <p:nvPr/>
        </p:nvSpPr>
        <p:spPr>
          <a:xfrm>
            <a:off x="923925" y="249555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10" name="TextBox 9"/>
          <p:cNvSpPr txBox="1"/>
          <p:nvPr/>
        </p:nvSpPr>
        <p:spPr>
          <a:xfrm>
            <a:off x="990600" y="2495550"/>
            <a:ext cx="4895887"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5-Fold Cross Validation + GridSearchCV 수행</a:t>
            </a:r>
          </a:p>
        </p:txBody>
      </p:sp>
      <p:sp>
        <p:nvSpPr>
          <p:cNvPr id="11" name="TextBox 10"/>
          <p:cNvSpPr txBox="1"/>
          <p:nvPr/>
        </p:nvSpPr>
        <p:spPr>
          <a:xfrm>
            <a:off x="923925" y="293370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12" name="TextBox 11"/>
          <p:cNvSpPr txBox="1"/>
          <p:nvPr/>
        </p:nvSpPr>
        <p:spPr>
          <a:xfrm>
            <a:off x="990600" y="2933700"/>
            <a:ext cx="4895887"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Train 내부 F1-score 기준으로 최적 설정 선택</a:t>
            </a:r>
          </a:p>
        </p:txBody>
      </p:sp>
      <p:sp>
        <p:nvSpPr>
          <p:cNvPr id="13" name="TextBox 12"/>
          <p:cNvSpPr txBox="1"/>
          <p:nvPr/>
        </p:nvSpPr>
        <p:spPr>
          <a:xfrm>
            <a:off x="923925" y="3371850"/>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14" name="TextBox 13"/>
          <p:cNvSpPr txBox="1"/>
          <p:nvPr/>
        </p:nvSpPr>
        <p:spPr>
          <a:xfrm>
            <a:off x="990600" y="3371850"/>
            <a:ext cx="4895887"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최적 모델을 공통 Test 데이터에서 다시 평가</a:t>
            </a:r>
          </a:p>
        </p:txBody>
      </p:sp>
      <p:grpSp>
        <p:nvGrpSpPr>
          <p:cNvPr id="15" name="그룹 14">
            <a:extLst>
              <a:ext uri="{FF2B5EF4-FFF2-40B4-BE49-F238E27FC236}">
                <a16:creationId xmlns:a16="http://schemas.microsoft.com/office/drawing/2014/main" id="{2232E2DA-0AB3-A770-0896-653027491B92}"/>
              </a:ext>
            </a:extLst>
          </p:cNvPr>
          <p:cNvGrpSpPr/>
          <p:nvPr/>
        </p:nvGrpSpPr>
        <p:grpSpPr>
          <a:xfrm>
            <a:off x="5069234" y="1333500"/>
            <a:ext cx="6360765" cy="5019333"/>
            <a:chOff x="731520" y="1098336"/>
            <a:chExt cx="4546716" cy="5019333"/>
          </a:xfrm>
        </p:grpSpPr>
        <p:pic>
          <p:nvPicPr>
            <p:cNvPr id="16" name="그림 15">
              <a:extLst>
                <a:ext uri="{FF2B5EF4-FFF2-40B4-BE49-F238E27FC236}">
                  <a16:creationId xmlns:a16="http://schemas.microsoft.com/office/drawing/2014/main" id="{DCF6A5AD-3E9D-669A-1C18-301120970E79}"/>
                </a:ext>
              </a:extLst>
            </p:cNvPr>
            <p:cNvPicPr>
              <a:picLocks noChangeAspect="1"/>
            </p:cNvPicPr>
            <p:nvPr/>
          </p:nvPicPr>
          <p:blipFill>
            <a:blip r:embed="rId2"/>
            <a:srcRect b="95354"/>
            <a:stretch>
              <a:fillRect/>
            </a:stretch>
          </p:blipFill>
          <p:spPr>
            <a:xfrm>
              <a:off x="731520" y="1098336"/>
              <a:ext cx="4521432" cy="193254"/>
            </a:xfrm>
            <a:prstGeom prst="rect">
              <a:avLst/>
            </a:prstGeom>
          </p:spPr>
        </p:pic>
        <p:pic>
          <p:nvPicPr>
            <p:cNvPr id="17" name="그림 16">
              <a:extLst>
                <a:ext uri="{FF2B5EF4-FFF2-40B4-BE49-F238E27FC236}">
                  <a16:creationId xmlns:a16="http://schemas.microsoft.com/office/drawing/2014/main" id="{E93CBF34-FF6D-5F83-18E3-612615E9BD2A}"/>
                </a:ext>
              </a:extLst>
            </p:cNvPr>
            <p:cNvPicPr>
              <a:picLocks noChangeAspect="1"/>
            </p:cNvPicPr>
            <p:nvPr/>
          </p:nvPicPr>
          <p:blipFill>
            <a:blip r:embed="rId3"/>
            <a:srcRect l="-1" t="58897" r="2208" b="-1"/>
            <a:stretch>
              <a:fillRect/>
            </a:stretch>
          </p:blipFill>
          <p:spPr>
            <a:xfrm>
              <a:off x="756804" y="2766060"/>
              <a:ext cx="4496148" cy="1840231"/>
            </a:xfrm>
            <a:prstGeom prst="rect">
              <a:avLst/>
            </a:prstGeom>
          </p:spPr>
        </p:pic>
        <p:pic>
          <p:nvPicPr>
            <p:cNvPr id="18" name="그림 17">
              <a:extLst>
                <a:ext uri="{FF2B5EF4-FFF2-40B4-BE49-F238E27FC236}">
                  <a16:creationId xmlns:a16="http://schemas.microsoft.com/office/drawing/2014/main" id="{A289250B-39D2-C35E-5A3D-A1869141CA40}"/>
                </a:ext>
              </a:extLst>
            </p:cNvPr>
            <p:cNvPicPr>
              <a:picLocks noChangeAspect="1"/>
            </p:cNvPicPr>
            <p:nvPr/>
          </p:nvPicPr>
          <p:blipFill>
            <a:blip r:embed="rId4"/>
            <a:srcRect r="5673"/>
            <a:stretch>
              <a:fillRect/>
            </a:stretch>
          </p:blipFill>
          <p:spPr>
            <a:xfrm>
              <a:off x="756804" y="4606291"/>
              <a:ext cx="4480560" cy="1511378"/>
            </a:xfrm>
            <a:prstGeom prst="rect">
              <a:avLst/>
            </a:prstGeom>
          </p:spPr>
        </p:pic>
        <p:pic>
          <p:nvPicPr>
            <p:cNvPr id="19" name="그림 18">
              <a:extLst>
                <a:ext uri="{FF2B5EF4-FFF2-40B4-BE49-F238E27FC236}">
                  <a16:creationId xmlns:a16="http://schemas.microsoft.com/office/drawing/2014/main" id="{108D8F1A-DA31-6EDD-52E8-924655BB783F}"/>
                </a:ext>
              </a:extLst>
            </p:cNvPr>
            <p:cNvPicPr>
              <a:picLocks noChangeAspect="1"/>
            </p:cNvPicPr>
            <p:nvPr/>
          </p:nvPicPr>
          <p:blipFill>
            <a:blip r:embed="rId2"/>
            <a:srcRect t="72795"/>
            <a:stretch>
              <a:fillRect/>
            </a:stretch>
          </p:blipFill>
          <p:spPr>
            <a:xfrm>
              <a:off x="756804" y="1263015"/>
              <a:ext cx="4521432" cy="1131570"/>
            </a:xfrm>
            <a:prstGeom prst="rect">
              <a:avLst/>
            </a:prstGeom>
          </p:spPr>
        </p:pic>
        <p:pic>
          <p:nvPicPr>
            <p:cNvPr id="20" name="그림 19">
              <a:extLst>
                <a:ext uri="{FF2B5EF4-FFF2-40B4-BE49-F238E27FC236}">
                  <a16:creationId xmlns:a16="http://schemas.microsoft.com/office/drawing/2014/main" id="{E7AED7F8-926E-E503-EA9B-D10650AD9D02}"/>
                </a:ext>
              </a:extLst>
            </p:cNvPr>
            <p:cNvPicPr>
              <a:picLocks noChangeAspect="1"/>
            </p:cNvPicPr>
            <p:nvPr/>
          </p:nvPicPr>
          <p:blipFill>
            <a:blip r:embed="rId3"/>
            <a:srcRect l="-1" r="1658" b="91192"/>
            <a:stretch>
              <a:fillRect/>
            </a:stretch>
          </p:blipFill>
          <p:spPr>
            <a:xfrm>
              <a:off x="754380" y="2371724"/>
              <a:ext cx="4521432" cy="394336"/>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333500"/>
            <a:ext cx="10668000" cy="2969865"/>
          </a:xfrm>
          <a:prstGeom prst="roundRect">
            <a:avLst>
              <a:gd name="adj" fmla="val 2565"/>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5604098" cy="466923"/>
          </a:xfrm>
          <a:prstGeom prst="rect">
            <a:avLst/>
          </a:prstGeom>
          <a:noFill/>
        </p:spPr>
        <p:txBody>
          <a:bodyPr wrap="none" lIns="0" tIns="0" rIns="0" bIns="0" anchor="t">
            <a:spAutoFit/>
          </a:bodyPr>
          <a:lstStyle/>
          <a:p>
            <a:pPr algn="l">
              <a:lnSpc>
                <a:spcPts val="3900"/>
              </a:lnSpc>
            </a:pPr>
            <a:r>
              <a:rPr lang="en-US" sz="3000" b="1" i="0" u="none" dirty="0">
                <a:solidFill>
                  <a:srgbClr val="1E293B"/>
                </a:solidFill>
                <a:latin typeface="Noto Sans KR"/>
              </a:rPr>
              <a:t>2.</a:t>
            </a:r>
            <a:r>
              <a:rPr sz="3000" b="1" i="0" u="none" dirty="0">
                <a:solidFill>
                  <a:srgbClr val="1E293B"/>
                </a:solidFill>
                <a:latin typeface="Noto Sans KR"/>
              </a:rPr>
              <a:t>XGBoost, </a:t>
            </a:r>
            <a:r>
              <a:rPr sz="3000" b="1" i="0" u="none" dirty="0" err="1">
                <a:solidFill>
                  <a:srgbClr val="1E293B"/>
                </a:solidFill>
                <a:latin typeface="Noto Sans KR"/>
              </a:rPr>
              <a:t>LightGBM</a:t>
            </a:r>
            <a:r>
              <a:rPr sz="3000" b="1" i="0" u="none" dirty="0">
                <a:solidFill>
                  <a:srgbClr val="1E293B"/>
                </a:solidFill>
                <a:latin typeface="Noto Sans KR"/>
              </a:rPr>
              <a:t> </a:t>
            </a:r>
            <a:r>
              <a:rPr sz="3000" b="1" i="0" u="none" dirty="0" err="1">
                <a:solidFill>
                  <a:srgbClr val="1E293B"/>
                </a:solidFill>
                <a:latin typeface="Noto Sans KR"/>
              </a:rPr>
              <a:t>성능</a:t>
            </a:r>
            <a:r>
              <a:rPr sz="3000" b="1" i="0" u="none" dirty="0">
                <a:solidFill>
                  <a:srgbClr val="1E293B"/>
                </a:solidFill>
                <a:latin typeface="Noto Sans KR"/>
              </a:rPr>
              <a:t> </a:t>
            </a:r>
            <a:r>
              <a:rPr sz="3000" b="1" i="0" u="none" dirty="0" err="1">
                <a:solidFill>
                  <a:srgbClr val="1E293B"/>
                </a:solidFill>
                <a:latin typeface="Noto Sans KR"/>
              </a:rPr>
              <a:t>비교</a:t>
            </a:r>
            <a:endParaRPr sz="3000" b="1" i="0" u="none" dirty="0">
              <a:solidFill>
                <a:srgbClr val="1E293B"/>
              </a:solidFill>
              <a:latin typeface="Noto Sans KR"/>
            </a:endParaRPr>
          </a:p>
        </p:txBody>
      </p:sp>
      <p:sp>
        <p:nvSpPr>
          <p:cNvPr id="4" name="TextBox 3"/>
          <p:cNvSpPr txBox="1"/>
          <p:nvPr/>
        </p:nvSpPr>
        <p:spPr>
          <a:xfrm>
            <a:off x="-171450" y="1562100"/>
            <a:ext cx="12534900" cy="2512665"/>
          </a:xfrm>
          <a:prstGeom prst="rect">
            <a:avLst/>
          </a:prstGeom>
          <a:noFill/>
        </p:spPr>
        <p:txBody>
          <a:bodyPr wrap="square" lIns="0" tIns="0" rIns="0" bIns="0" anchor="ctr">
            <a:spAutoFit/>
          </a:bodyPr>
          <a:lstStyle/>
          <a:p>
            <a:pPr algn="ctr"/>
            <a:r>
              <a:rPr sz="1500" b="1" i="0" u="none">
                <a:solidFill>
                  <a:srgbClr val="64748B"/>
                </a:solidFill>
                <a:latin typeface="Noto Sans KR"/>
              </a:rPr>
              <a:t>[ 📷 XGBoost, LightGBM 기본 및 튜닝 성능 결과표 캡처 삽입 ]</a:t>
            </a:r>
          </a:p>
        </p:txBody>
      </p:sp>
      <p:sp>
        <p:nvSpPr>
          <p:cNvPr id="5" name="TextBox 4"/>
          <p:cNvSpPr txBox="1"/>
          <p:nvPr/>
        </p:nvSpPr>
        <p:spPr>
          <a:xfrm>
            <a:off x="923925" y="4531965"/>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6" name="TextBox 5"/>
          <p:cNvSpPr txBox="1"/>
          <p:nvPr/>
        </p:nvSpPr>
        <p:spPr>
          <a:xfrm>
            <a:off x="990600" y="4531965"/>
            <a:ext cx="11201400" cy="285750"/>
          </a:xfrm>
          <a:prstGeom prst="rect">
            <a:avLst/>
          </a:prstGeom>
          <a:noFill/>
        </p:spPr>
        <p:txBody>
          <a:bodyPr wrap="none" lIns="66675" tIns="0" rIns="0" bIns="0" anchor="t">
            <a:spAutoFit/>
          </a:bodyPr>
          <a:lstStyle/>
          <a:p>
            <a:pPr algn="l">
              <a:lnSpc>
                <a:spcPts val="2250"/>
              </a:lnSpc>
            </a:pPr>
            <a:r>
              <a:rPr sz="1500" b="1" i="0" u="none">
                <a:solidFill>
                  <a:srgbClr val="2563EB"/>
                </a:solidFill>
                <a:latin typeface="Noto Sans KR"/>
              </a:rPr>
              <a:t>XGBoost:</a:t>
            </a:r>
            <a:r>
              <a:rPr sz="1500" b="0" i="0" u="none">
                <a:solidFill>
                  <a:srgbClr val="1E293B"/>
                </a:solidFill>
                <a:latin typeface="Noto Sans KR"/>
              </a:rPr>
              <a:t> 튜닝 후 F1-score 0.4571 → 0.5556로 상승 (Accuracy·Precision·Recall·ROC-AUC 모두 개선)</a:t>
            </a:r>
          </a:p>
        </p:txBody>
      </p:sp>
      <p:sp>
        <p:nvSpPr>
          <p:cNvPr id="7" name="TextBox 6"/>
          <p:cNvSpPr txBox="1"/>
          <p:nvPr/>
        </p:nvSpPr>
        <p:spPr>
          <a:xfrm>
            <a:off x="923925" y="4970115"/>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8" name="TextBox 7"/>
          <p:cNvSpPr txBox="1"/>
          <p:nvPr/>
        </p:nvSpPr>
        <p:spPr>
          <a:xfrm>
            <a:off x="990600" y="4970115"/>
            <a:ext cx="11201400" cy="285750"/>
          </a:xfrm>
          <a:prstGeom prst="rect">
            <a:avLst/>
          </a:prstGeom>
          <a:noFill/>
        </p:spPr>
        <p:txBody>
          <a:bodyPr wrap="none" lIns="66675" tIns="0" rIns="0" bIns="0" anchor="t">
            <a:spAutoFit/>
          </a:bodyPr>
          <a:lstStyle/>
          <a:p>
            <a:pPr algn="l">
              <a:lnSpc>
                <a:spcPts val="2250"/>
              </a:lnSpc>
            </a:pPr>
            <a:r>
              <a:rPr sz="1500" b="1" i="0" u="none">
                <a:solidFill>
                  <a:srgbClr val="2563EB"/>
                </a:solidFill>
                <a:latin typeface="Noto Sans KR"/>
              </a:rPr>
              <a:t>LightGBM:</a:t>
            </a:r>
            <a:r>
              <a:rPr sz="1500" b="0" i="0" u="none">
                <a:solidFill>
                  <a:srgbClr val="1E293B"/>
                </a:solidFill>
                <a:latin typeface="Noto Sans KR"/>
              </a:rPr>
              <a:t> Recall·ROC-AUC는 상승했지만 F1-score 0.5143 → 0.5128로 소폭 하락</a:t>
            </a:r>
          </a:p>
        </p:txBody>
      </p:sp>
      <p:sp>
        <p:nvSpPr>
          <p:cNvPr id="9" name="TextBox 8"/>
          <p:cNvSpPr txBox="1"/>
          <p:nvPr/>
        </p:nvSpPr>
        <p:spPr>
          <a:xfrm>
            <a:off x="923925" y="5408265"/>
            <a:ext cx="66675" cy="285750"/>
          </a:xfrm>
          <a:prstGeom prst="rect">
            <a:avLst/>
          </a:prstGeom>
          <a:noFill/>
        </p:spPr>
        <p:txBody>
          <a:bodyPr wrap="none" lIns="0" tIns="0" rIns="0" bIns="0" anchor="t">
            <a:spAutoFit/>
          </a:bodyPr>
          <a:lstStyle/>
          <a:p>
            <a:pPr algn="l"/>
            <a:r>
              <a:rPr sz="1500" b="0" i="0" u="none">
                <a:solidFill>
                  <a:srgbClr val="1E293B"/>
                </a:solidFill>
                <a:latin typeface="Noto Sans KR"/>
              </a:rPr>
              <a:t>•</a:t>
            </a:r>
          </a:p>
        </p:txBody>
      </p:sp>
      <p:sp>
        <p:nvSpPr>
          <p:cNvPr id="10" name="TextBox 9"/>
          <p:cNvSpPr txBox="1"/>
          <p:nvPr/>
        </p:nvSpPr>
        <p:spPr>
          <a:xfrm>
            <a:off x="990600" y="5408265"/>
            <a:ext cx="11201400" cy="285750"/>
          </a:xfrm>
          <a:prstGeom prst="rect">
            <a:avLst/>
          </a:prstGeom>
          <a:noFill/>
        </p:spPr>
        <p:txBody>
          <a:bodyPr wrap="none" lIns="66675" tIns="0" rIns="0" bIns="0" anchor="t">
            <a:spAutoFit/>
          </a:bodyPr>
          <a:lstStyle/>
          <a:p>
            <a:pPr algn="l">
              <a:lnSpc>
                <a:spcPts val="2250"/>
              </a:lnSpc>
            </a:pPr>
            <a:r>
              <a:rPr sz="1500" b="0" i="0" u="none">
                <a:solidFill>
                  <a:srgbClr val="1E293B"/>
                </a:solidFill>
                <a:latin typeface="Noto Sans KR"/>
              </a:rPr>
              <a:t>최종 통합 비교에는 각 모델의 기본/튜닝 중 F1-score가 높은 결과를 사용</a:t>
            </a:r>
          </a:p>
        </p:txBody>
      </p:sp>
      <p:graphicFrame>
        <p:nvGraphicFramePr>
          <p:cNvPr id="12" name="Table 3">
            <a:extLst>
              <a:ext uri="{FF2B5EF4-FFF2-40B4-BE49-F238E27FC236}">
                <a16:creationId xmlns:a16="http://schemas.microsoft.com/office/drawing/2014/main" id="{76228901-39EB-138C-F848-99F66EC83F6E}"/>
              </a:ext>
            </a:extLst>
          </p:cNvPr>
          <p:cNvGraphicFramePr>
            <a:graphicFrameLocks noGrp="1"/>
          </p:cNvGraphicFramePr>
          <p:nvPr>
            <p:extLst>
              <p:ext uri="{D42A27DB-BD31-4B8C-83A1-F6EECF244321}">
                <p14:modId xmlns:p14="http://schemas.microsoft.com/office/powerpoint/2010/main" val="2253352471"/>
              </p:ext>
            </p:extLst>
          </p:nvPr>
        </p:nvGraphicFramePr>
        <p:xfrm>
          <a:off x="762000" y="1325540"/>
          <a:ext cx="10972800" cy="31089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tblGrid>
              <a:tr h="621792">
                <a:tc>
                  <a:txBody>
                    <a:bodyPr/>
                    <a:lstStyle/>
                    <a:p>
                      <a:pPr algn="ctr">
                        <a:defRPr sz="1200" b="1">
                          <a:solidFill>
                            <a:srgbClr val="000000"/>
                          </a:solidFill>
                          <a:latin typeface="Malgun Gothic"/>
                        </a:defRPr>
                      </a:pPr>
                      <a:r>
                        <a:t>Model</a:t>
                      </a:r>
                    </a:p>
                  </a:txBody>
                  <a:tcPr anchor="ctr">
                    <a:solidFill>
                      <a:srgbClr val="F2F2F2"/>
                    </a:solidFill>
                  </a:tcPr>
                </a:tc>
                <a:tc>
                  <a:txBody>
                    <a:bodyPr/>
                    <a:lstStyle/>
                    <a:p>
                      <a:pPr algn="ctr">
                        <a:defRPr sz="1200" b="1">
                          <a:solidFill>
                            <a:srgbClr val="000000"/>
                          </a:solidFill>
                          <a:latin typeface="Malgun Gothic"/>
                        </a:defRPr>
                      </a:pPr>
                      <a:r>
                        <a:t>Accuracy</a:t>
                      </a:r>
                    </a:p>
                  </a:txBody>
                  <a:tcPr anchor="ctr">
                    <a:solidFill>
                      <a:srgbClr val="F2F2F2"/>
                    </a:solidFill>
                  </a:tcPr>
                </a:tc>
                <a:tc>
                  <a:txBody>
                    <a:bodyPr/>
                    <a:lstStyle/>
                    <a:p>
                      <a:pPr algn="ctr">
                        <a:defRPr sz="1200" b="1">
                          <a:solidFill>
                            <a:srgbClr val="000000"/>
                          </a:solidFill>
                          <a:latin typeface="Malgun Gothic"/>
                        </a:defRPr>
                      </a:pPr>
                      <a:r>
                        <a:t>Precision</a:t>
                      </a:r>
                    </a:p>
                  </a:txBody>
                  <a:tcPr anchor="ctr">
                    <a:solidFill>
                      <a:srgbClr val="F2F2F2"/>
                    </a:solidFill>
                  </a:tcPr>
                </a:tc>
                <a:tc>
                  <a:txBody>
                    <a:bodyPr/>
                    <a:lstStyle/>
                    <a:p>
                      <a:pPr algn="ctr">
                        <a:defRPr sz="1200" b="1">
                          <a:solidFill>
                            <a:srgbClr val="000000"/>
                          </a:solidFill>
                          <a:latin typeface="Malgun Gothic"/>
                        </a:defRPr>
                      </a:pPr>
                      <a:r>
                        <a:t>Recall</a:t>
                      </a:r>
                    </a:p>
                  </a:txBody>
                  <a:tcPr anchor="ctr">
                    <a:solidFill>
                      <a:srgbClr val="F2F2F2"/>
                    </a:solidFill>
                  </a:tcPr>
                </a:tc>
                <a:tc>
                  <a:txBody>
                    <a:bodyPr/>
                    <a:lstStyle/>
                    <a:p>
                      <a:pPr algn="ctr">
                        <a:defRPr sz="1200" b="1">
                          <a:solidFill>
                            <a:srgbClr val="000000"/>
                          </a:solidFill>
                          <a:latin typeface="Malgun Gothic"/>
                        </a:defRPr>
                      </a:pPr>
                      <a:r>
                        <a:t>F1-score</a:t>
                      </a:r>
                    </a:p>
                  </a:txBody>
                  <a:tcPr anchor="ctr">
                    <a:solidFill>
                      <a:srgbClr val="F2F2F2"/>
                    </a:solidFill>
                  </a:tcPr>
                </a:tc>
                <a:tc>
                  <a:txBody>
                    <a:bodyPr/>
                    <a:lstStyle/>
                    <a:p>
                      <a:pPr algn="ctr">
                        <a:defRPr sz="1200" b="1">
                          <a:solidFill>
                            <a:srgbClr val="000000"/>
                          </a:solidFill>
                          <a:latin typeface="Malgun Gothic"/>
                        </a:defRPr>
                      </a:pPr>
                      <a:r>
                        <a:t>ROC-AUC</a:t>
                      </a:r>
                    </a:p>
                  </a:txBody>
                  <a:tcPr anchor="ctr">
                    <a:solidFill>
                      <a:srgbClr val="F2F2F2"/>
                    </a:solidFill>
                  </a:tcPr>
                </a:tc>
                <a:extLst>
                  <a:ext uri="{0D108BD9-81ED-4DB2-BD59-A6C34878D82A}">
                    <a16:rowId xmlns:a16="http://schemas.microsoft.com/office/drawing/2014/main" val="10000"/>
                  </a:ext>
                </a:extLst>
              </a:tr>
              <a:tr h="621792">
                <a:tc>
                  <a:txBody>
                    <a:bodyPr/>
                    <a:lstStyle/>
                    <a:p>
                      <a:pPr algn="ctr">
                        <a:defRPr sz="1200" b="0">
                          <a:solidFill>
                            <a:srgbClr val="000000"/>
                          </a:solidFill>
                          <a:latin typeface="Malgun Gothic"/>
                        </a:defRPr>
                      </a:pPr>
                      <a:r>
                        <a:t>XGBoost</a:t>
                      </a:r>
                    </a:p>
                  </a:txBody>
                  <a:tcPr anchor="ctr">
                    <a:solidFill>
                      <a:srgbClr val="FFFFFF"/>
                    </a:solidFill>
                  </a:tcPr>
                </a:tc>
                <a:tc>
                  <a:txBody>
                    <a:bodyPr/>
                    <a:lstStyle/>
                    <a:p>
                      <a:pPr algn="ctr">
                        <a:defRPr sz="1200" b="0">
                          <a:solidFill>
                            <a:srgbClr val="000000"/>
                          </a:solidFill>
                          <a:latin typeface="Malgun Gothic"/>
                        </a:defRPr>
                      </a:pPr>
                      <a:r>
                        <a:t>0.7246</a:t>
                      </a:r>
                    </a:p>
                  </a:txBody>
                  <a:tcPr anchor="ctr">
                    <a:solidFill>
                      <a:srgbClr val="FFFFFF"/>
                    </a:solidFill>
                  </a:tcPr>
                </a:tc>
                <a:tc>
                  <a:txBody>
                    <a:bodyPr/>
                    <a:lstStyle/>
                    <a:p>
                      <a:pPr algn="ctr">
                        <a:defRPr sz="1200" b="0">
                          <a:solidFill>
                            <a:srgbClr val="000000"/>
                          </a:solidFill>
                          <a:latin typeface="Malgun Gothic"/>
                        </a:defRPr>
                      </a:pPr>
                      <a:r>
                        <a:t>0.5714</a:t>
                      </a:r>
                    </a:p>
                  </a:txBody>
                  <a:tcPr anchor="ctr">
                    <a:solidFill>
                      <a:srgbClr val="FFFFFF"/>
                    </a:solidFill>
                  </a:tcPr>
                </a:tc>
                <a:tc>
                  <a:txBody>
                    <a:bodyPr/>
                    <a:lstStyle/>
                    <a:p>
                      <a:pPr algn="ctr">
                        <a:defRPr sz="1200" b="0">
                          <a:solidFill>
                            <a:srgbClr val="000000"/>
                          </a:solidFill>
                          <a:latin typeface="Malgun Gothic"/>
                        </a:defRPr>
                      </a:pPr>
                      <a:r>
                        <a:t>0.3810</a:t>
                      </a:r>
                    </a:p>
                  </a:txBody>
                  <a:tcPr anchor="ctr">
                    <a:solidFill>
                      <a:srgbClr val="FFFFFF"/>
                    </a:solidFill>
                  </a:tcPr>
                </a:tc>
                <a:tc>
                  <a:txBody>
                    <a:bodyPr/>
                    <a:lstStyle/>
                    <a:p>
                      <a:pPr algn="ctr">
                        <a:defRPr sz="1200" b="0">
                          <a:solidFill>
                            <a:srgbClr val="000000"/>
                          </a:solidFill>
                          <a:latin typeface="Malgun Gothic"/>
                        </a:defRPr>
                      </a:pPr>
                      <a:r>
                        <a:t>0.4571</a:t>
                      </a:r>
                    </a:p>
                  </a:txBody>
                  <a:tcPr anchor="ctr">
                    <a:solidFill>
                      <a:srgbClr val="FFFFFF"/>
                    </a:solidFill>
                  </a:tcPr>
                </a:tc>
                <a:tc>
                  <a:txBody>
                    <a:bodyPr/>
                    <a:lstStyle/>
                    <a:p>
                      <a:pPr algn="ctr">
                        <a:defRPr sz="1200" b="0">
                          <a:solidFill>
                            <a:srgbClr val="000000"/>
                          </a:solidFill>
                          <a:latin typeface="Malgun Gothic"/>
                        </a:defRPr>
                      </a:pPr>
                      <a:r>
                        <a:t>0.6954</a:t>
                      </a:r>
                    </a:p>
                  </a:txBody>
                  <a:tcPr anchor="ctr">
                    <a:solidFill>
                      <a:srgbClr val="FFFFFF"/>
                    </a:solidFill>
                  </a:tcPr>
                </a:tc>
                <a:extLst>
                  <a:ext uri="{0D108BD9-81ED-4DB2-BD59-A6C34878D82A}">
                    <a16:rowId xmlns:a16="http://schemas.microsoft.com/office/drawing/2014/main" val="10001"/>
                  </a:ext>
                </a:extLst>
              </a:tr>
              <a:tr h="621792">
                <a:tc>
                  <a:txBody>
                    <a:bodyPr/>
                    <a:lstStyle/>
                    <a:p>
                      <a:pPr algn="ctr">
                        <a:defRPr sz="1200" b="0">
                          <a:solidFill>
                            <a:srgbClr val="000000"/>
                          </a:solidFill>
                          <a:latin typeface="Malgun Gothic"/>
                        </a:defRPr>
                      </a:pPr>
                      <a:r>
                        <a:rPr dirty="0" err="1"/>
                        <a:t>XGBoost</a:t>
                      </a:r>
                      <a:r>
                        <a:rPr dirty="0"/>
                        <a:t> (Tuned)</a:t>
                      </a:r>
                    </a:p>
                  </a:txBody>
                  <a:tcPr anchor="ctr">
                    <a:solidFill>
                      <a:srgbClr val="FFFFFF"/>
                    </a:solidFill>
                  </a:tcPr>
                </a:tc>
                <a:tc>
                  <a:txBody>
                    <a:bodyPr/>
                    <a:lstStyle/>
                    <a:p>
                      <a:pPr algn="ctr">
                        <a:defRPr sz="1200" b="0">
                          <a:solidFill>
                            <a:srgbClr val="000000"/>
                          </a:solidFill>
                          <a:latin typeface="Malgun Gothic"/>
                        </a:defRPr>
                      </a:pPr>
                      <a:r>
                        <a:t>0.7681</a:t>
                      </a:r>
                    </a:p>
                  </a:txBody>
                  <a:tcPr anchor="ctr">
                    <a:solidFill>
                      <a:srgbClr val="FFFFFF"/>
                    </a:solidFill>
                  </a:tcPr>
                </a:tc>
                <a:tc>
                  <a:txBody>
                    <a:bodyPr/>
                    <a:lstStyle/>
                    <a:p>
                      <a:pPr algn="ctr">
                        <a:defRPr sz="1200" b="0">
                          <a:solidFill>
                            <a:srgbClr val="000000"/>
                          </a:solidFill>
                          <a:latin typeface="Malgun Gothic"/>
                        </a:defRPr>
                      </a:pPr>
                      <a:r>
                        <a:t>0.6667</a:t>
                      </a:r>
                    </a:p>
                  </a:txBody>
                  <a:tcPr anchor="ctr">
                    <a:solidFill>
                      <a:srgbClr val="FFFFFF"/>
                    </a:solidFill>
                  </a:tcPr>
                </a:tc>
                <a:tc>
                  <a:txBody>
                    <a:bodyPr/>
                    <a:lstStyle/>
                    <a:p>
                      <a:pPr algn="ctr">
                        <a:defRPr sz="1200" b="0">
                          <a:solidFill>
                            <a:srgbClr val="000000"/>
                          </a:solidFill>
                          <a:latin typeface="Malgun Gothic"/>
                        </a:defRPr>
                      </a:pPr>
                      <a:r>
                        <a:t>0.4762</a:t>
                      </a:r>
                    </a:p>
                  </a:txBody>
                  <a:tcPr anchor="ctr">
                    <a:solidFill>
                      <a:srgbClr val="FFFFFF"/>
                    </a:solidFill>
                  </a:tcPr>
                </a:tc>
                <a:tc>
                  <a:txBody>
                    <a:bodyPr/>
                    <a:lstStyle/>
                    <a:p>
                      <a:pPr algn="ctr">
                        <a:defRPr sz="1200" b="0">
                          <a:solidFill>
                            <a:srgbClr val="000000"/>
                          </a:solidFill>
                          <a:latin typeface="Malgun Gothic"/>
                        </a:defRPr>
                      </a:pPr>
                      <a:r>
                        <a:t>0.5556</a:t>
                      </a:r>
                    </a:p>
                  </a:txBody>
                  <a:tcPr anchor="ctr">
                    <a:solidFill>
                      <a:srgbClr val="FFFFFF"/>
                    </a:solidFill>
                  </a:tcPr>
                </a:tc>
                <a:tc>
                  <a:txBody>
                    <a:bodyPr/>
                    <a:lstStyle/>
                    <a:p>
                      <a:pPr algn="ctr">
                        <a:defRPr sz="1200" b="0">
                          <a:solidFill>
                            <a:srgbClr val="000000"/>
                          </a:solidFill>
                          <a:latin typeface="Malgun Gothic"/>
                        </a:defRPr>
                      </a:pPr>
                      <a:r>
                        <a:t>0.7758</a:t>
                      </a:r>
                    </a:p>
                  </a:txBody>
                  <a:tcPr anchor="ctr">
                    <a:solidFill>
                      <a:srgbClr val="FFFFFF"/>
                    </a:solidFill>
                  </a:tcPr>
                </a:tc>
                <a:extLst>
                  <a:ext uri="{0D108BD9-81ED-4DB2-BD59-A6C34878D82A}">
                    <a16:rowId xmlns:a16="http://schemas.microsoft.com/office/drawing/2014/main" val="10002"/>
                  </a:ext>
                </a:extLst>
              </a:tr>
              <a:tr h="621792">
                <a:tc>
                  <a:txBody>
                    <a:bodyPr/>
                    <a:lstStyle/>
                    <a:p>
                      <a:pPr algn="ctr">
                        <a:defRPr sz="1200" b="0">
                          <a:solidFill>
                            <a:srgbClr val="000000"/>
                          </a:solidFill>
                          <a:latin typeface="Malgun Gothic"/>
                        </a:defRPr>
                      </a:pPr>
                      <a:r>
                        <a:t>LightGBM</a:t>
                      </a:r>
                    </a:p>
                  </a:txBody>
                  <a:tcPr anchor="ctr">
                    <a:solidFill>
                      <a:srgbClr val="FFFFFF"/>
                    </a:solidFill>
                  </a:tcPr>
                </a:tc>
                <a:tc>
                  <a:txBody>
                    <a:bodyPr/>
                    <a:lstStyle/>
                    <a:p>
                      <a:pPr algn="ctr">
                        <a:defRPr sz="1200" b="0">
                          <a:solidFill>
                            <a:srgbClr val="000000"/>
                          </a:solidFill>
                          <a:latin typeface="Malgun Gothic"/>
                        </a:defRPr>
                      </a:pPr>
                      <a:r>
                        <a:t>0.7536</a:t>
                      </a:r>
                    </a:p>
                  </a:txBody>
                  <a:tcPr anchor="ctr">
                    <a:solidFill>
                      <a:srgbClr val="FFFFFF"/>
                    </a:solidFill>
                  </a:tcPr>
                </a:tc>
                <a:tc>
                  <a:txBody>
                    <a:bodyPr/>
                    <a:lstStyle/>
                    <a:p>
                      <a:pPr algn="ctr">
                        <a:defRPr sz="1200" b="0">
                          <a:solidFill>
                            <a:srgbClr val="000000"/>
                          </a:solidFill>
                          <a:latin typeface="Malgun Gothic"/>
                        </a:defRPr>
                      </a:pPr>
                      <a:r>
                        <a:t>0.6429</a:t>
                      </a:r>
                    </a:p>
                  </a:txBody>
                  <a:tcPr anchor="ctr">
                    <a:solidFill>
                      <a:srgbClr val="FFFFFF"/>
                    </a:solidFill>
                  </a:tcPr>
                </a:tc>
                <a:tc>
                  <a:txBody>
                    <a:bodyPr/>
                    <a:lstStyle/>
                    <a:p>
                      <a:pPr algn="ctr">
                        <a:defRPr sz="1200" b="0">
                          <a:solidFill>
                            <a:srgbClr val="000000"/>
                          </a:solidFill>
                          <a:latin typeface="Malgun Gothic"/>
                        </a:defRPr>
                      </a:pPr>
                      <a:r>
                        <a:t>0.4286</a:t>
                      </a:r>
                    </a:p>
                  </a:txBody>
                  <a:tcPr anchor="ctr">
                    <a:solidFill>
                      <a:srgbClr val="FFFFFF"/>
                    </a:solidFill>
                  </a:tcPr>
                </a:tc>
                <a:tc>
                  <a:txBody>
                    <a:bodyPr/>
                    <a:lstStyle/>
                    <a:p>
                      <a:pPr algn="ctr">
                        <a:defRPr sz="1200" b="0">
                          <a:solidFill>
                            <a:srgbClr val="000000"/>
                          </a:solidFill>
                          <a:latin typeface="Malgun Gothic"/>
                        </a:defRPr>
                      </a:pPr>
                      <a:r>
                        <a:t>0.5143</a:t>
                      </a:r>
                    </a:p>
                  </a:txBody>
                  <a:tcPr anchor="ctr">
                    <a:solidFill>
                      <a:srgbClr val="FFFFFF"/>
                    </a:solidFill>
                  </a:tcPr>
                </a:tc>
                <a:tc>
                  <a:txBody>
                    <a:bodyPr/>
                    <a:lstStyle/>
                    <a:p>
                      <a:pPr algn="ctr">
                        <a:defRPr sz="1200" b="0">
                          <a:solidFill>
                            <a:srgbClr val="000000"/>
                          </a:solidFill>
                          <a:latin typeface="Malgun Gothic"/>
                        </a:defRPr>
                      </a:pPr>
                      <a:r>
                        <a:t>0.7163</a:t>
                      </a:r>
                    </a:p>
                  </a:txBody>
                  <a:tcPr anchor="ctr">
                    <a:solidFill>
                      <a:srgbClr val="FFFFFF"/>
                    </a:solidFill>
                  </a:tcPr>
                </a:tc>
                <a:extLst>
                  <a:ext uri="{0D108BD9-81ED-4DB2-BD59-A6C34878D82A}">
                    <a16:rowId xmlns:a16="http://schemas.microsoft.com/office/drawing/2014/main" val="10003"/>
                  </a:ext>
                </a:extLst>
              </a:tr>
              <a:tr h="621792">
                <a:tc>
                  <a:txBody>
                    <a:bodyPr/>
                    <a:lstStyle/>
                    <a:p>
                      <a:pPr algn="ctr">
                        <a:defRPr sz="1200" b="0">
                          <a:solidFill>
                            <a:srgbClr val="000000"/>
                          </a:solidFill>
                          <a:latin typeface="Malgun Gothic"/>
                        </a:defRPr>
                      </a:pPr>
                      <a:r>
                        <a:t>LightGBM (Tuned)</a:t>
                      </a:r>
                    </a:p>
                  </a:txBody>
                  <a:tcPr anchor="ctr">
                    <a:solidFill>
                      <a:srgbClr val="FFFFFF"/>
                    </a:solidFill>
                  </a:tcPr>
                </a:tc>
                <a:tc>
                  <a:txBody>
                    <a:bodyPr/>
                    <a:lstStyle/>
                    <a:p>
                      <a:pPr algn="ctr">
                        <a:defRPr sz="1200" b="0">
                          <a:solidFill>
                            <a:srgbClr val="000000"/>
                          </a:solidFill>
                          <a:latin typeface="Malgun Gothic"/>
                        </a:defRPr>
                      </a:pPr>
                      <a:r>
                        <a:t>0.7246</a:t>
                      </a:r>
                    </a:p>
                  </a:txBody>
                  <a:tcPr anchor="ctr">
                    <a:solidFill>
                      <a:srgbClr val="FFFFFF"/>
                    </a:solidFill>
                  </a:tcPr>
                </a:tc>
                <a:tc>
                  <a:txBody>
                    <a:bodyPr/>
                    <a:lstStyle/>
                    <a:p>
                      <a:pPr algn="ctr">
                        <a:defRPr sz="1200" b="0">
                          <a:solidFill>
                            <a:srgbClr val="000000"/>
                          </a:solidFill>
                          <a:latin typeface="Malgun Gothic"/>
                        </a:defRPr>
                      </a:pPr>
                      <a:r>
                        <a:t>0.5556</a:t>
                      </a:r>
                    </a:p>
                  </a:txBody>
                  <a:tcPr anchor="ctr">
                    <a:solidFill>
                      <a:srgbClr val="FFFFFF"/>
                    </a:solidFill>
                  </a:tcPr>
                </a:tc>
                <a:tc>
                  <a:txBody>
                    <a:bodyPr/>
                    <a:lstStyle/>
                    <a:p>
                      <a:pPr algn="ctr">
                        <a:defRPr sz="1200" b="0">
                          <a:solidFill>
                            <a:srgbClr val="000000"/>
                          </a:solidFill>
                          <a:latin typeface="Malgun Gothic"/>
                        </a:defRPr>
                      </a:pPr>
                      <a:r>
                        <a:t>0.4762</a:t>
                      </a:r>
                    </a:p>
                  </a:txBody>
                  <a:tcPr anchor="ctr">
                    <a:solidFill>
                      <a:srgbClr val="FFFFFF"/>
                    </a:solidFill>
                  </a:tcPr>
                </a:tc>
                <a:tc>
                  <a:txBody>
                    <a:bodyPr/>
                    <a:lstStyle/>
                    <a:p>
                      <a:pPr algn="ctr">
                        <a:defRPr sz="1200" b="0">
                          <a:solidFill>
                            <a:srgbClr val="000000"/>
                          </a:solidFill>
                          <a:latin typeface="Malgun Gothic"/>
                        </a:defRPr>
                      </a:pPr>
                      <a:r>
                        <a:t>0.5128</a:t>
                      </a:r>
                    </a:p>
                  </a:txBody>
                  <a:tcPr anchor="ctr">
                    <a:solidFill>
                      <a:srgbClr val="FFFFFF"/>
                    </a:solidFill>
                  </a:tcPr>
                </a:tc>
                <a:tc>
                  <a:txBody>
                    <a:bodyPr/>
                    <a:lstStyle/>
                    <a:p>
                      <a:pPr algn="ctr">
                        <a:defRPr sz="1200" b="0">
                          <a:solidFill>
                            <a:srgbClr val="000000"/>
                          </a:solidFill>
                          <a:latin typeface="Malgun Gothic"/>
                        </a:defRPr>
                      </a:pPr>
                      <a:r>
                        <a:rPr dirty="0"/>
                        <a:t>0.7212</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2910780"/>
            <a:ext cx="5181600" cy="3337619"/>
          </a:xfrm>
          <a:prstGeom prst="roundRect">
            <a:avLst>
              <a:gd name="adj" fmla="val 228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2910780"/>
            <a:ext cx="5181600" cy="3337619"/>
          </a:xfrm>
          <a:prstGeom prst="roundRect">
            <a:avLst>
              <a:gd name="adj" fmla="val 2283"/>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3. Boosting 2 계열 (NGBoost, CatBoost)</a:t>
            </a:r>
          </a:p>
        </p:txBody>
      </p:sp>
      <p:sp>
        <p:nvSpPr>
          <p:cNvPr id="5" name="TextBox 4"/>
          <p:cNvSpPr txBox="1"/>
          <p:nvPr/>
        </p:nvSpPr>
        <p:spPr>
          <a:xfrm>
            <a:off x="762000" y="1333500"/>
            <a:ext cx="6800850"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NGBoost 모델 학습</a:t>
            </a:r>
          </a:p>
        </p:txBody>
      </p:sp>
      <p:sp>
        <p:nvSpPr>
          <p:cNvPr id="6" name="TextBox 5"/>
          <p:cNvSpPr txBox="1"/>
          <p:nvPr/>
        </p:nvSpPr>
        <p:spPr>
          <a:xfrm>
            <a:off x="762000" y="1882080"/>
            <a:ext cx="6477000"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 NGBoost 모델 생성</a:t>
            </a:r>
          </a:p>
        </p:txBody>
      </p:sp>
      <p:sp>
        <p:nvSpPr>
          <p:cNvPr id="7" name="TextBox 6"/>
          <p:cNvSpPr txBox="1"/>
          <p:nvPr/>
        </p:nvSpPr>
        <p:spPr>
          <a:xfrm>
            <a:off x="762000" y="2320230"/>
            <a:ext cx="6477000"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- 36개 조합 * 5폴드 = 180번 학습</a:t>
            </a:r>
          </a:p>
        </p:txBody>
      </p:sp>
      <p:sp>
        <p:nvSpPr>
          <p:cNvPr id="8" name="TextBox 7"/>
          <p:cNvSpPr txBox="1"/>
          <p:nvPr/>
        </p:nvSpPr>
        <p:spPr>
          <a:xfrm>
            <a:off x="342900" y="3139380"/>
            <a:ext cx="6019800" cy="2880419"/>
          </a:xfrm>
          <a:prstGeom prst="rect">
            <a:avLst/>
          </a:prstGeom>
          <a:noFill/>
        </p:spPr>
        <p:txBody>
          <a:bodyPr wrap="square" lIns="0" tIns="0" rIns="0" bIns="0" anchor="ctr">
            <a:spAutoFit/>
          </a:bodyPr>
          <a:lstStyle/>
          <a:p>
            <a:pPr algn="ctr"/>
            <a:r>
              <a:rPr sz="1500" b="1" i="0" u="none">
                <a:solidFill>
                  <a:srgbClr val="64748B"/>
                </a:solidFill>
                <a:latin typeface="Noto Sans KR"/>
              </a:rPr>
              <a:t>[ 📷 NGBoost 학습 코드 캡처 삽입 ]</a:t>
            </a:r>
          </a:p>
        </p:txBody>
      </p:sp>
      <p:sp>
        <p:nvSpPr>
          <p:cNvPr id="9" name="TextBox 8"/>
          <p:cNvSpPr txBox="1"/>
          <p:nvPr/>
        </p:nvSpPr>
        <p:spPr>
          <a:xfrm>
            <a:off x="6248400" y="1333500"/>
            <a:ext cx="5943600"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CatBoost 모델 학습</a:t>
            </a:r>
          </a:p>
        </p:txBody>
      </p:sp>
      <p:sp>
        <p:nvSpPr>
          <p:cNvPr id="10" name="TextBox 9"/>
          <p:cNvSpPr txBox="1"/>
          <p:nvPr/>
        </p:nvSpPr>
        <p:spPr>
          <a:xfrm>
            <a:off x="6248400" y="1882080"/>
            <a:ext cx="5943600"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 CatBoost 모델 생성</a:t>
            </a:r>
          </a:p>
        </p:txBody>
      </p:sp>
      <p:sp>
        <p:nvSpPr>
          <p:cNvPr id="11" name="TextBox 10"/>
          <p:cNvSpPr txBox="1"/>
          <p:nvPr/>
        </p:nvSpPr>
        <p:spPr>
          <a:xfrm>
            <a:off x="6248400" y="2320230"/>
            <a:ext cx="5943600"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- 54번 조합 * 5폴드 = 270번 학습</a:t>
            </a:r>
          </a:p>
        </p:txBody>
      </p:sp>
      <p:sp>
        <p:nvSpPr>
          <p:cNvPr id="12" name="TextBox 11"/>
          <p:cNvSpPr txBox="1"/>
          <p:nvPr/>
        </p:nvSpPr>
        <p:spPr>
          <a:xfrm>
            <a:off x="5829300" y="3139380"/>
            <a:ext cx="6019800" cy="2880419"/>
          </a:xfrm>
          <a:prstGeom prst="rect">
            <a:avLst/>
          </a:prstGeom>
          <a:noFill/>
        </p:spPr>
        <p:txBody>
          <a:bodyPr wrap="square" lIns="0" tIns="0" rIns="0" bIns="0" anchor="ctr">
            <a:spAutoFit/>
          </a:bodyPr>
          <a:lstStyle/>
          <a:p>
            <a:pPr algn="ctr"/>
            <a:r>
              <a:rPr sz="1500" b="1" i="0" u="none">
                <a:solidFill>
                  <a:srgbClr val="64748B"/>
                </a:solidFill>
                <a:latin typeface="Noto Sans KR"/>
              </a:rPr>
              <a:t>[ 📷 CatBoost 학습 코드 캡처 삽입 ]</a:t>
            </a:r>
          </a:p>
        </p:txBody>
      </p:sp>
      <p:pic>
        <p:nvPicPr>
          <p:cNvPr id="18" name="그림 17" descr="The provided text appears to be a snippet of Python code for initializing and training a decision tree regressor and an NGBoost (Nested Generalized Boosting) classifier, including sample weighting for balanced classes and model evaluation.&#10;&#10;AI 생성 콘텐츠는 정확하지 않을 수 있습니다.">
            <a:extLst>
              <a:ext uri="{FF2B5EF4-FFF2-40B4-BE49-F238E27FC236}">
                <a16:creationId xmlns:a16="http://schemas.microsoft.com/office/drawing/2014/main" id="{7D186D14-6A6D-2D64-888B-FF51692846F4}"/>
              </a:ext>
            </a:extLst>
          </p:cNvPr>
          <p:cNvPicPr>
            <a:picLocks noChangeAspect="1"/>
          </p:cNvPicPr>
          <p:nvPr/>
        </p:nvPicPr>
        <p:blipFill>
          <a:blip r:embed="rId2"/>
          <a:stretch>
            <a:fillRect/>
          </a:stretch>
        </p:blipFill>
        <p:spPr>
          <a:xfrm>
            <a:off x="757748" y="2910780"/>
            <a:ext cx="5213041" cy="1167543"/>
          </a:xfrm>
          <a:prstGeom prst="rect">
            <a:avLst/>
          </a:prstGeom>
        </p:spPr>
      </p:pic>
      <p:pic>
        <p:nvPicPr>
          <p:cNvPr id="20" name="그림 19" descr="The image depicts a code snippet in Python, showing the initialization and fitting of a CatBoostClassifier with parameters for balancing classes, setting a random seed, and setting verbosity to zero, followed by an evaluation of the model on test data.&#10;&#10;AI 생성 콘텐츠는 정확하지 않을 수 있습니다.">
            <a:extLst>
              <a:ext uri="{FF2B5EF4-FFF2-40B4-BE49-F238E27FC236}">
                <a16:creationId xmlns:a16="http://schemas.microsoft.com/office/drawing/2014/main" id="{B66A141E-BEF4-4D82-8294-135C449E3C3C}"/>
              </a:ext>
            </a:extLst>
          </p:cNvPr>
          <p:cNvPicPr>
            <a:picLocks noChangeAspect="1"/>
          </p:cNvPicPr>
          <p:nvPr/>
        </p:nvPicPr>
        <p:blipFill>
          <a:blip r:embed="rId3"/>
          <a:stretch>
            <a:fillRect/>
          </a:stretch>
        </p:blipFill>
        <p:spPr>
          <a:xfrm>
            <a:off x="6248400" y="2912378"/>
            <a:ext cx="5231406" cy="1061524"/>
          </a:xfrm>
          <a:prstGeom prst="rect">
            <a:avLst/>
          </a:prstGeom>
        </p:spPr>
      </p:pic>
      <p:pic>
        <p:nvPicPr>
          <p:cNvPr id="22" name="그림 21" descr="The image shows a snippet of Python code using the NGBoost library, performing hyperparameter tuning and evaluating a model.&#10;&#10;AI 생성 콘텐츠는 정확하지 않을 수 있습니다.">
            <a:extLst>
              <a:ext uri="{FF2B5EF4-FFF2-40B4-BE49-F238E27FC236}">
                <a16:creationId xmlns:a16="http://schemas.microsoft.com/office/drawing/2014/main" id="{CC550334-7731-9DAE-C576-846E9AB6822C}"/>
              </a:ext>
            </a:extLst>
          </p:cNvPr>
          <p:cNvPicPr>
            <a:picLocks noChangeAspect="1"/>
          </p:cNvPicPr>
          <p:nvPr/>
        </p:nvPicPr>
        <p:blipFill>
          <a:blip r:embed="rId4"/>
          <a:stretch>
            <a:fillRect/>
          </a:stretch>
        </p:blipFill>
        <p:spPr>
          <a:xfrm>
            <a:off x="762000" y="4093769"/>
            <a:ext cx="5213041" cy="2203514"/>
          </a:xfrm>
          <a:prstGeom prst="rect">
            <a:avLst/>
          </a:prstGeom>
        </p:spPr>
      </p:pic>
      <p:pic>
        <p:nvPicPr>
          <p:cNvPr id="24" name="그림 23" descr="The image shows a code snippet in Python using the CatBoost library, performing a grid search to optimize hyperparameters for a classification model.&#10;&#10;AI 생성 콘텐츠는 정확하지 않을 수 있습니다.">
            <a:extLst>
              <a:ext uri="{FF2B5EF4-FFF2-40B4-BE49-F238E27FC236}">
                <a16:creationId xmlns:a16="http://schemas.microsoft.com/office/drawing/2014/main" id="{C74BBE24-0459-A8D5-C4DB-8FBEC93E956E}"/>
              </a:ext>
            </a:extLst>
          </p:cNvPr>
          <p:cNvPicPr>
            <a:picLocks noChangeAspect="1"/>
          </p:cNvPicPr>
          <p:nvPr/>
        </p:nvPicPr>
        <p:blipFill>
          <a:blip r:embed="rId5"/>
          <a:stretch>
            <a:fillRect/>
          </a:stretch>
        </p:blipFill>
        <p:spPr>
          <a:xfrm>
            <a:off x="6252652" y="3975442"/>
            <a:ext cx="5177348" cy="244016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762000" y="609600"/>
            <a:ext cx="5531964" cy="466923"/>
          </a:xfrm>
          <a:prstGeom prst="rect">
            <a:avLst/>
          </a:prstGeom>
          <a:noFill/>
        </p:spPr>
        <p:txBody>
          <a:bodyPr wrap="none" lIns="0" tIns="0" rIns="0" bIns="0" anchor="t">
            <a:spAutoFit/>
          </a:bodyPr>
          <a:lstStyle/>
          <a:p>
            <a:pPr algn="l">
              <a:lnSpc>
                <a:spcPts val="3900"/>
              </a:lnSpc>
            </a:pPr>
            <a:r>
              <a:rPr lang="en-US" sz="3000" b="1" i="0" u="none" dirty="0">
                <a:solidFill>
                  <a:srgbClr val="1E293B"/>
                </a:solidFill>
                <a:latin typeface="Noto Sans KR"/>
              </a:rPr>
              <a:t>3.</a:t>
            </a:r>
            <a:r>
              <a:rPr sz="3000" b="1" i="0" u="none" dirty="0">
                <a:solidFill>
                  <a:srgbClr val="1E293B"/>
                </a:solidFill>
                <a:latin typeface="Noto Sans KR"/>
              </a:rPr>
              <a:t>NGBoost, </a:t>
            </a:r>
            <a:r>
              <a:rPr sz="3000" b="1" i="0" u="none" dirty="0" err="1">
                <a:solidFill>
                  <a:srgbClr val="1E293B"/>
                </a:solidFill>
                <a:latin typeface="Noto Sans KR"/>
              </a:rPr>
              <a:t>CatBoost</a:t>
            </a:r>
            <a:r>
              <a:rPr sz="3000" b="1" i="0" u="none" dirty="0">
                <a:solidFill>
                  <a:srgbClr val="1E293B"/>
                </a:solidFill>
                <a:latin typeface="Noto Sans KR"/>
              </a:rPr>
              <a:t> </a:t>
            </a:r>
            <a:r>
              <a:rPr sz="3000" b="1" i="0" u="none" dirty="0" err="1">
                <a:solidFill>
                  <a:srgbClr val="1E293B"/>
                </a:solidFill>
                <a:latin typeface="Noto Sans KR"/>
              </a:rPr>
              <a:t>성능</a:t>
            </a:r>
            <a:r>
              <a:rPr sz="3000" b="1" i="0" u="none" dirty="0">
                <a:solidFill>
                  <a:srgbClr val="1E293B"/>
                </a:solidFill>
                <a:latin typeface="Noto Sans KR"/>
              </a:rPr>
              <a:t> </a:t>
            </a:r>
            <a:r>
              <a:rPr sz="3000" b="1" i="0" u="none" dirty="0" err="1">
                <a:solidFill>
                  <a:srgbClr val="1E293B"/>
                </a:solidFill>
                <a:latin typeface="Noto Sans KR"/>
              </a:rPr>
              <a:t>평가</a:t>
            </a:r>
            <a:endParaRPr sz="3000" b="1" i="0" u="none" dirty="0">
              <a:solidFill>
                <a:srgbClr val="1E293B"/>
              </a:solidFill>
              <a:latin typeface="Noto Sans KR"/>
            </a:endParaRPr>
          </a:p>
        </p:txBody>
      </p:sp>
      <p:pic>
        <p:nvPicPr>
          <p:cNvPr id="6" name="그림 5" descr="The image displays a table comparing various machine learning models' performance metrics, specifically accuracy, precision, recall, and F1-score, with ROC-AUC values for both base and tuned versions of NGBoost and CatBoost.&#10;&#10;AI 생성 콘텐츠는 정확하지 않을 수 있습니다.">
            <a:extLst>
              <a:ext uri="{FF2B5EF4-FFF2-40B4-BE49-F238E27FC236}">
                <a16:creationId xmlns:a16="http://schemas.microsoft.com/office/drawing/2014/main" id="{441CD620-881A-11CE-B32B-9BFB41613933}"/>
              </a:ext>
            </a:extLst>
          </p:cNvPr>
          <p:cNvPicPr>
            <a:picLocks noChangeAspect="1"/>
          </p:cNvPicPr>
          <p:nvPr/>
        </p:nvPicPr>
        <p:blipFill>
          <a:blip r:embed="rId2"/>
          <a:stretch>
            <a:fillRect/>
          </a:stretch>
        </p:blipFill>
        <p:spPr>
          <a:xfrm>
            <a:off x="760003" y="1333500"/>
            <a:ext cx="5335998" cy="49148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4065091"/>
            <a:ext cx="4145309" cy="876300"/>
          </a:xfrm>
          <a:prstGeom prst="roundRect">
            <a:avLst>
              <a:gd name="adj" fmla="val 869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212109" y="1333500"/>
            <a:ext cx="6217890" cy="4914900"/>
          </a:xfrm>
          <a:prstGeom prst="roundRect">
            <a:avLst>
              <a:gd name="adj" fmla="val 155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62000" y="609600"/>
            <a:ext cx="6096221" cy="466923"/>
          </a:xfrm>
          <a:prstGeom prst="rect">
            <a:avLst/>
          </a:prstGeom>
          <a:noFill/>
        </p:spPr>
        <p:txBody>
          <a:bodyPr wrap="none" lIns="0" tIns="0" rIns="0" bIns="0" anchor="t">
            <a:spAutoFit/>
          </a:bodyPr>
          <a:lstStyle/>
          <a:p>
            <a:pPr algn="l">
              <a:lnSpc>
                <a:spcPts val="3900"/>
              </a:lnSpc>
            </a:pPr>
            <a:r>
              <a:rPr lang="en-US" sz="3000" b="1" i="0" u="none" dirty="0">
                <a:solidFill>
                  <a:srgbClr val="1E293B"/>
                </a:solidFill>
                <a:latin typeface="Noto Sans KR"/>
              </a:rPr>
              <a:t>4.</a:t>
            </a:r>
            <a:r>
              <a:rPr sz="3000" b="1" i="0" u="none" dirty="0">
                <a:solidFill>
                  <a:srgbClr val="1E293B"/>
                </a:solidFill>
                <a:latin typeface="Noto Sans KR"/>
              </a:rPr>
              <a:t>비선형 </a:t>
            </a:r>
            <a:r>
              <a:rPr sz="3000" b="1" i="0" u="none" dirty="0" err="1">
                <a:solidFill>
                  <a:srgbClr val="1E293B"/>
                </a:solidFill>
                <a:latin typeface="Noto Sans KR"/>
              </a:rPr>
              <a:t>모델</a:t>
            </a:r>
            <a:r>
              <a:rPr sz="3000" b="1" i="0" u="none" dirty="0">
                <a:solidFill>
                  <a:srgbClr val="1E293B"/>
                </a:solidFill>
                <a:latin typeface="Noto Sans KR"/>
              </a:rPr>
              <a:t> </a:t>
            </a:r>
            <a:r>
              <a:rPr sz="3000" b="1" i="0" u="none" dirty="0" err="1">
                <a:solidFill>
                  <a:srgbClr val="1E293B"/>
                </a:solidFill>
                <a:latin typeface="Noto Sans KR"/>
              </a:rPr>
              <a:t>교차검증</a:t>
            </a:r>
            <a:r>
              <a:rPr sz="3000" b="1" i="0" u="none" dirty="0">
                <a:solidFill>
                  <a:srgbClr val="1E293B"/>
                </a:solidFill>
                <a:latin typeface="Noto Sans KR"/>
              </a:rPr>
              <a:t> </a:t>
            </a:r>
            <a:r>
              <a:rPr sz="3000" b="1" i="0" u="none" dirty="0" err="1">
                <a:solidFill>
                  <a:srgbClr val="1E293B"/>
                </a:solidFill>
                <a:latin typeface="Noto Sans KR"/>
              </a:rPr>
              <a:t>파라미터</a:t>
            </a:r>
            <a:r>
              <a:rPr sz="3000" b="1" i="0" u="none" dirty="0">
                <a:solidFill>
                  <a:srgbClr val="1E293B"/>
                </a:solidFill>
                <a:latin typeface="Noto Sans KR"/>
              </a:rPr>
              <a:t> </a:t>
            </a:r>
            <a:r>
              <a:rPr sz="3000" b="1" i="0" u="none" dirty="0" err="1">
                <a:solidFill>
                  <a:srgbClr val="1E293B"/>
                </a:solidFill>
                <a:latin typeface="Noto Sans KR"/>
              </a:rPr>
              <a:t>탐색</a:t>
            </a:r>
            <a:endParaRPr sz="3000" b="1" i="0" u="none" dirty="0">
              <a:solidFill>
                <a:srgbClr val="1E293B"/>
              </a:solidFill>
              <a:latin typeface="Noto Sans KR"/>
            </a:endParaRPr>
          </a:p>
        </p:txBody>
      </p:sp>
      <p:sp>
        <p:nvSpPr>
          <p:cNvPr id="5" name="TextBox 4"/>
          <p:cNvSpPr txBox="1"/>
          <p:nvPr/>
        </p:nvSpPr>
        <p:spPr>
          <a:xfrm>
            <a:off x="4663473" y="1562100"/>
            <a:ext cx="7315162" cy="4457700"/>
          </a:xfrm>
          <a:prstGeom prst="rect">
            <a:avLst/>
          </a:prstGeom>
          <a:noFill/>
        </p:spPr>
        <p:txBody>
          <a:bodyPr wrap="square" lIns="0" tIns="0" rIns="0" bIns="0" anchor="ctr">
            <a:spAutoFit/>
          </a:bodyPr>
          <a:lstStyle/>
          <a:p>
            <a:pPr algn="ctr"/>
            <a:r>
              <a:rPr sz="1500" b="1" i="0" u="none">
                <a:solidFill>
                  <a:srgbClr val="64748B"/>
                </a:solidFill>
                <a:latin typeface="Noto Sans KR"/>
              </a:rPr>
              <a:t>[ 📷 param_grids 등 비선형 튜닝 코드 캡처 삽입 ]</a:t>
            </a:r>
          </a:p>
        </p:txBody>
      </p:sp>
      <p:sp>
        <p:nvSpPr>
          <p:cNvPr id="6" name="TextBox 5"/>
          <p:cNvSpPr txBox="1"/>
          <p:nvPr/>
        </p:nvSpPr>
        <p:spPr>
          <a:xfrm>
            <a:off x="762000" y="1333500"/>
            <a:ext cx="5440719"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KNN: 24개 조합</a:t>
            </a:r>
          </a:p>
        </p:txBody>
      </p:sp>
      <p:sp>
        <p:nvSpPr>
          <p:cNvPr id="7" name="TextBox 6"/>
          <p:cNvSpPr txBox="1"/>
          <p:nvPr/>
        </p:nvSpPr>
        <p:spPr>
          <a:xfrm>
            <a:off x="762000" y="1729680"/>
            <a:ext cx="5181637"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이웃 수, 가중치, 거리 종류</a:t>
            </a:r>
          </a:p>
        </p:txBody>
      </p:sp>
      <p:sp>
        <p:nvSpPr>
          <p:cNvPr id="8" name="TextBox 7"/>
          <p:cNvSpPr txBox="1"/>
          <p:nvPr/>
        </p:nvSpPr>
        <p:spPr>
          <a:xfrm>
            <a:off x="762000" y="2244030"/>
            <a:ext cx="5440719"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SVM: 32개 조합</a:t>
            </a:r>
          </a:p>
        </p:txBody>
      </p:sp>
      <p:sp>
        <p:nvSpPr>
          <p:cNvPr id="9" name="TextBox 8"/>
          <p:cNvSpPr txBox="1"/>
          <p:nvPr/>
        </p:nvSpPr>
        <p:spPr>
          <a:xfrm>
            <a:off x="762000" y="2640210"/>
            <a:ext cx="5181637"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C, gamma, class_weight</a:t>
            </a:r>
          </a:p>
        </p:txBody>
      </p:sp>
      <p:sp>
        <p:nvSpPr>
          <p:cNvPr id="10" name="TextBox 9"/>
          <p:cNvSpPr txBox="1"/>
          <p:nvPr/>
        </p:nvSpPr>
        <p:spPr>
          <a:xfrm>
            <a:off x="762000" y="3154560"/>
            <a:ext cx="5440719"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Random Forest: 36개 조합</a:t>
            </a:r>
          </a:p>
        </p:txBody>
      </p:sp>
      <p:sp>
        <p:nvSpPr>
          <p:cNvPr id="11" name="TextBox 10"/>
          <p:cNvSpPr txBox="1"/>
          <p:nvPr/>
        </p:nvSpPr>
        <p:spPr>
          <a:xfrm>
            <a:off x="762000" y="3550741"/>
            <a:ext cx="5181637" cy="285750"/>
          </a:xfrm>
          <a:prstGeom prst="rect">
            <a:avLst/>
          </a:prstGeom>
          <a:noFill/>
        </p:spPr>
        <p:txBody>
          <a:bodyPr wrap="none" lIns="0" tIns="0" rIns="0" bIns="0" anchor="t">
            <a:spAutoFit/>
          </a:bodyPr>
          <a:lstStyle/>
          <a:p>
            <a:pPr algn="l">
              <a:lnSpc>
                <a:spcPts val="2250"/>
              </a:lnSpc>
            </a:pPr>
            <a:r>
              <a:rPr sz="1500" b="0" i="0" u="none">
                <a:solidFill>
                  <a:srgbClr val="475569"/>
                </a:solidFill>
                <a:latin typeface="Noto Sans KR"/>
              </a:rPr>
              <a:t>깊이, 최소 잎 표본 수, 변수 수, class_weight</a:t>
            </a:r>
          </a:p>
        </p:txBody>
      </p:sp>
      <p:sp>
        <p:nvSpPr>
          <p:cNvPr id="12" name="TextBox 11"/>
          <p:cNvSpPr txBox="1"/>
          <p:nvPr/>
        </p:nvSpPr>
        <p:spPr>
          <a:xfrm>
            <a:off x="914400" y="4217491"/>
            <a:ext cx="4800637" cy="285750"/>
          </a:xfrm>
          <a:prstGeom prst="rect">
            <a:avLst/>
          </a:prstGeom>
          <a:noFill/>
        </p:spPr>
        <p:txBody>
          <a:bodyPr wrap="none" lIns="0" tIns="0" rIns="0" bIns="0" anchor="t">
            <a:spAutoFit/>
          </a:bodyPr>
          <a:lstStyle/>
          <a:p>
            <a:pPr algn="l">
              <a:lnSpc>
                <a:spcPts val="2250"/>
              </a:lnSpc>
            </a:pPr>
            <a:r>
              <a:rPr sz="1500" b="0" i="0" u="none">
                <a:solidFill>
                  <a:srgbClr val="1E293B"/>
                </a:solidFill>
                <a:latin typeface="Noto Sans KR"/>
              </a:rPr>
              <a:t>- StratifiedKFold: 5분할</a:t>
            </a:r>
          </a:p>
        </p:txBody>
      </p:sp>
      <p:sp>
        <p:nvSpPr>
          <p:cNvPr id="13" name="TextBox 12"/>
          <p:cNvSpPr txBox="1"/>
          <p:nvPr/>
        </p:nvSpPr>
        <p:spPr>
          <a:xfrm>
            <a:off x="914400" y="4503241"/>
            <a:ext cx="4800637" cy="285750"/>
          </a:xfrm>
          <a:prstGeom prst="rect">
            <a:avLst/>
          </a:prstGeom>
          <a:noFill/>
        </p:spPr>
        <p:txBody>
          <a:bodyPr wrap="none" lIns="0" tIns="0" rIns="0" bIns="0" anchor="t">
            <a:spAutoFit/>
          </a:bodyPr>
          <a:lstStyle/>
          <a:p>
            <a:pPr algn="l">
              <a:lnSpc>
                <a:spcPts val="2250"/>
              </a:lnSpc>
            </a:pPr>
            <a:r>
              <a:rPr sz="1500" b="0" i="0" u="none">
                <a:solidFill>
                  <a:srgbClr val="1E293B"/>
                </a:solidFill>
                <a:latin typeface="Noto Sans KR"/>
              </a:rPr>
              <a:t>- refit="f1": 검증 F1 기준으로 선택</a:t>
            </a:r>
          </a:p>
        </p:txBody>
      </p:sp>
      <p:pic>
        <p:nvPicPr>
          <p:cNvPr id="16" name="그림 15" descr="The diagram illustrates a JSON object detailing hyperparameters for three machine learning models: KNN, SVM, and RandomForest, specifying various options for neighbor count, kernel, gamma, class weight, number of estimators, depth, minimum samples per leaf, and maximum features.&#10;&#10;AI 생성 콘텐츠는 정확하지 않을 수 있습니다.">
            <a:extLst>
              <a:ext uri="{FF2B5EF4-FFF2-40B4-BE49-F238E27FC236}">
                <a16:creationId xmlns:a16="http://schemas.microsoft.com/office/drawing/2014/main" id="{9E95FE18-B35D-D432-4551-A3B8A8882B05}"/>
              </a:ext>
            </a:extLst>
          </p:cNvPr>
          <p:cNvPicPr>
            <a:picLocks noChangeAspect="1"/>
          </p:cNvPicPr>
          <p:nvPr/>
        </p:nvPicPr>
        <p:blipFill>
          <a:blip r:embed="rId2"/>
          <a:stretch/>
        </p:blipFill>
        <p:spPr>
          <a:xfrm>
            <a:off x="5212109" y="1274137"/>
            <a:ext cx="6217890" cy="2380347"/>
          </a:xfrm>
          <a:prstGeom prst="rect">
            <a:avLst/>
          </a:prstGeom>
        </p:spPr>
      </p:pic>
      <p:pic>
        <p:nvPicPr>
          <p:cNvPr id="18" name="그림 17" descr="The provided text is a snippet of Python code that demonstrates how to perform a grid search cross-validation for a machine learning model. It uses the `GridSearchCV` function from the `sklearn` library to find the best hyperparameters for the model. The `param_grid` contains various parameter combinations to be tested, and the `scoring` dictionary specifies the metrics to be used for evaluating the model's performance. The `fit` method is used to train the model with the training data, and the best model is stored in the `best_models` dictionary.&#10;&#10;AI 생성 콘텐츠는 정확하지 않을 수 있습니다.">
            <a:extLst>
              <a:ext uri="{FF2B5EF4-FFF2-40B4-BE49-F238E27FC236}">
                <a16:creationId xmlns:a16="http://schemas.microsoft.com/office/drawing/2014/main" id="{2D582743-77D0-CFF7-3251-A3F652732F90}"/>
              </a:ext>
            </a:extLst>
          </p:cNvPr>
          <p:cNvPicPr>
            <a:picLocks noChangeAspect="1"/>
          </p:cNvPicPr>
          <p:nvPr/>
        </p:nvPicPr>
        <p:blipFill>
          <a:blip r:embed="rId3"/>
          <a:stretch/>
        </p:blipFill>
        <p:spPr>
          <a:xfrm>
            <a:off x="5212109" y="3643928"/>
            <a:ext cx="6217890" cy="296878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333500"/>
            <a:ext cx="10668000" cy="2985045"/>
          </a:xfrm>
          <a:prstGeom prst="roundRect">
            <a:avLst>
              <a:gd name="adj" fmla="val 2552"/>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4547145"/>
            <a:ext cx="10668000" cy="1143000"/>
          </a:xfrm>
          <a:prstGeom prst="roundRect">
            <a:avLst>
              <a:gd name="adj" fmla="val 6666"/>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비선형 계열 교차검증 vs 최종 결과</a:t>
            </a:r>
          </a:p>
        </p:txBody>
      </p:sp>
      <p:sp>
        <p:nvSpPr>
          <p:cNvPr id="5" name="TextBox 4"/>
          <p:cNvSpPr txBox="1"/>
          <p:nvPr/>
        </p:nvSpPr>
        <p:spPr>
          <a:xfrm>
            <a:off x="-171450" y="1562100"/>
            <a:ext cx="12534900" cy="2527845"/>
          </a:xfrm>
          <a:prstGeom prst="rect">
            <a:avLst/>
          </a:prstGeom>
          <a:noFill/>
        </p:spPr>
        <p:txBody>
          <a:bodyPr wrap="square" lIns="0" tIns="0" rIns="0" bIns="0" anchor="ctr">
            <a:spAutoFit/>
          </a:bodyPr>
          <a:lstStyle/>
          <a:p>
            <a:pPr algn="ctr"/>
            <a:r>
              <a:rPr sz="1500" b="1" i="0" u="none">
                <a:solidFill>
                  <a:srgbClr val="64748B"/>
                </a:solidFill>
                <a:latin typeface="Noto Sans KR"/>
              </a:rPr>
              <a:t>[ 📷 비선형 CV결과표 &amp; Test결과표 나란히 배치 캡처 삽입 ]</a:t>
            </a:r>
          </a:p>
        </p:txBody>
      </p:sp>
      <p:sp>
        <p:nvSpPr>
          <p:cNvPr id="6" name="TextBox 5"/>
          <p:cNvSpPr txBox="1"/>
          <p:nvPr/>
        </p:nvSpPr>
        <p:spPr>
          <a:xfrm>
            <a:off x="-171450" y="4775745"/>
            <a:ext cx="12534900" cy="685800"/>
          </a:xfrm>
          <a:prstGeom prst="rect">
            <a:avLst/>
          </a:prstGeom>
          <a:noFill/>
        </p:spPr>
        <p:txBody>
          <a:bodyPr wrap="square" lIns="0" tIns="0" rIns="0" bIns="0" anchor="t">
            <a:spAutoFit/>
          </a:bodyPr>
          <a:lstStyle/>
          <a:p>
            <a:pPr algn="ctr">
              <a:lnSpc>
                <a:spcPts val="2700"/>
              </a:lnSpc>
            </a:pPr>
            <a:r>
              <a:rPr sz="1800" b="0" i="0" u="none" dirty="0">
                <a:solidFill>
                  <a:srgbClr val="1E293B"/>
                </a:solidFill>
                <a:latin typeface="Noto Sans KR"/>
              </a:rPr>
              <a:t>Train </a:t>
            </a:r>
            <a:r>
              <a:rPr sz="1800" b="0" i="0" u="none" dirty="0" err="1">
                <a:solidFill>
                  <a:srgbClr val="1E293B"/>
                </a:solidFill>
                <a:latin typeface="Noto Sans KR"/>
              </a:rPr>
              <a:t>데이터</a:t>
            </a:r>
            <a:r>
              <a:rPr sz="1800" b="0" i="0" u="none" dirty="0">
                <a:solidFill>
                  <a:srgbClr val="1E293B"/>
                </a:solidFill>
                <a:latin typeface="Noto Sans KR"/>
              </a:rPr>
              <a:t> </a:t>
            </a:r>
            <a:r>
              <a:rPr sz="1800" b="0" i="0" u="none" dirty="0" err="1">
                <a:solidFill>
                  <a:srgbClr val="1E293B"/>
                </a:solidFill>
                <a:latin typeface="Noto Sans KR"/>
              </a:rPr>
              <a:t>검증에서는</a:t>
            </a:r>
            <a:r>
              <a:rPr sz="1800" b="0" i="0" u="none" dirty="0">
                <a:solidFill>
                  <a:srgbClr val="1E293B"/>
                </a:solidFill>
                <a:latin typeface="Noto Sans KR"/>
              </a:rPr>
              <a:t> </a:t>
            </a:r>
            <a:r>
              <a:rPr sz="1800" b="1" i="0" u="none" dirty="0" err="1">
                <a:solidFill>
                  <a:srgbClr val="2563EB"/>
                </a:solidFill>
                <a:latin typeface="Noto Sans KR"/>
              </a:rPr>
              <a:t>SVM</a:t>
            </a:r>
            <a:r>
              <a:rPr sz="1800" b="0" i="0" u="none" dirty="0" err="1">
                <a:solidFill>
                  <a:srgbClr val="1E293B"/>
                </a:solidFill>
                <a:latin typeface="Noto Sans KR"/>
              </a:rPr>
              <a:t>이</a:t>
            </a:r>
            <a:r>
              <a:rPr sz="1800" b="0" i="0" u="none" dirty="0">
                <a:solidFill>
                  <a:srgbClr val="1E293B"/>
                </a:solidFill>
                <a:latin typeface="Noto Sans KR"/>
              </a:rPr>
              <a:t> </a:t>
            </a:r>
            <a:r>
              <a:rPr sz="1800" b="0" i="0" u="none" dirty="0" err="1">
                <a:solidFill>
                  <a:srgbClr val="1E293B"/>
                </a:solidFill>
                <a:latin typeface="Noto Sans KR"/>
              </a:rPr>
              <a:t>압도적으로</a:t>
            </a:r>
            <a:r>
              <a:rPr sz="1800" b="0" i="0" u="none" dirty="0">
                <a:solidFill>
                  <a:srgbClr val="1E293B"/>
                </a:solidFill>
                <a:latin typeface="Noto Sans KR"/>
              </a:rPr>
              <a:t> </a:t>
            </a:r>
            <a:r>
              <a:rPr sz="1800" b="0" i="0" u="none" dirty="0" err="1">
                <a:solidFill>
                  <a:srgbClr val="1E293B"/>
                </a:solidFill>
                <a:latin typeface="Noto Sans KR"/>
              </a:rPr>
              <a:t>높았으나</a:t>
            </a:r>
            <a:r>
              <a:rPr sz="1800" b="0" i="0" u="none" dirty="0">
                <a:solidFill>
                  <a:srgbClr val="1E293B"/>
                </a:solidFill>
                <a:latin typeface="Noto Sans KR"/>
              </a:rPr>
              <a:t>, </a:t>
            </a:r>
            <a:r>
              <a:rPr sz="1800" b="0" i="0" u="none" dirty="0" err="1">
                <a:solidFill>
                  <a:srgbClr val="1E293B"/>
                </a:solidFill>
                <a:latin typeface="Noto Sans KR"/>
              </a:rPr>
              <a:t>실제</a:t>
            </a:r>
            <a:r>
              <a:rPr sz="1800" b="0" i="0" u="none" dirty="0">
                <a:solidFill>
                  <a:srgbClr val="1E293B"/>
                </a:solidFill>
                <a:latin typeface="Noto Sans KR"/>
              </a:rPr>
              <a:t> Test </a:t>
            </a:r>
            <a:r>
              <a:rPr sz="1800" b="0" i="0" u="none" dirty="0" err="1">
                <a:solidFill>
                  <a:srgbClr val="1E293B"/>
                </a:solidFill>
                <a:latin typeface="Noto Sans KR"/>
              </a:rPr>
              <a:t>데이터</a:t>
            </a:r>
            <a:r>
              <a:rPr sz="1800" b="0" i="0" u="none" dirty="0">
                <a:solidFill>
                  <a:srgbClr val="1E293B"/>
                </a:solidFill>
                <a:latin typeface="Noto Sans KR"/>
              </a:rPr>
              <a:t> </a:t>
            </a:r>
            <a:r>
              <a:rPr sz="1800" b="0" i="0" u="none" dirty="0" err="1">
                <a:solidFill>
                  <a:srgbClr val="1E293B"/>
                </a:solidFill>
                <a:latin typeface="Noto Sans KR"/>
              </a:rPr>
              <a:t>평가에서는</a:t>
            </a:r>
            <a:r>
              <a:rPr sz="1800" b="0" i="0" u="none" dirty="0">
                <a:solidFill>
                  <a:srgbClr val="1E293B"/>
                </a:solidFill>
                <a:latin typeface="Noto Sans KR"/>
              </a:rPr>
              <a:t> </a:t>
            </a:r>
            <a:r>
              <a:rPr sz="1800" b="1" i="0" u="none" dirty="0">
                <a:solidFill>
                  <a:srgbClr val="2563EB"/>
                </a:solidFill>
                <a:latin typeface="Noto Sans KR"/>
              </a:rPr>
              <a:t>Random </a:t>
            </a:r>
            <a:r>
              <a:rPr sz="1800" b="1" i="0" u="none" dirty="0" err="1">
                <a:solidFill>
                  <a:srgbClr val="2563EB"/>
                </a:solidFill>
                <a:latin typeface="Noto Sans KR"/>
              </a:rPr>
              <a:t>Forest</a:t>
            </a:r>
            <a:r>
              <a:rPr sz="1800" b="0" i="0" u="none" dirty="0" err="1">
                <a:solidFill>
                  <a:srgbClr val="1E293B"/>
                </a:solidFill>
                <a:latin typeface="Noto Sans KR"/>
              </a:rPr>
              <a:t>가</a:t>
            </a:r>
            <a:r>
              <a:rPr sz="1800" b="0" i="0" u="none" dirty="0">
                <a:solidFill>
                  <a:srgbClr val="1E293B"/>
                </a:solidFill>
                <a:latin typeface="Noto Sans KR"/>
              </a:rPr>
              <a:t> </a:t>
            </a:r>
            <a:endParaRPr lang="en-US" sz="1800" b="0" i="0" u="none" dirty="0">
              <a:solidFill>
                <a:srgbClr val="1E293B"/>
              </a:solidFill>
              <a:latin typeface="Noto Sans KR"/>
            </a:endParaRPr>
          </a:p>
          <a:p>
            <a:pPr algn="ctr">
              <a:lnSpc>
                <a:spcPts val="2700"/>
              </a:lnSpc>
            </a:pPr>
            <a:r>
              <a:rPr sz="1800" b="0" i="0" u="none" dirty="0">
                <a:solidFill>
                  <a:srgbClr val="1E293B"/>
                </a:solidFill>
                <a:latin typeface="Noto Sans KR"/>
              </a:rPr>
              <a:t>더 </a:t>
            </a:r>
            <a:r>
              <a:rPr sz="1800" b="0" i="0" u="none" dirty="0" err="1">
                <a:solidFill>
                  <a:srgbClr val="1E293B"/>
                </a:solidFill>
                <a:latin typeface="Noto Sans KR"/>
              </a:rPr>
              <a:t>높은</a:t>
            </a:r>
            <a:r>
              <a:rPr sz="1800" b="0" i="0" u="none" dirty="0">
                <a:solidFill>
                  <a:srgbClr val="1E293B"/>
                </a:solidFill>
                <a:latin typeface="Noto Sans KR"/>
              </a:rPr>
              <a:t> F1-score(0.5500)를 </a:t>
            </a:r>
            <a:r>
              <a:rPr sz="1800" b="0" i="0" u="none" dirty="0" err="1">
                <a:solidFill>
                  <a:srgbClr val="1E293B"/>
                </a:solidFill>
                <a:latin typeface="Noto Sans KR"/>
              </a:rPr>
              <a:t>기록함</a:t>
            </a:r>
            <a:r>
              <a:rPr sz="1800" b="0" i="0" u="none" dirty="0">
                <a:solidFill>
                  <a:srgbClr val="1E293B"/>
                </a:solidFill>
                <a:latin typeface="Noto Sans KR"/>
              </a:rPr>
              <a:t> (</a:t>
            </a:r>
            <a:r>
              <a:rPr sz="1800" b="0" i="0" u="none" dirty="0" err="1">
                <a:solidFill>
                  <a:srgbClr val="1E293B"/>
                </a:solidFill>
                <a:latin typeface="Noto Sans KR"/>
              </a:rPr>
              <a:t>SVM의</a:t>
            </a:r>
            <a:r>
              <a:rPr sz="1800" b="0" i="0" u="none" dirty="0">
                <a:solidFill>
                  <a:srgbClr val="1E293B"/>
                </a:solidFill>
                <a:latin typeface="Noto Sans KR"/>
              </a:rPr>
              <a:t> </a:t>
            </a:r>
            <a:r>
              <a:rPr sz="1800" b="0" i="0" u="none" dirty="0" err="1">
                <a:solidFill>
                  <a:srgbClr val="1E293B"/>
                </a:solidFill>
                <a:latin typeface="Noto Sans KR"/>
              </a:rPr>
              <a:t>과적합</a:t>
            </a:r>
            <a:r>
              <a:rPr sz="1800" b="0" i="0" u="none" dirty="0">
                <a:solidFill>
                  <a:srgbClr val="1E293B"/>
                </a:solidFill>
                <a:latin typeface="Noto Sans KR"/>
              </a:rPr>
              <a:t> </a:t>
            </a:r>
            <a:r>
              <a:rPr sz="1800" b="0" i="0" u="none" dirty="0" err="1">
                <a:solidFill>
                  <a:srgbClr val="1E293B"/>
                </a:solidFill>
                <a:latin typeface="Noto Sans KR"/>
              </a:rPr>
              <a:t>징후</a:t>
            </a:r>
            <a:r>
              <a:rPr sz="1800" b="0" i="0" u="none" dirty="0">
                <a:solidFill>
                  <a:srgbClr val="1E293B"/>
                </a:solidFill>
                <a:latin typeface="Noto Sans KR"/>
              </a:rPr>
              <a:t> </a:t>
            </a:r>
            <a:r>
              <a:rPr sz="1800" b="0" i="0" u="none" dirty="0" err="1">
                <a:solidFill>
                  <a:srgbClr val="1E293B"/>
                </a:solidFill>
                <a:latin typeface="Noto Sans KR"/>
              </a:rPr>
              <a:t>확인</a:t>
            </a:r>
            <a:r>
              <a:rPr sz="1800" b="0" i="0" u="none" dirty="0">
                <a:solidFill>
                  <a:srgbClr val="1E293B"/>
                </a:solidFill>
                <a:latin typeface="Noto Sans KR"/>
              </a:rPr>
              <a:t>)</a:t>
            </a:r>
          </a:p>
        </p:txBody>
      </p:sp>
      <p:pic>
        <p:nvPicPr>
          <p:cNvPr id="12" name="그림 11" descr="The image displays a table comparing various machine learning models (KNN, SVM, Random, and Forest) across different metrics (F1 score, Recall, ROC-AUC, and Accuracy) with values for both base and tuned configurations.&#10;&#10;AI 생성 콘텐츠는 정확하지 않을 수 있습니다.">
            <a:extLst>
              <a:ext uri="{FF2B5EF4-FFF2-40B4-BE49-F238E27FC236}">
                <a16:creationId xmlns:a16="http://schemas.microsoft.com/office/drawing/2014/main" id="{6AF2BD25-D001-4FF0-E545-4A60619D31A2}"/>
              </a:ext>
            </a:extLst>
          </p:cNvPr>
          <p:cNvPicPr>
            <a:picLocks noChangeAspect="1"/>
          </p:cNvPicPr>
          <p:nvPr/>
        </p:nvPicPr>
        <p:blipFill>
          <a:blip r:embed="rId2"/>
          <a:stretch>
            <a:fillRect/>
          </a:stretch>
        </p:blipFill>
        <p:spPr>
          <a:xfrm>
            <a:off x="761999" y="1260419"/>
            <a:ext cx="10632559" cy="305812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4701182" y="2861369"/>
            <a:ext cx="3661395" cy="639960"/>
          </a:xfrm>
          <a:prstGeom prst="rect">
            <a:avLst/>
          </a:prstGeom>
          <a:noFill/>
        </p:spPr>
        <p:txBody>
          <a:bodyPr wrap="none" lIns="0" tIns="0" rIns="0" bIns="0" anchor="t">
            <a:spAutoFit/>
          </a:bodyPr>
          <a:lstStyle/>
          <a:p>
            <a:pPr algn="l">
              <a:lnSpc>
                <a:spcPts val="5040"/>
              </a:lnSpc>
            </a:pPr>
            <a:r>
              <a:rPr sz="4200" b="1" i="0" u="none">
                <a:solidFill>
                  <a:srgbClr val="FFFFFF"/>
                </a:solidFill>
                <a:latin typeface="Noto Sans KR"/>
              </a:rPr>
              <a:t>4. 성능 비교</a:t>
            </a:r>
          </a:p>
        </p:txBody>
      </p:sp>
      <p:sp>
        <p:nvSpPr>
          <p:cNvPr id="3" name="TextBox 2"/>
          <p:cNvSpPr txBox="1"/>
          <p:nvPr/>
        </p:nvSpPr>
        <p:spPr>
          <a:xfrm>
            <a:off x="4876055" y="3653730"/>
            <a:ext cx="3049674" cy="342900"/>
          </a:xfrm>
          <a:prstGeom prst="rect">
            <a:avLst/>
          </a:prstGeom>
          <a:noFill/>
        </p:spPr>
        <p:txBody>
          <a:bodyPr wrap="none" lIns="0" tIns="0" rIns="0" bIns="0" anchor="t">
            <a:spAutoFit/>
          </a:bodyPr>
          <a:lstStyle/>
          <a:p>
            <a:pPr algn="l">
              <a:lnSpc>
                <a:spcPts val="2700"/>
              </a:lnSpc>
            </a:pPr>
            <a:r>
              <a:rPr sz="1800" b="0" i="0" u="none">
                <a:solidFill>
                  <a:srgbClr val="94A3B8"/>
                </a:solidFill>
                <a:latin typeface="Noto Sans KR"/>
              </a:rPr>
              <a:t>Performance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333500"/>
            <a:ext cx="10668000" cy="4914900"/>
          </a:xfrm>
          <a:prstGeom prst="roundRect">
            <a:avLst>
              <a:gd name="adj" fmla="val 1550"/>
            </a:avLst>
          </a:prstGeom>
          <a:solidFill>
            <a:srgbClr val="F1F5F9"/>
          </a:solidFill>
          <a:ln w="190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종합 비교: 11개 모델 최종 성능표</a:t>
            </a:r>
          </a:p>
        </p:txBody>
      </p:sp>
      <p:sp>
        <p:nvSpPr>
          <p:cNvPr id="4" name="TextBox 3"/>
          <p:cNvSpPr txBox="1"/>
          <p:nvPr/>
        </p:nvSpPr>
        <p:spPr>
          <a:xfrm>
            <a:off x="-171450" y="1562100"/>
            <a:ext cx="12534900" cy="4457700"/>
          </a:xfrm>
          <a:prstGeom prst="rect">
            <a:avLst/>
          </a:prstGeom>
          <a:noFill/>
        </p:spPr>
        <p:txBody>
          <a:bodyPr wrap="square" lIns="0" tIns="0" rIns="0" bIns="0" anchor="ctr">
            <a:spAutoFit/>
          </a:bodyPr>
          <a:lstStyle/>
          <a:p>
            <a:pPr algn="ctr"/>
            <a:r>
              <a:rPr sz="1500" b="1" i="0" u="none">
                <a:solidFill>
                  <a:srgbClr val="64748B"/>
                </a:solidFill>
                <a:latin typeface="Noto Sans KR"/>
              </a:rPr>
              <a:t>[ 📷 순위 1위~8위 정리된 11개 모델 최종 성능표 이미지 캡처 삽입 ]</a:t>
            </a:r>
          </a:p>
        </p:txBody>
      </p:sp>
      <p:pic>
        <p:nvPicPr>
          <p:cNvPr id="6" name="그림 5" descr="The image is a table displaying the performance metrics (Recall, Precision, ROC-AUC) for various machine learning models including NGBoost, CatBoost, Logistic Regression, XGBoost, KNN, SVM, RandomForest, and LightGBM.&#10;&#10;AI 생성 콘텐츠는 정확하지 않을 수 있습니다.">
            <a:extLst>
              <a:ext uri="{FF2B5EF4-FFF2-40B4-BE49-F238E27FC236}">
                <a16:creationId xmlns:a16="http://schemas.microsoft.com/office/drawing/2014/main" id="{1F397E30-2D94-7710-A2F7-26E9C8284947}"/>
              </a:ext>
            </a:extLst>
          </p:cNvPr>
          <p:cNvPicPr>
            <a:picLocks noChangeAspect="1"/>
          </p:cNvPicPr>
          <p:nvPr/>
        </p:nvPicPr>
        <p:blipFill>
          <a:blip r:embed="rId2"/>
          <a:stretch>
            <a:fillRect/>
          </a:stretch>
        </p:blipFill>
        <p:spPr>
          <a:xfrm>
            <a:off x="762000" y="1333501"/>
            <a:ext cx="10668000" cy="49149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2209800"/>
            <a:ext cx="3352800" cy="4038600"/>
          </a:xfrm>
          <a:prstGeom prst="roundRect">
            <a:avLst>
              <a:gd name="adj" fmla="val 34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19600" y="2209800"/>
            <a:ext cx="3352800" cy="4038600"/>
          </a:xfrm>
          <a:prstGeom prst="roundRect">
            <a:avLst>
              <a:gd name="adj" fmla="val 34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209800"/>
            <a:ext cx="3352800" cy="4038600"/>
          </a:xfrm>
          <a:prstGeom prst="roundRect">
            <a:avLst>
              <a:gd name="adj" fmla="val 340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62000" y="6238875"/>
            <a:ext cx="335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62000" y="2209800"/>
            <a:ext cx="3352800"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62000" y="2209800"/>
            <a:ext cx="9525" cy="40386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05275" y="2209800"/>
            <a:ext cx="9525" cy="40386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19600" y="6238875"/>
            <a:ext cx="335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19600" y="2209800"/>
            <a:ext cx="3352800" cy="381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19600" y="2209800"/>
            <a:ext cx="9525" cy="40386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762875" y="2209800"/>
            <a:ext cx="9525" cy="40386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77200" y="6238875"/>
            <a:ext cx="335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77200" y="2209800"/>
            <a:ext cx="3352800" cy="381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77200" y="2209800"/>
            <a:ext cx="9525" cy="40386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1420475" y="2209800"/>
            <a:ext cx="9525" cy="40386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주요 후보 모델 심층 비교</a:t>
            </a:r>
          </a:p>
        </p:txBody>
      </p:sp>
      <p:sp>
        <p:nvSpPr>
          <p:cNvPr id="18" name="TextBox 17"/>
          <p:cNvSpPr txBox="1"/>
          <p:nvPr/>
        </p:nvSpPr>
        <p:spPr>
          <a:xfrm>
            <a:off x="762000" y="156210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상위 3개 모델 비교</a:t>
            </a:r>
          </a:p>
        </p:txBody>
      </p:sp>
      <p:sp>
        <p:nvSpPr>
          <p:cNvPr id="19" name="TextBox 18"/>
          <p:cNvSpPr txBox="1"/>
          <p:nvPr/>
        </p:nvSpPr>
        <p:spPr>
          <a:xfrm>
            <a:off x="1076325" y="2628900"/>
            <a:ext cx="3575446"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1. NGBoost</a:t>
            </a:r>
          </a:p>
        </p:txBody>
      </p:sp>
      <p:sp>
        <p:nvSpPr>
          <p:cNvPr id="20" name="TextBox 19"/>
          <p:cNvSpPr txBox="1"/>
          <p:nvPr/>
        </p:nvSpPr>
        <p:spPr>
          <a:xfrm>
            <a:off x="1076325" y="3177480"/>
            <a:ext cx="3405187"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F1 </a:t>
            </a:r>
            <a:r>
              <a:rPr sz="1800" b="1" i="0" u="none">
                <a:solidFill>
                  <a:srgbClr val="2563EB"/>
                </a:solidFill>
                <a:latin typeface="Noto Sans KR"/>
              </a:rPr>
              <a:t>0.5714 (1위)</a:t>
            </a:r>
          </a:p>
        </p:txBody>
      </p:sp>
      <p:sp>
        <p:nvSpPr>
          <p:cNvPr id="21" name="TextBox 20"/>
          <p:cNvSpPr txBox="1"/>
          <p:nvPr/>
        </p:nvSpPr>
        <p:spPr>
          <a:xfrm>
            <a:off x="1076325" y="3672780"/>
            <a:ext cx="3405187"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Recall 0.4762</a:t>
            </a:r>
          </a:p>
        </p:txBody>
      </p:sp>
      <p:sp>
        <p:nvSpPr>
          <p:cNvPr id="22" name="TextBox 21"/>
          <p:cNvSpPr txBox="1"/>
          <p:nvPr/>
        </p:nvSpPr>
        <p:spPr>
          <a:xfrm>
            <a:off x="4733925" y="2628900"/>
            <a:ext cx="3575446"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2. CatBoost</a:t>
            </a:r>
          </a:p>
        </p:txBody>
      </p:sp>
      <p:sp>
        <p:nvSpPr>
          <p:cNvPr id="23" name="TextBox 22"/>
          <p:cNvSpPr txBox="1"/>
          <p:nvPr/>
        </p:nvSpPr>
        <p:spPr>
          <a:xfrm>
            <a:off x="4733925" y="3177480"/>
            <a:ext cx="3405187"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F1 0.5652 (2위)</a:t>
            </a:r>
          </a:p>
        </p:txBody>
      </p:sp>
      <p:sp>
        <p:nvSpPr>
          <p:cNvPr id="24" name="TextBox 23"/>
          <p:cNvSpPr txBox="1"/>
          <p:nvPr/>
        </p:nvSpPr>
        <p:spPr>
          <a:xfrm>
            <a:off x="4733925" y="3672780"/>
            <a:ext cx="3405187"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Recall </a:t>
            </a:r>
            <a:r>
              <a:rPr sz="1800" b="1" i="0" u="none">
                <a:solidFill>
                  <a:srgbClr val="059669"/>
                </a:solidFill>
                <a:latin typeface="Noto Sans KR"/>
              </a:rPr>
              <a:t>0.6190 (압도적 1위)</a:t>
            </a:r>
          </a:p>
        </p:txBody>
      </p:sp>
      <p:sp>
        <p:nvSpPr>
          <p:cNvPr id="25" name="TextBox 24"/>
          <p:cNvSpPr txBox="1"/>
          <p:nvPr/>
        </p:nvSpPr>
        <p:spPr>
          <a:xfrm>
            <a:off x="8391525" y="2628900"/>
            <a:ext cx="3575446"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3. Logistic 계열</a:t>
            </a:r>
          </a:p>
        </p:txBody>
      </p:sp>
      <p:sp>
        <p:nvSpPr>
          <p:cNvPr id="26" name="TextBox 25"/>
          <p:cNvSpPr txBox="1"/>
          <p:nvPr/>
        </p:nvSpPr>
        <p:spPr>
          <a:xfrm>
            <a:off x="8391525" y="3177480"/>
            <a:ext cx="3405187"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F1 0.5625 (3위)</a:t>
            </a:r>
          </a:p>
        </p:txBody>
      </p:sp>
      <p:sp>
        <p:nvSpPr>
          <p:cNvPr id="27" name="TextBox 26"/>
          <p:cNvSpPr txBox="1"/>
          <p:nvPr/>
        </p:nvSpPr>
        <p:spPr>
          <a:xfrm>
            <a:off x="8391525" y="3672780"/>
            <a:ext cx="3405187"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Recall 0.4286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5292625" y="2861369"/>
            <a:ext cx="2108661" cy="639960"/>
          </a:xfrm>
          <a:prstGeom prst="rect">
            <a:avLst/>
          </a:prstGeom>
          <a:noFill/>
        </p:spPr>
        <p:txBody>
          <a:bodyPr wrap="none" lIns="0" tIns="0" rIns="0" bIns="0" anchor="t">
            <a:spAutoFit/>
          </a:bodyPr>
          <a:lstStyle/>
          <a:p>
            <a:pPr algn="l">
              <a:lnSpc>
                <a:spcPts val="5040"/>
              </a:lnSpc>
            </a:pPr>
            <a:r>
              <a:rPr sz="4200" b="1" i="0" u="none">
                <a:solidFill>
                  <a:srgbClr val="FFFFFF"/>
                </a:solidFill>
                <a:latin typeface="Noto Sans KR"/>
              </a:rPr>
              <a:t>5. 결론</a:t>
            </a:r>
          </a:p>
        </p:txBody>
      </p:sp>
      <p:sp>
        <p:nvSpPr>
          <p:cNvPr id="3" name="TextBox 2"/>
          <p:cNvSpPr txBox="1"/>
          <p:nvPr/>
        </p:nvSpPr>
        <p:spPr>
          <a:xfrm>
            <a:off x="5530453" y="3653730"/>
            <a:ext cx="1416694" cy="342900"/>
          </a:xfrm>
          <a:prstGeom prst="rect">
            <a:avLst/>
          </a:prstGeom>
          <a:noFill/>
        </p:spPr>
        <p:txBody>
          <a:bodyPr wrap="none" lIns="0" tIns="0" rIns="0" bIns="0" anchor="t">
            <a:spAutoFit/>
          </a:bodyPr>
          <a:lstStyle/>
          <a:p>
            <a:pPr algn="l">
              <a:lnSpc>
                <a:spcPts val="2700"/>
              </a:lnSpc>
            </a:pPr>
            <a:r>
              <a:rPr sz="1800" b="0" i="0" u="none">
                <a:solidFill>
                  <a:srgbClr val="94A3B8"/>
                </a:solidFill>
                <a:latin typeface="Noto Sans KR"/>
              </a:rPr>
              <a:t>Conclusion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562100"/>
            <a:ext cx="5181600" cy="4686300"/>
          </a:xfrm>
          <a:prstGeom prst="roundRect">
            <a:avLst>
              <a:gd name="adj" fmla="val 2439"/>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1562100"/>
            <a:ext cx="5181600" cy="4686300"/>
          </a:xfrm>
          <a:prstGeom prst="roundRect">
            <a:avLst>
              <a:gd name="adj" fmla="val 2439"/>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1162050" y="1962150"/>
            <a:ext cx="4381500" cy="381000"/>
          </a:xfrm>
          <a:prstGeom prst="rect">
            <a:avLst/>
          </a:prstGeom>
        </p:spPr>
      </p:pic>
      <p:pic>
        <p:nvPicPr>
          <p:cNvPr id="5" name="Picture 4" descr="image.png"/>
          <p:cNvPicPr>
            <a:picLocks noChangeAspect="1"/>
          </p:cNvPicPr>
          <p:nvPr/>
        </p:nvPicPr>
        <p:blipFill>
          <a:blip r:embed="rId3"/>
          <a:stretch>
            <a:fillRect/>
          </a:stretch>
        </p:blipFill>
        <p:spPr>
          <a:xfrm>
            <a:off x="6648450" y="1962150"/>
            <a:ext cx="4381500" cy="381000"/>
          </a:xfrm>
          <a:prstGeom prst="rect">
            <a:avLst/>
          </a:prstGeom>
        </p:spPr>
      </p:pic>
      <p:sp>
        <p:nvSpPr>
          <p:cNvPr id="6" name="TextBox 5"/>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최종 모델 선정 및 근거</a:t>
            </a:r>
          </a:p>
        </p:txBody>
      </p:sp>
      <p:sp>
        <p:nvSpPr>
          <p:cNvPr id="7" name="TextBox 6"/>
          <p:cNvSpPr txBox="1"/>
          <p:nvPr/>
        </p:nvSpPr>
        <p:spPr>
          <a:xfrm>
            <a:off x="1162050" y="2571750"/>
            <a:ext cx="5750718"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NGBoost</a:t>
            </a:r>
          </a:p>
        </p:txBody>
      </p:sp>
      <p:sp>
        <p:nvSpPr>
          <p:cNvPr id="8" name="TextBox 7"/>
          <p:cNvSpPr txBox="1"/>
          <p:nvPr/>
        </p:nvSpPr>
        <p:spPr>
          <a:xfrm>
            <a:off x="1162050" y="3196530"/>
            <a:ext cx="5476875" cy="342900"/>
          </a:xfrm>
          <a:prstGeom prst="rect">
            <a:avLst/>
          </a:prstGeom>
          <a:noFill/>
        </p:spPr>
        <p:txBody>
          <a:bodyPr wrap="none" lIns="0" tIns="0" rIns="0" bIns="0" anchor="t">
            <a:spAutoFit/>
          </a:bodyPr>
          <a:lstStyle/>
          <a:p>
            <a:pPr algn="l">
              <a:lnSpc>
                <a:spcPts val="2700"/>
              </a:lnSpc>
            </a:pPr>
            <a:r>
              <a:rPr sz="1800" b="1" i="0" u="none">
                <a:solidFill>
                  <a:srgbClr val="2563EB"/>
                </a:solidFill>
                <a:latin typeface="Noto Sans KR"/>
              </a:rPr>
              <a:t>전사적 기본 예측 모델</a:t>
            </a:r>
          </a:p>
        </p:txBody>
      </p:sp>
      <p:sp>
        <p:nvSpPr>
          <p:cNvPr id="9" name="TextBox 8"/>
          <p:cNvSpPr txBox="1"/>
          <p:nvPr/>
        </p:nvSpPr>
        <p:spPr>
          <a:xfrm>
            <a:off x="1162050" y="3768030"/>
            <a:ext cx="4476750" cy="685800"/>
          </a:xfrm>
          <a:prstGeom prst="rect">
            <a:avLst/>
          </a:prstGeom>
          <a:noFill/>
        </p:spPr>
        <p:txBody>
          <a:bodyPr wrap="square" lIns="0" tIns="0" rIns="0" bIns="0" anchor="t">
            <a:spAutoFit/>
          </a:bodyPr>
          <a:lstStyle/>
          <a:p>
            <a:pPr algn="l">
              <a:lnSpc>
                <a:spcPts val="2700"/>
              </a:lnSpc>
            </a:pPr>
            <a:r>
              <a:rPr sz="1800" b="0" i="0" u="none">
                <a:solidFill>
                  <a:srgbClr val="475569"/>
                </a:solidFill>
                <a:latin typeface="Noto Sans KR"/>
              </a:rPr>
              <a:t>가장 높은 F1-score로 오탐지를 최소화하고, 전사적인 균형 예측에 적합.</a:t>
            </a:r>
          </a:p>
        </p:txBody>
      </p:sp>
      <p:sp>
        <p:nvSpPr>
          <p:cNvPr id="10" name="TextBox 9"/>
          <p:cNvSpPr txBox="1"/>
          <p:nvPr/>
        </p:nvSpPr>
        <p:spPr>
          <a:xfrm>
            <a:off x="6648450" y="2571750"/>
            <a:ext cx="5543550"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CatBoost</a:t>
            </a:r>
          </a:p>
        </p:txBody>
      </p:sp>
      <p:sp>
        <p:nvSpPr>
          <p:cNvPr id="11" name="TextBox 10"/>
          <p:cNvSpPr txBox="1"/>
          <p:nvPr/>
        </p:nvSpPr>
        <p:spPr>
          <a:xfrm>
            <a:off x="6648450" y="3196530"/>
            <a:ext cx="5476875" cy="342900"/>
          </a:xfrm>
          <a:prstGeom prst="rect">
            <a:avLst/>
          </a:prstGeom>
          <a:noFill/>
        </p:spPr>
        <p:txBody>
          <a:bodyPr wrap="none" lIns="0" tIns="0" rIns="0" bIns="0" anchor="t">
            <a:spAutoFit/>
          </a:bodyPr>
          <a:lstStyle/>
          <a:p>
            <a:pPr algn="l">
              <a:lnSpc>
                <a:spcPts val="2700"/>
              </a:lnSpc>
            </a:pPr>
            <a:r>
              <a:rPr sz="1800" b="1" i="0" u="none">
                <a:solidFill>
                  <a:srgbClr val="059669"/>
                </a:solidFill>
                <a:latin typeface="Noto Sans KR"/>
              </a:rPr>
              <a:t>공격적 리텐션 모델</a:t>
            </a:r>
          </a:p>
        </p:txBody>
      </p:sp>
      <p:sp>
        <p:nvSpPr>
          <p:cNvPr id="12" name="TextBox 11"/>
          <p:cNvSpPr txBox="1"/>
          <p:nvPr/>
        </p:nvSpPr>
        <p:spPr>
          <a:xfrm>
            <a:off x="6648450" y="3768030"/>
            <a:ext cx="4476750" cy="685800"/>
          </a:xfrm>
          <a:prstGeom prst="rect">
            <a:avLst/>
          </a:prstGeom>
          <a:noFill/>
        </p:spPr>
        <p:txBody>
          <a:bodyPr wrap="square" lIns="0" tIns="0" rIns="0" bIns="0" anchor="t">
            <a:spAutoFit/>
          </a:bodyPr>
          <a:lstStyle/>
          <a:p>
            <a:pPr algn="l">
              <a:lnSpc>
                <a:spcPts val="2700"/>
              </a:lnSpc>
            </a:pPr>
            <a:r>
              <a:rPr sz="1800" b="0" i="0" u="none">
                <a:solidFill>
                  <a:srgbClr val="475569"/>
                </a:solidFill>
                <a:latin typeface="Noto Sans KR"/>
              </a:rPr>
              <a:t>Recall 1위. 단 한 명의 퇴사 위험군도 놓치지 않고 집중 관리해야 할 때 최적.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선제적 HR 관리 활용 방안</a:t>
            </a:r>
          </a:p>
        </p:txBody>
      </p:sp>
      <p:sp>
        <p:nvSpPr>
          <p:cNvPr id="3" name="TextBox 2"/>
          <p:cNvSpPr txBox="1"/>
          <p:nvPr/>
        </p:nvSpPr>
        <p:spPr>
          <a:xfrm>
            <a:off x="762000" y="1562100"/>
            <a:ext cx="11430000"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데이터 기반 사전 식별</a:t>
            </a:r>
          </a:p>
        </p:txBody>
      </p:sp>
      <p:sp>
        <p:nvSpPr>
          <p:cNvPr id="4" name="TextBox 3"/>
          <p:cNvSpPr txBox="1"/>
          <p:nvPr/>
        </p:nvSpPr>
        <p:spPr>
          <a:xfrm>
            <a:off x="762000" y="211068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매 분기 이탈 확률 스코어링 및 주요 원인(야근, 급여 등) 파악</a:t>
            </a:r>
          </a:p>
        </p:txBody>
      </p:sp>
      <p:sp>
        <p:nvSpPr>
          <p:cNvPr id="5" name="TextBox 4"/>
          <p:cNvSpPr txBox="1"/>
          <p:nvPr/>
        </p:nvSpPr>
        <p:spPr>
          <a:xfrm>
            <a:off x="762000" y="2758380"/>
            <a:ext cx="11430000"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Action Plan</a:t>
            </a:r>
          </a:p>
        </p:txBody>
      </p:sp>
      <p:sp>
        <p:nvSpPr>
          <p:cNvPr id="6" name="TextBox 5"/>
          <p:cNvSpPr txBox="1"/>
          <p:nvPr/>
        </p:nvSpPr>
        <p:spPr>
          <a:xfrm>
            <a:off x="762000" y="330696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 야근으로 이탈 확률 높은 직원 면담 및 로드 밸런싱</a:t>
            </a:r>
          </a:p>
        </p:txBody>
      </p:sp>
      <p:sp>
        <p:nvSpPr>
          <p:cNvPr id="7" name="TextBox 6"/>
          <p:cNvSpPr txBox="1"/>
          <p:nvPr/>
        </p:nvSpPr>
        <p:spPr>
          <a:xfrm>
            <a:off x="762000" y="380226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 감에 의존하던 관리를 데이터 기반 리텐션 전략으로 전환</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609600"/>
            <a:ext cx="11430000" cy="495300"/>
          </a:xfrm>
          <a:prstGeom prst="rect">
            <a:avLst/>
          </a:prstGeom>
          <a:noFill/>
        </p:spPr>
        <p:txBody>
          <a:bodyPr wrap="none" lIns="0" tIns="0" rIns="0" bIns="0" anchor="t">
            <a:spAutoFit/>
          </a:bodyPr>
          <a:lstStyle/>
          <a:p>
            <a:pPr algn="l">
              <a:lnSpc>
                <a:spcPts val="3900"/>
              </a:lnSpc>
            </a:pPr>
            <a:r>
              <a:rPr sz="3000" b="1" i="0" u="none">
                <a:solidFill>
                  <a:srgbClr val="1E293B"/>
                </a:solidFill>
                <a:latin typeface="Noto Sans KR"/>
              </a:rPr>
              <a:t>한계점 및 향후 개선 과제</a:t>
            </a:r>
          </a:p>
        </p:txBody>
      </p:sp>
      <p:sp>
        <p:nvSpPr>
          <p:cNvPr id="3" name="TextBox 2"/>
          <p:cNvSpPr txBox="1"/>
          <p:nvPr/>
        </p:nvSpPr>
        <p:spPr>
          <a:xfrm>
            <a:off x="762000" y="1562100"/>
            <a:ext cx="11430000"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표본 수 및 탐지력의 한계</a:t>
            </a:r>
          </a:p>
        </p:txBody>
      </p:sp>
      <p:sp>
        <p:nvSpPr>
          <p:cNvPr id="4" name="TextBox 3"/>
          <p:cNvSpPr txBox="1"/>
          <p:nvPr/>
        </p:nvSpPr>
        <p:spPr>
          <a:xfrm>
            <a:off x="762000" y="211068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- 0~2년 차 타겟팅으로 인한 표본 축소 (과적합 우려)</a:t>
            </a:r>
          </a:p>
        </p:txBody>
      </p:sp>
      <p:sp>
        <p:nvSpPr>
          <p:cNvPr id="5" name="TextBox 4"/>
          <p:cNvSpPr txBox="1"/>
          <p:nvPr/>
        </p:nvSpPr>
        <p:spPr>
          <a:xfrm>
            <a:off x="762000" y="260598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 최고 모델도 약 40%의 퇴사자 탐지 불가 (Recall 한계)</a:t>
            </a:r>
          </a:p>
        </p:txBody>
      </p:sp>
      <p:sp>
        <p:nvSpPr>
          <p:cNvPr id="6" name="TextBox 5"/>
          <p:cNvSpPr txBox="1"/>
          <p:nvPr/>
        </p:nvSpPr>
        <p:spPr>
          <a:xfrm>
            <a:off x="762000" y="3253680"/>
            <a:ext cx="11430000" cy="396180"/>
          </a:xfrm>
          <a:prstGeom prst="rect">
            <a:avLst/>
          </a:prstGeom>
          <a:noFill/>
        </p:spPr>
        <p:txBody>
          <a:bodyPr wrap="none" lIns="0" tIns="0" rIns="0" bIns="0" anchor="t">
            <a:spAutoFit/>
          </a:bodyPr>
          <a:lstStyle/>
          <a:p>
            <a:pPr algn="l">
              <a:lnSpc>
                <a:spcPts val="3120"/>
              </a:lnSpc>
            </a:pPr>
            <a:r>
              <a:rPr sz="2400" b="1" i="0" u="none">
                <a:solidFill>
                  <a:srgbClr val="1E293B"/>
                </a:solidFill>
                <a:latin typeface="Noto Sans KR"/>
              </a:rPr>
              <a:t>향후 과제</a:t>
            </a:r>
          </a:p>
        </p:txBody>
      </p:sp>
      <p:sp>
        <p:nvSpPr>
          <p:cNvPr id="7" name="TextBox 6"/>
          <p:cNvSpPr txBox="1"/>
          <p:nvPr/>
        </p:nvSpPr>
        <p:spPr>
          <a:xfrm>
            <a:off x="762000" y="3802260"/>
            <a:ext cx="11430000" cy="342900"/>
          </a:xfrm>
          <a:prstGeom prst="rect">
            <a:avLst/>
          </a:prstGeom>
          <a:noFill/>
        </p:spPr>
        <p:txBody>
          <a:bodyPr wrap="none" lIns="0" tIns="0" rIns="0" bIns="0" anchor="t">
            <a:spAutoFit/>
          </a:bodyPr>
          <a:lstStyle/>
          <a:p>
            <a:pPr algn="l">
              <a:lnSpc>
                <a:spcPts val="2700"/>
              </a:lnSpc>
            </a:pPr>
            <a:r>
              <a:rPr sz="1800" b="0" i="0" u="none">
                <a:solidFill>
                  <a:srgbClr val="475569"/>
                </a:solidFill>
                <a:latin typeface="Noto Sans KR"/>
              </a:rPr>
              <a:t>- 누적 인사 데이터 확충 및 정성적 변수 추가 고도화</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4789140" y="2708969"/>
            <a:ext cx="3430506" cy="639960"/>
          </a:xfrm>
          <a:prstGeom prst="rect">
            <a:avLst/>
          </a:prstGeom>
          <a:noFill/>
        </p:spPr>
        <p:txBody>
          <a:bodyPr wrap="none" lIns="0" tIns="0" rIns="0" bIns="0" anchor="t">
            <a:spAutoFit/>
          </a:bodyPr>
          <a:lstStyle/>
          <a:p>
            <a:pPr algn="l">
              <a:lnSpc>
                <a:spcPts val="5040"/>
              </a:lnSpc>
            </a:pPr>
            <a:r>
              <a:rPr sz="4200" b="1" i="0" u="none">
                <a:solidFill>
                  <a:srgbClr val="FFFFFF"/>
                </a:solidFill>
                <a:latin typeface="Noto Sans KR"/>
              </a:rPr>
              <a:t>감사합니다</a:t>
            </a:r>
          </a:p>
        </p:txBody>
      </p:sp>
      <p:sp>
        <p:nvSpPr>
          <p:cNvPr id="3" name="TextBox 2"/>
          <p:cNvSpPr txBox="1"/>
          <p:nvPr/>
        </p:nvSpPr>
        <p:spPr>
          <a:xfrm>
            <a:off x="4533751" y="3806130"/>
            <a:ext cx="3905436" cy="342900"/>
          </a:xfrm>
          <a:prstGeom prst="rect">
            <a:avLst/>
          </a:prstGeom>
          <a:noFill/>
        </p:spPr>
        <p:txBody>
          <a:bodyPr wrap="none" lIns="0" tIns="0" rIns="0" bIns="0" anchor="t">
            <a:spAutoFit/>
          </a:bodyPr>
          <a:lstStyle/>
          <a:p>
            <a:pPr algn="l">
              <a:lnSpc>
                <a:spcPts val="2700"/>
              </a:lnSpc>
            </a:pPr>
            <a:r>
              <a:rPr sz="1800" b="0" i="0" u="none">
                <a:solidFill>
                  <a:srgbClr val="94A3B8"/>
                </a:solidFill>
                <a:latin typeface="Noto Sans KR"/>
              </a:rPr>
              <a:t>박영준, 양민서, 최예나, 한지수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1543</Words>
  <Application>Microsoft Office PowerPoint</Application>
  <PresentationFormat>와이드스크린</PresentationFormat>
  <Paragraphs>304</Paragraphs>
  <Slides>32</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Arial</vt:lpstr>
      <vt:lpstr>Calibri</vt:lpstr>
      <vt:lpstr>맑은 고딕</vt:lpstr>
      <vt:lpstr>Noto Sans KR</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박영준</dc:creator>
  <cp:keywords/>
  <dc:description>generated using python-pptx</dc:description>
  <cp:lastModifiedBy>영준 박</cp:lastModifiedBy>
  <cp:revision>3</cp:revision>
  <dcterms:created xsi:type="dcterms:W3CDTF">2013-01-27T09:14:16Z</dcterms:created>
  <dcterms:modified xsi:type="dcterms:W3CDTF">2026-10-05T12:58:57Z</dcterms:modified>
  <cp:category/>
</cp:coreProperties>
</file>