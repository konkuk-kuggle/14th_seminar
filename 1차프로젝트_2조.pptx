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5" r:id="rId3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따릉이는 서울시에서 진행되고 있는 대여 자전거 시스템으로 수요 예측은 자전거 재배치 등 실무적 의사결정과 직결 됨, 데이터 구조상 시간·계절·날씨에 따른 도시 전체의 수요 변화 분석에 적합, 여러 방법론을 적용해볼 수 있는 데이터로 이론적으로 배운 내용을 적용하기에 적합하다 느낌 → 이렇게 프로젝트의 주제와 방법을 선정하게 되었다.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운영하지 않는날을 포함하지 않은 그래프와 왜도 또한 구해 봤지만 큰 영향을 끼치지 않음 확인(포함했을 때 왜도 1.153, 포함하지 않았을 때의 왜도 1.139) / 로그는 과보정, 제곱근이 대칭에 가까움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계절별 시간대 대여량은 차후에 볼 '여름철 저녁 이용 집중' 현상과 일치한다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비운영날은 날씨 – 수요 관계 왜곡을 막기위해 현재 파트에서는 제거, 특히 Visibility는 2000 부근에 관측값이 집중되어 있으며, 상한값에 데이터가 많이 몰려 있는 분포임. temperature, humidity, dew_point_temperature은 비교적 대칭에 가까운 분포 특히 Rainfall·Snowfall은 대부분 0 → 이후 상관계수·산점도 해석 시 이 zero-inflation을 반드시 감안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Pearson과 Spearman 값 차이가 큰 변수(abs_diff가 큰 변수)는 두 변수 사이 관계가 '직선형'이 아니라 '비선형'일 가능성을 의미 → 그래프 그림 → 산점도와 박스 플롯으로 관계확인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Wind_speed: 대부분의 관측치가 0-4 m/s에 몰려있어 꼬리 부분(5 m/s 이상)의 추세는 표본이 적어 신뢰도가 낮음. Visibility: 1000 이하 구간에서는 가시거리가 늘수록 대여량이 뚜렷이 증가하지만, 2000(계기 상한)에 값이 집중돼 있어 이 구간의 추세는 평평하게 수렴. Solar_Radiation: 0 부근(야간)에 관측치가 수직으로 몰려 있고 그 위로 넓게 분산된 형태, 0이 아닌 구간에서는 완만한 우상향 추세를 보이나, "낮이냐 밤이냐"라는 이산적 구분이 추세의 대부분을 설명하며 연속값으로서의 선형 관계는 상대적으로 약함(Pearson 0.27). Rainfall, Snowfall은 대부분 0이라 산점도보다 '비/눈이 온 시간 vs 안 온 시간'의 대여량 분포를 박스플롯+평균 비교로 보는 게 더 직관적, 박스플롯 확인 결과 강수/적설 여부(YN)에 따라 대여량 중앙값이 80% 이상 감소, 반면 0을 제외한 표본 내 상관계수는 오히려 약해지거나 비슷한 수준 → 양보다 유무가 중요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계절은 거의 균등(각 약 25%)하지만, Holiday는 공휴일이 432개(약 5%), Functioning_Day는 No가 295개(약 3%)로 한쪽에 크게 치우쳐 있기에 공휴일·비운영 쪽은 "표본이 적어서 해석할 때 조심해야 함", 비운영날은 295시간인데 대여량이 모두 0이고 가을에 몰려있음 그냥 두면 가을 평균이 실제보다 낮게 나와 functioning_Day No를 빼고 분석. 종속변수가 정규분포가 아니라서(1번 파트 확인) → 평균 비교(ANOVA) 대신 순위 기반 검정(Kruskal-Wallis) 사용 → 근데 데이터가 많아서 p값만으로는 "실제로 큰 차이인지" 확인이 안 되니 효과크기도 같이 봄 → 순위 기반 검정이라 결과 해석도 "평균이 다르다"보다 "분포가 다르다" 즉, 계절 간 분포(순위 분포)에 유의한 차이가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어떤 계절끼리 다른지 보기 위해 계절 두 개씩 Mann-Whitney 검정, 여름(1,034) &gt; 가을(924) &gt; 봄(746) &gt; 겨울(226) 순. ε² = 0.30으로 큰 효과이고, 6개 계절 쌍 모두 보정 p &lt; 0.05로 유의함. 여름과 가을의 차이(평균 약 110건)가 가장 작고, 겨울과 나머지 계절의 차이가 가장 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공휴일은 주말 포함 아님, 그래서 주말, 공휴일, 주중이면서 공휴일이 아닌날로 3개로 나눔. 8시(1,354건)·18시(1,766건) 피크는 Workday에만 있음. Weekend와 Holiday는 출근 피크가 없고 오후 4~6시쯤 제일 많아지는 완만한 모양이고, 두 그래프 모양이 거의 똑같음. 시간당 평균으로 보면 Workday(756)와 Weekend(698)는 차이가 크지 않고 Holiday(529)는 더 낮음. 이런 결과가 나온 이유로 피크가 근무일에만 있으니까 8시·18시 피크는 지하철역까지 가거나 회사·학교 가는 통근·통학 이용으로 볼 수 있음. 주말·공휴일엔 이게 빠지고 산책·나들이 같은 여가 이용이 오후에 몰리는듯함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단순 비교에서는 공휴일이 비공휴일보다 시간당 약 210건 적게 나옴 (표의 3-4·3-6은 노트북 절 번호).</a:t>
            </a:r>
            <a:endParaRPr lang="en-US" dirty="0"/>
          </a:p>
          <a:p>
            <a:r>
              <a:rPr lang="en-US" dirty="0"/>
              <a:t>하지만 공휴일이 겨울에 몰려 있어 계절 효과가 섞여 있음 → 같은 계절 안에서 공휴일·비공휴일을 비교하면 차이가 51건으로 줄어듦.</a:t>
            </a:r>
            <a:endParaRPr lang="en-US" dirty="0"/>
          </a:p>
          <a:p>
            <a:r>
              <a:rPr lang="en-US" dirty="0"/>
              <a:t>또 같은 날의 24시간은 계절이 같고 날씨도 크게 다르지 않아 서로 독립이 아님 → p-value가 실제보다 훨씬 작게 나오는 것을 막기 위해 하루를 하나의 관측값으로 봄.</a:t>
            </a:r>
            <a:endParaRPr lang="en-US" dirty="0"/>
          </a:p>
          <a:p>
            <a:r>
              <a:rPr lang="en-US" dirty="0"/>
              <a:t>기온 구간을 맞춰 비교하면 95건, 기온·비를 함께 넣은 회귀로는 149건(p ≈ 0.006) → 방법에 따라 크기는 달라도 공휴일에 덜 타는 것은 맞음.</a:t>
            </a:r>
            <a:endParaRPr lang="en-US" dirty="0"/>
          </a:p>
          <a:p>
            <a:r>
              <a:rPr lang="en-US" dirty="0"/>
              <a:t>다만 공휴일이 17일뿐이라 정확한 크기는 대략적인 값이고, Holiday 표시도 실제 공휴일이랑 조금 다름.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데이터: 앞선 EDA 결과에 따라 비운영날(Functioning_Day = No) 295개 행 제거. 종속변수는 원변수를 유지하면서 회귀분석용으로 제곱근 변환 변수를 추가 생성.</a:t>
            </a:r>
            <a:endParaRPr lang="en-US" dirty="0"/>
          </a:p>
          <a:p>
            <a:r>
              <a:rPr lang="en-US" dirty="0"/>
              <a:t>시간 변수: Date에서 Month·Weekday·Is_Weekend 추출. Hour는 원-핫 인코딩(Hour_0~Hour_23)하고, 시간대를 구간으로 묶은 hour_band도 추가.</a:t>
            </a:r>
            <a:endParaRPr lang="en-US" dirty="0"/>
          </a:p>
          <a:p>
            <a:r>
              <a:rPr lang="en-US" dirty="0"/>
              <a:t>범주형 변수: Holiday 더미화, Seasons 원-핫 인코딩. 주말과 공휴일의 패턴이 비슷했으므로 둘을 묶은 Is_dayoff(주말·공휴일 = 1, 평일 = 0) 생성.</a:t>
            </a:r>
            <a:endParaRPr lang="en-US" dirty="0"/>
          </a:p>
          <a:p>
            <a:r>
              <a:rPr lang="en-US" dirty="0"/>
              <a:t>기상 변수: Rainfall·Snowfall은 양보다 유무가 중요했으므로 Rain_YN·Snow_YN 이진변수 추가(원본 유지). Humidity·Wind_speed는 역U자 관계를 반영하기 위해 평균 중심화 후 제곱항 생성.</a:t>
            </a:r>
            <a:endParaRPr lang="en-US" dirty="0"/>
          </a:p>
          <a:p>
            <a:r>
              <a:rPr lang="en-US" dirty="0"/>
              <a:t>회귀용 데이터셋에는 Month 더미와 Seasons 더미가 겹치므로 둘 중 하나만 사용.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랜덤 분할을 하지 않는 이유는 시계열 데이터는 옆에 있는 시간끼리 서로 비슷하기 때문에 랜덤으로 섞을시 test와 비슷한 데이터가 train으로 들어가 성능이 실제보다 부풀려보일 가능성이 있어서 매달 마지막 7일을 test로 지정. 또한 4계절이 모두 train에 포함된다. 이전에 만든 습도 제곱항과 풍속 제곱항은 test 정보가 포함되어있기 때문에 정보 누수 방지를 위해 train데이터 평균 만으로 다시 계산.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종속변수는 왜도 1.139라 제곱근 변환, 예측값은 나중에 제곱해 원 단위로 복원.</a:t>
            </a:r>
            <a:endParaRPr lang="en-US" dirty="0"/>
          </a:p>
          <a:p>
            <a:r>
              <a:rPr lang="en-US" dirty="0"/>
              <a:t>습도·풍속은 EDA에서 역U자 관계라 평균 중심화 후 제곱항 추가.</a:t>
            </a:r>
            <a:endParaRPr lang="en-US" dirty="0"/>
          </a:p>
          <a:p>
            <a:r>
              <a:rPr lang="en-US" dirty="0"/>
              <a:t>강수·적설은 대부분 0이라 양보다 '왔는지 여부'가 설명력 있음 → YN 이진변수 추가.</a:t>
            </a:r>
            <a:endParaRPr lang="en-US" dirty="0"/>
          </a:p>
          <a:p>
            <a:r>
              <a:rPr lang="en-US" dirty="0"/>
              <a:t>더미는 기준범주 하나씩 제외(Hour_0, Seasons_Autumn).</a:t>
            </a:r>
            <a:endParaRPr lang="en-US" dirty="0"/>
          </a:p>
          <a:p>
            <a:r>
              <a:rPr lang="en-US" dirty="0"/>
              <a:t>Dew_point_temperature는 Temperature와 r=0.91이라 회귀에서만 제외, 트리에서는 다시 투입(23쪽).</a:t>
            </a:r>
            <a:endParaRPr lang="en-US" dirty="0"/>
          </a:p>
          <a:p>
            <a:r>
              <a:rPr lang="en-US" dirty="0"/>
              <a:t>스케일러는 Train으로만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R²가 Train보다 조금 높아 Gap이 음수(-0.005) → Train/Test 차이로 보면 뚜렷한 과적합은 없음.</a:t>
            </a:r>
            <a:endParaRPr lang="en-US" dirty="0"/>
          </a:p>
          <a:p>
            <a:r>
              <a:rPr lang="en-US" dirty="0"/>
              <a:t>다만 Train R²도 0.73에 그쳐 과소적합에 가깝고 개선 여지가 큼.</a:t>
            </a:r>
            <a:endParaRPr lang="en-US" dirty="0"/>
          </a:p>
          <a:p>
            <a:r>
              <a:rPr lang="en-US" dirty="0"/>
              <a:t>오차 상위 10건은 대부분 5~6월 18~19시, 실제 3,000대 넘는 시간대를 1,900대 수준으로 과소 예측 → 선형모형이 피크 높이를 못 따라감.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진단은 Train 기준, 제곱근 변환 단위 잔차 → 앞 장의 Test RMSE(원 단위)와는 단위가 달라 수치를 직접 비교할 수 없음.</a:t>
            </a:r>
            <a:endParaRPr lang="en-US" dirty="0"/>
          </a:p>
          <a:p>
            <a:r>
              <a:rPr lang="en-US" dirty="0"/>
              <a:t>DW 0.446은 2에서 많이 떨어진 값 → 강한 양의 자기상관, 직전 시간과 비슷하다는 시계열 특성이 잔차에 남음.</a:t>
            </a:r>
            <a:endParaRPr lang="en-US" dirty="0"/>
          </a:p>
          <a:p>
            <a:r>
              <a:rPr lang="en-US" dirty="0"/>
              <a:t>VIF 최대 5.64로 공선성은 기준(10) 이하.</a:t>
            </a:r>
            <a:endParaRPr lang="en-US" dirty="0"/>
          </a:p>
          <a:p>
            <a:r>
              <a:rPr lang="en-US" dirty="0"/>
              <a:t>트리로 넘어가는 근거는 비선형성·상호작용이지 자기상관 해결이 아님. RF·XGBoost도 시점 간 의존 구조는 다루지 못함.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제외 목록에 없는 수치형을 자동 투입하는 방식이라 회귀에서 뺀 Dew_point_temperature와 Seasons 4개까지 전부 들어가 44개.</a:t>
            </a:r>
            <a:endParaRPr lang="en-US" dirty="0"/>
          </a:p>
          <a:p>
            <a:r>
              <a:rPr lang="en-US" dirty="0"/>
              <a:t>트리는 공선성·더미 트랩 영향이 적어 정보를 더 주는 쪽을 택함(Dew_point는 RF 중요도 12위, 0.020).</a:t>
            </a:r>
            <a:endParaRPr lang="en-US" dirty="0"/>
          </a:p>
          <a:p>
            <a:r>
              <a:rPr lang="en-US" dirty="0"/>
              <a:t>상수열은 점검 결과 없었다는 뜻이지 제거된 변수가 있다는 뜻이 아님.</a:t>
            </a:r>
            <a:endParaRPr lang="en-US" dirty="0"/>
          </a:p>
          <a:p>
            <a:r>
              <a:rPr lang="en-US" dirty="0"/>
              <a:t>Year는 2017년이 12월뿐이라 Month와 사실상 중복 → 다시 한다면 제외.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R² 0.98대 / Test R² 0.89~0.91, Train RMSE 70대 / Test RMSE 185~205 → 기본 파라미터로 트리를 깊게 키운 결과라 과적합 경향 있음.</a:t>
            </a:r>
            <a:endParaRPr lang="en-US" dirty="0"/>
          </a:p>
          <a:p>
            <a:r>
              <a:rPr lang="en-US" dirty="0"/>
              <a:t>그래도 베이스라인(0.7384) 대비 설명력은 크게 상승.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RF는 Temperature 0.350이 압도적, XGBoost는 상위 5개가 전부 Hour 더미이고 Temperature는 10위(0.030).</a:t>
            </a:r>
            <a:endParaRPr lang="en-US" dirty="0"/>
          </a:p>
          <a:p>
            <a:r>
              <a:rPr lang="en-US" dirty="0"/>
              <a:t>→ 시간대는 두 모델 공통으로 중요하고, 기상 변수 비중은 RF에서 두드러짐. 온도가 두 모델 공통의 핵심이라고 보기는 어려움.</a:t>
            </a:r>
            <a:endParaRPr lang="en-US" dirty="0"/>
          </a:p>
          <a:p>
            <a:r>
              <a:rPr lang="en-US" dirty="0"/>
              <a:t>RF는 불순도 감소, XGBoost는 gain 기반이라 중요도 수치를 직접 비교할 수 없고 경향만 해석.</a:t>
            </a:r>
            <a:endParaRPr lang="en-US" dirty="0"/>
          </a:p>
          <a:p>
            <a:r>
              <a:rPr lang="en-US" dirty="0"/>
              <a:t>XGBoost에서 Hour_4가 높은 건 수요가 많아서가 아니라 대여량 0에 가까운 구간을 잘라내는 분기라 손실 감소가 크기 때문.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발견 → 변수 설계 → 모델에서 활용까지의 연결을 보여주는 장.</a:t>
            </a:r>
            <a:endParaRPr lang="en-US" dirty="0"/>
          </a:p>
          <a:p>
            <a:r>
              <a:rPr lang="en-US" dirty="0"/>
              <a:t>인과를 증명한 것이 아니라 분석 과정의 흐름을 정리한 것.</a:t>
            </a:r>
            <a:endParaRPr lang="en-US" dirty="0"/>
          </a:p>
          <a:p>
            <a:r>
              <a:rPr lang="en-US" dirty="0"/>
              <a:t>예상 질문 '여름 저녁 집중이 Autumn 8위로 확인되나' → 직접 증거는 아님. 계절×시간대 상호작용은 트리가 Seasons와 Hour 분기를 조합해 학습할 수 있다는 정도로 해석.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XGBoost에서 음수 예측 27건이 발생했으며 모두 새벽 저수요 구간이었다.</a:t>
            </a:r>
            <a:endParaRPr lang="en-US" dirty="0"/>
          </a:p>
          <a:p>
            <a:r>
              <a:rPr lang="en-US" dirty="0"/>
              <a:t>실제 대여량은 음수가 될 수 없기 때문에 0으로 클리핑했을 때의 성능도 함께 확인했다.</a:t>
            </a:r>
            <a:endParaRPr lang="en-US" dirty="0"/>
          </a:p>
          <a:p>
            <a:r>
              <a:rPr lang="en-US" dirty="0"/>
              <a:t>클리핑 전후 성능 차이는 크지 않았으며, 실제 활용 시에는 음수 예측을 0으로 처리할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모델을 같은 Test 1,968행, 같은 평가 함수로 비교한 종합표.</a:t>
            </a:r>
            <a:endParaRPr lang="en-US" dirty="0"/>
          </a:p>
          <a:p>
            <a:r>
              <a:rPr lang="en-US" dirty="0"/>
              <a:t>선형회귀 대비 Test RMSE가 RF는 35.00%(315.08 → 204.79), XGBoost는 41.05%(315.08 → 185.73) 개선.</a:t>
            </a:r>
            <a:endParaRPr lang="en-US" dirty="0"/>
          </a:p>
          <a:p>
            <a:r>
              <a:rPr lang="en-US" dirty="0"/>
              <a:t>XGBoost가 RMSE·MAE는 가장 낮고 R²(0.9091)는 가장 높음.</a:t>
            </a:r>
            <a:endParaRPr lang="en-US" dirty="0"/>
          </a:p>
          <a:p>
            <a:r>
              <a:rPr lang="en-US" dirty="0"/>
              <a:t>다만 기본 하이퍼파라미터 기준 결과라 최적 모델로 단정하지 않고 후속 튜닝이 필요.</a:t>
            </a:r>
            <a:endParaRPr lang="en-US" dirty="0"/>
          </a:p>
          <a:p>
            <a:r>
              <a:rPr lang="en-US" dirty="0"/>
              <a:t>예상 질문 '타깃이 다른데 비교가 공정한가' → 회귀는 제곱근 타깃으로 학습 후 제곱해 복원, 트리는 원 단위 타깃으로 학습했지만 평가는 모두 원 단위 Test에서 수행. (※ 발표 전 노트북에서 재확인)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분할 질문 → 1년치를 특정 시점으로만 자르면 그 계절 영향을 크게 받아 각 달 마지막 7일을 Test로 구성. 다만 마지막 달을 빼면 모든 달의 Test가 그보다 미래 시점이 포함된 Train으로 예측되므로 엄밀한 미래 예측 검증에는 한계. 운영 관점 검증은 마지막 2개월 홀드아웃이 다음 단계.</a:t>
            </a:r>
            <a:endParaRPr lang="en-US" dirty="0"/>
          </a:p>
          <a:p>
            <a:r>
              <a:rPr lang="en-US" dirty="0"/>
              <a:t>과적합 질문 → Train R² 0.98대 / Test R² 0.89~0.91. GroupKFold(groups=Date) 기반 튜닝이 다음 단계(같은 날 24시간이 Train/valid로 쪼개지면 성능이 부풀려짐).</a:t>
            </a:r>
            <a:endParaRPr lang="en-US" dirty="0"/>
          </a:p>
          <a:p>
            <a:r>
              <a:rPr lang="en-US" dirty="0"/>
              <a:t>남은 제약 → 자기상관 미반영, 제곱근 역변환 과정의 과소 예측 편의, Year와 Month 중복.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저녁(19~22시): 여름이 봄·가을 평균보다 약 570건 많음 낮(10~16시): 여름(908)이 봄(856)이랑 비슷하고 가을(995)보다는 오히려 적음 하루 대여 중 저녁 비중도 여름이 28.3%로 제일 높음 (봄·가을 23.6%, 겨울 18.7%)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81382"/>
            <a:ext cx="10566400" cy="350520"/>
          </a:xfrm>
          <a:prstGeom prst="rect">
            <a:avLst/>
          </a:prstGeom>
          <a:noFill/>
          <a:ln/>
        </p:spPr>
        <p:txBody>
          <a:bodyPr wrap="square" lIns="0" tIns="0" rIns="0" bIns="0" rtlCol="0" anchor="t"/>
          <a:lstStyle>
            <a:lvl1pPr algn="l" indent="0" marL="0">
              <a:lnSpc>
                <a:spcPct val="115000"/>
              </a:lnSpc>
              <a:buNone/>
              <a:defRPr lang="en-US" sz="2400" dirty="0">
                <a:solidFill>
                  <a:srgbClr val="172033"/>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536702"/>
            <a:ext cx="10566400" cy="4508498"/>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81382"/>
            <a:ext cx="10566400" cy="350520"/>
          </a:xfrm>
          <a:prstGeom prst="rect">
            <a:avLst/>
          </a:prstGeom>
          <a:noFill/>
          <a:ln/>
        </p:spPr>
        <p:txBody>
          <a:bodyPr wrap="square" lIns="0" tIns="0" rIns="0" bIns="0" rtlCol="0" anchor="t"/>
          <a:lstStyle>
            <a:lvl1pPr algn="l" indent="0" marL="0">
              <a:lnSpc>
                <a:spcPct val="115000"/>
              </a:lnSpc>
              <a:buNone/>
              <a:defRPr lang="en-US" sz="2400" dirty="0">
                <a:solidFill>
                  <a:srgbClr val="172033"/>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536702"/>
            <a:ext cx="10566400" cy="4508498"/>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5.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17.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585200" y="1905000"/>
            <a:ext cx="2794000" cy="2794000"/>
          </a:xfrm>
          <a:prstGeom prst="rect">
            <a:avLst/>
          </a:prstGeom>
        </p:spPr>
      </p:pic>
      <p:pic>
        <p:nvPicPr>
          <p:cNvPr id="3" name="Image 1" descr="ellipse">    </p:cNvPr>
          <p:cNvPicPr>
            <a:picLocks noChangeAspect="1"/>
          </p:cNvPicPr>
          <p:nvPr/>
        </p:nvPicPr>
        <p:blipFill>
          <a:blip r:embed="rId2"/>
          <a:srcRect l="0" r="0" t="0" b="0"/>
          <a:stretch/>
        </p:blipFill>
        <p:spPr>
          <a:xfrm>
            <a:off x="9728200" y="3048000"/>
            <a:ext cx="508000" cy="508000"/>
          </a:xfrm>
          <a:prstGeom prst="rect">
            <a:avLst/>
          </a:prstGeom>
        </p:spPr>
      </p:pic>
      <p:sp>
        <p:nvSpPr>
          <p:cNvPr id="4" name="Shape 0"/>
          <p:cNvSpPr/>
          <p:nvPr/>
        </p:nvSpPr>
        <p:spPr>
          <a:xfrm>
            <a:off x="812800" y="2736850"/>
            <a:ext cx="609600" cy="50800"/>
          </a:xfrm>
          <a:prstGeom prst="roundRect">
            <a:avLst>
              <a:gd name="adj" fmla="val 50000"/>
            </a:avLst>
          </a:prstGeom>
          <a:solidFill>
            <a:srgbClr val="8FB0FF"/>
          </a:solidFill>
          <a:ln/>
        </p:spPr>
      </p:sp>
      <p:sp>
        <p:nvSpPr>
          <p:cNvPr id="5" name="Text 1"/>
          <p:cNvSpPr/>
          <p:nvPr/>
        </p:nvSpPr>
        <p:spPr>
          <a:xfrm>
            <a:off x="812800" y="29908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8FB0FF"/>
                </a:solidFill>
                <a:latin typeface="Noto Sans KR" pitchFamily="34" charset="0"/>
                <a:ea typeface="Noto Sans KR" pitchFamily="34" charset="-122"/>
                <a:cs typeface="Noto Sans KR" pitchFamily="34" charset="-120"/>
              </a:rPr>
              <a:t>시간·계절·날씨에 따른</a:t>
            </a:r>
            <a:endParaRPr lang="en-US" sz="1600" dirty="0"/>
          </a:p>
        </p:txBody>
      </p:sp>
      <p:sp>
        <p:nvSpPr>
          <p:cNvPr id="6" name="Text 2"/>
          <p:cNvSpPr/>
          <p:nvPr>
            <p:ph type="title"/>
          </p:nvPr>
        </p:nvSpPr>
        <p:spPr>
          <a:xfrm>
            <a:off x="812800" y="3478530"/>
            <a:ext cx="10883392" cy="668020"/>
          </a:xfrm>
          <a:prstGeom prst="rect">
            <a:avLst/>
          </a:prstGeom>
          <a:noFill/>
          <a:ln/>
        </p:spPr>
        <p:txBody>
          <a:bodyPr wrap="square" lIns="0" tIns="0" rIns="0" bIns="0" rtlCol="0" anchor="t">
            <a:normAutofit/>
          </a:bodyPr>
          <a:lstStyle/>
          <a:p>
            <a:pPr algn="l" indent="0" marL="0">
              <a:lnSpc>
                <a:spcPts val="5060"/>
              </a:lnSpc>
              <a:buNone/>
            </a:pPr>
            <a:r>
              <a:rPr lang="en-US" sz="4400" b="1" i="0" dirty="0">
                <a:solidFill>
                  <a:srgbClr val="F5F6F8"/>
                </a:solidFill>
                <a:latin typeface="Noto Sans KR" pitchFamily="34" charset="0"/>
                <a:ea typeface="Noto Sans KR" pitchFamily="34" charset="-122"/>
                <a:cs typeface="Noto Sans KR" pitchFamily="34" charset="-120"/>
              </a:rPr>
              <a:t>서울시 전체 따릉이 수요 예측</a:t>
            </a:r>
            <a:endParaRPr lang="en-US" sz="4400" dirty="0"/>
          </a:p>
        </p:txBody>
      </p:sp>
      <p:sp>
        <p:nvSpPr>
          <p:cNvPr id="7" name="Text 3"/>
          <p:cNvSpPr/>
          <p:nvPr/>
        </p:nvSpPr>
        <p:spPr>
          <a:xfrm>
            <a:off x="812800" y="6268720"/>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B8C2D6"/>
                </a:solidFill>
                <a:latin typeface="Noto Sans KR" pitchFamily="34" charset="0"/>
                <a:ea typeface="Noto Sans KR" pitchFamily="34" charset="-122"/>
                <a:cs typeface="Noto Sans KR" pitchFamily="34" charset="-120"/>
              </a:rPr>
              <a:t>1차 프로젝트</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CONTENTS</a:t>
            </a:r>
            <a:endParaRPr lang="en-US" sz="1200" dirty="0"/>
          </a:p>
        </p:txBody>
      </p:sp>
      <p:sp>
        <p:nvSpPr>
          <p:cNvPr id="3" name="Text 1"/>
          <p:cNvSpPr/>
          <p:nvPr>
            <p:ph type="title"/>
          </p:nvPr>
        </p:nvSpPr>
        <p:spPr>
          <a:xfrm>
            <a:off x="812800" y="88138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목차</a:t>
            </a:r>
            <a:endParaRPr lang="en-US" sz="2400" dirty="0"/>
          </a:p>
        </p:txBody>
      </p:sp>
      <p:sp>
        <p:nvSpPr>
          <p:cNvPr id="4" name="Shape 2"/>
          <p:cNvSpPr/>
          <p:nvPr/>
        </p:nvSpPr>
        <p:spPr>
          <a:xfrm>
            <a:off x="812800" y="1851025"/>
            <a:ext cx="10566400" cy="0"/>
          </a:xfrm>
          <a:prstGeom prst="line">
            <a:avLst/>
          </a:prstGeom>
          <a:noFill/>
          <a:ln w="6350">
            <a:solidFill>
              <a:srgbClr val="D5DAE2"/>
            </a:solidFill>
            <a:prstDash val="solid"/>
          </a:ln>
        </p:spPr>
      </p:sp>
      <p:sp>
        <p:nvSpPr>
          <p:cNvPr id="5" name="Shape 3"/>
          <p:cNvSpPr/>
          <p:nvPr/>
        </p:nvSpPr>
        <p:spPr>
          <a:xfrm>
            <a:off x="812800" y="2367915"/>
            <a:ext cx="10566400" cy="0"/>
          </a:xfrm>
          <a:prstGeom prst="line">
            <a:avLst/>
          </a:prstGeom>
          <a:noFill/>
          <a:ln w="6350">
            <a:solidFill>
              <a:srgbClr val="D5DAE2"/>
            </a:solidFill>
            <a:prstDash val="solid"/>
          </a:ln>
        </p:spPr>
      </p:sp>
      <p:sp>
        <p:nvSpPr>
          <p:cNvPr id="6" name="Text 4"/>
          <p:cNvSpPr/>
          <p:nvPr/>
        </p:nvSpPr>
        <p:spPr>
          <a:xfrm>
            <a:off x="812800" y="1967230"/>
            <a:ext cx="457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7C5"/>
                </a:solidFill>
                <a:latin typeface="Noto Sans KR" pitchFamily="34" charset="0"/>
                <a:ea typeface="Noto Sans KR" pitchFamily="34" charset="-122"/>
                <a:cs typeface="Noto Sans KR" pitchFamily="34" charset="-120"/>
              </a:rPr>
              <a:t>01</a:t>
            </a:r>
            <a:endParaRPr lang="en-US" sz="1600" dirty="0"/>
          </a:p>
        </p:txBody>
      </p:sp>
      <p:sp>
        <p:nvSpPr>
          <p:cNvPr id="7" name="Text 5"/>
          <p:cNvSpPr/>
          <p:nvPr/>
        </p:nvSpPr>
        <p:spPr>
          <a:xfrm>
            <a:off x="1473200" y="1967230"/>
            <a:ext cx="102031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Noto Sans KR" pitchFamily="34" charset="0"/>
                <a:ea typeface="Noto Sans KR" pitchFamily="34" charset="-122"/>
                <a:cs typeface="Noto Sans KR" pitchFamily="34" charset="-120"/>
              </a:rPr>
              <a:t>프로젝트 선정 배경</a:t>
            </a:r>
            <a:endParaRPr lang="en-US" sz="1600" dirty="0"/>
          </a:p>
        </p:txBody>
      </p:sp>
      <p:sp>
        <p:nvSpPr>
          <p:cNvPr id="8" name="Shape 6"/>
          <p:cNvSpPr/>
          <p:nvPr/>
        </p:nvSpPr>
        <p:spPr>
          <a:xfrm>
            <a:off x="812800" y="2886075"/>
            <a:ext cx="10566400" cy="0"/>
          </a:xfrm>
          <a:prstGeom prst="line">
            <a:avLst/>
          </a:prstGeom>
          <a:noFill/>
          <a:ln w="6350">
            <a:solidFill>
              <a:srgbClr val="D5DAE2"/>
            </a:solidFill>
            <a:prstDash val="solid"/>
          </a:ln>
        </p:spPr>
      </p:sp>
      <p:sp>
        <p:nvSpPr>
          <p:cNvPr id="9" name="Text 7"/>
          <p:cNvSpPr/>
          <p:nvPr/>
        </p:nvSpPr>
        <p:spPr>
          <a:xfrm>
            <a:off x="812800" y="2485390"/>
            <a:ext cx="457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7C5"/>
                </a:solidFill>
                <a:latin typeface="Noto Sans KR" pitchFamily="34" charset="0"/>
                <a:ea typeface="Noto Sans KR" pitchFamily="34" charset="-122"/>
                <a:cs typeface="Noto Sans KR" pitchFamily="34" charset="-120"/>
              </a:rPr>
              <a:t>02</a:t>
            </a:r>
            <a:endParaRPr lang="en-US" sz="1600" dirty="0"/>
          </a:p>
        </p:txBody>
      </p:sp>
      <p:sp>
        <p:nvSpPr>
          <p:cNvPr id="10" name="Text 8"/>
          <p:cNvSpPr/>
          <p:nvPr/>
        </p:nvSpPr>
        <p:spPr>
          <a:xfrm>
            <a:off x="1473200" y="2485390"/>
            <a:ext cx="102031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Noto Sans KR" pitchFamily="34" charset="0"/>
                <a:ea typeface="Noto Sans KR" pitchFamily="34" charset="-122"/>
                <a:cs typeface="Noto Sans KR" pitchFamily="34" charset="-120"/>
              </a:rPr>
              <a:t>분석 과정 요약</a:t>
            </a:r>
            <a:endParaRPr lang="en-US" sz="1600" dirty="0"/>
          </a:p>
        </p:txBody>
      </p:sp>
      <p:sp>
        <p:nvSpPr>
          <p:cNvPr id="11" name="Shape 9"/>
          <p:cNvSpPr/>
          <p:nvPr/>
        </p:nvSpPr>
        <p:spPr>
          <a:xfrm>
            <a:off x="812800" y="3404235"/>
            <a:ext cx="10566400" cy="0"/>
          </a:xfrm>
          <a:prstGeom prst="line">
            <a:avLst/>
          </a:prstGeom>
          <a:noFill/>
          <a:ln w="6350">
            <a:solidFill>
              <a:srgbClr val="D5DAE2"/>
            </a:solidFill>
            <a:prstDash val="solid"/>
          </a:ln>
        </p:spPr>
      </p:sp>
      <p:sp>
        <p:nvSpPr>
          <p:cNvPr id="12" name="Text 10"/>
          <p:cNvSpPr/>
          <p:nvPr/>
        </p:nvSpPr>
        <p:spPr>
          <a:xfrm>
            <a:off x="812800" y="3003550"/>
            <a:ext cx="457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7C5"/>
                </a:solidFill>
                <a:latin typeface="Noto Sans KR" pitchFamily="34" charset="0"/>
                <a:ea typeface="Noto Sans KR" pitchFamily="34" charset="-122"/>
                <a:cs typeface="Noto Sans KR" pitchFamily="34" charset="-120"/>
              </a:rPr>
              <a:t>03</a:t>
            </a:r>
            <a:endParaRPr lang="en-US" sz="1600" dirty="0"/>
          </a:p>
        </p:txBody>
      </p:sp>
      <p:sp>
        <p:nvSpPr>
          <p:cNvPr id="13" name="Text 11"/>
          <p:cNvSpPr/>
          <p:nvPr/>
        </p:nvSpPr>
        <p:spPr>
          <a:xfrm>
            <a:off x="1473200" y="3003550"/>
            <a:ext cx="102031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Noto Sans KR" pitchFamily="34" charset="0"/>
                <a:ea typeface="Noto Sans KR" pitchFamily="34" charset="-122"/>
                <a:cs typeface="Noto Sans KR" pitchFamily="34" charset="-120"/>
              </a:rPr>
              <a:t>데이터 EDA</a:t>
            </a:r>
            <a:endParaRPr lang="en-US" sz="1600" dirty="0"/>
          </a:p>
        </p:txBody>
      </p:sp>
      <p:sp>
        <p:nvSpPr>
          <p:cNvPr id="14" name="Shape 12"/>
          <p:cNvSpPr/>
          <p:nvPr/>
        </p:nvSpPr>
        <p:spPr>
          <a:xfrm>
            <a:off x="812800" y="3922395"/>
            <a:ext cx="10566400" cy="0"/>
          </a:xfrm>
          <a:prstGeom prst="line">
            <a:avLst/>
          </a:prstGeom>
          <a:noFill/>
          <a:ln w="6350">
            <a:solidFill>
              <a:srgbClr val="D5DAE2"/>
            </a:solidFill>
            <a:prstDash val="solid"/>
          </a:ln>
        </p:spPr>
      </p:sp>
      <p:sp>
        <p:nvSpPr>
          <p:cNvPr id="15" name="Text 13"/>
          <p:cNvSpPr/>
          <p:nvPr/>
        </p:nvSpPr>
        <p:spPr>
          <a:xfrm>
            <a:off x="812800" y="3521710"/>
            <a:ext cx="457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7C5"/>
                </a:solidFill>
                <a:latin typeface="Noto Sans KR" pitchFamily="34" charset="0"/>
                <a:ea typeface="Noto Sans KR" pitchFamily="34" charset="-122"/>
                <a:cs typeface="Noto Sans KR" pitchFamily="34" charset="-120"/>
              </a:rPr>
              <a:t>04</a:t>
            </a:r>
            <a:endParaRPr lang="en-US" sz="1600" dirty="0"/>
          </a:p>
        </p:txBody>
      </p:sp>
      <p:sp>
        <p:nvSpPr>
          <p:cNvPr id="16" name="Text 14"/>
          <p:cNvSpPr/>
          <p:nvPr/>
        </p:nvSpPr>
        <p:spPr>
          <a:xfrm>
            <a:off x="1473200" y="3521710"/>
            <a:ext cx="102031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Noto Sans KR" pitchFamily="34" charset="0"/>
                <a:ea typeface="Noto Sans KR" pitchFamily="34" charset="-122"/>
                <a:cs typeface="Noto Sans KR" pitchFamily="34" charset="-120"/>
              </a:rPr>
              <a:t>데이터 전처리 / 피처 엔지니어링</a:t>
            </a:r>
            <a:endParaRPr lang="en-US" sz="1600" dirty="0"/>
          </a:p>
        </p:txBody>
      </p:sp>
      <p:sp>
        <p:nvSpPr>
          <p:cNvPr id="17" name="Shape 15"/>
          <p:cNvSpPr/>
          <p:nvPr/>
        </p:nvSpPr>
        <p:spPr>
          <a:xfrm>
            <a:off x="812800" y="4440555"/>
            <a:ext cx="10566400" cy="0"/>
          </a:xfrm>
          <a:prstGeom prst="line">
            <a:avLst/>
          </a:prstGeom>
          <a:noFill/>
          <a:ln w="6350">
            <a:solidFill>
              <a:srgbClr val="D5DAE2"/>
            </a:solidFill>
            <a:prstDash val="solid"/>
          </a:ln>
        </p:spPr>
      </p:sp>
      <p:sp>
        <p:nvSpPr>
          <p:cNvPr id="18" name="Text 16"/>
          <p:cNvSpPr/>
          <p:nvPr/>
        </p:nvSpPr>
        <p:spPr>
          <a:xfrm>
            <a:off x="812800" y="4039870"/>
            <a:ext cx="457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7C5"/>
                </a:solidFill>
                <a:latin typeface="Noto Sans KR" pitchFamily="34" charset="0"/>
                <a:ea typeface="Noto Sans KR" pitchFamily="34" charset="-122"/>
                <a:cs typeface="Noto Sans KR" pitchFamily="34" charset="-120"/>
              </a:rPr>
              <a:t>05</a:t>
            </a:r>
            <a:endParaRPr lang="en-US" sz="1600" dirty="0"/>
          </a:p>
        </p:txBody>
      </p:sp>
      <p:sp>
        <p:nvSpPr>
          <p:cNvPr id="19" name="Text 17"/>
          <p:cNvSpPr/>
          <p:nvPr/>
        </p:nvSpPr>
        <p:spPr>
          <a:xfrm>
            <a:off x="1473200" y="4039870"/>
            <a:ext cx="102031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Noto Sans KR" pitchFamily="34" charset="0"/>
                <a:ea typeface="Noto Sans KR" pitchFamily="34" charset="-122"/>
                <a:cs typeface="Noto Sans KR" pitchFamily="34" charset="-120"/>
              </a:rPr>
              <a:t>Train/Test set 분할</a:t>
            </a:r>
            <a:endParaRPr lang="en-US" sz="1600" dirty="0"/>
          </a:p>
        </p:txBody>
      </p:sp>
      <p:sp>
        <p:nvSpPr>
          <p:cNvPr id="20" name="Shape 18"/>
          <p:cNvSpPr/>
          <p:nvPr/>
        </p:nvSpPr>
        <p:spPr>
          <a:xfrm>
            <a:off x="812800" y="4958715"/>
            <a:ext cx="10566400" cy="0"/>
          </a:xfrm>
          <a:prstGeom prst="line">
            <a:avLst/>
          </a:prstGeom>
          <a:noFill/>
          <a:ln w="6350">
            <a:solidFill>
              <a:srgbClr val="D5DAE2"/>
            </a:solidFill>
            <a:prstDash val="solid"/>
          </a:ln>
        </p:spPr>
      </p:sp>
      <p:sp>
        <p:nvSpPr>
          <p:cNvPr id="21" name="Text 19"/>
          <p:cNvSpPr/>
          <p:nvPr/>
        </p:nvSpPr>
        <p:spPr>
          <a:xfrm>
            <a:off x="812800" y="4558030"/>
            <a:ext cx="457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7C5"/>
                </a:solidFill>
                <a:latin typeface="Noto Sans KR" pitchFamily="34" charset="0"/>
                <a:ea typeface="Noto Sans KR" pitchFamily="34" charset="-122"/>
                <a:cs typeface="Noto Sans KR" pitchFamily="34" charset="-120"/>
              </a:rPr>
              <a:t>06</a:t>
            </a:r>
            <a:endParaRPr lang="en-US" sz="1600" dirty="0"/>
          </a:p>
        </p:txBody>
      </p:sp>
      <p:sp>
        <p:nvSpPr>
          <p:cNvPr id="22" name="Text 20"/>
          <p:cNvSpPr/>
          <p:nvPr/>
        </p:nvSpPr>
        <p:spPr>
          <a:xfrm>
            <a:off x="1473200" y="4558030"/>
            <a:ext cx="102031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Noto Sans KR" pitchFamily="34" charset="0"/>
                <a:ea typeface="Noto Sans KR" pitchFamily="34" charset="-122"/>
                <a:cs typeface="Noto Sans KR" pitchFamily="34" charset="-120"/>
              </a:rPr>
              <a:t>모델링</a:t>
            </a:r>
            <a:endParaRPr lang="en-US" sz="1600" dirty="0"/>
          </a:p>
        </p:txBody>
      </p:sp>
      <p:sp>
        <p:nvSpPr>
          <p:cNvPr id="23" name="Shape 21"/>
          <p:cNvSpPr/>
          <p:nvPr/>
        </p:nvSpPr>
        <p:spPr>
          <a:xfrm>
            <a:off x="812800" y="5476875"/>
            <a:ext cx="10566400" cy="0"/>
          </a:xfrm>
          <a:prstGeom prst="line">
            <a:avLst/>
          </a:prstGeom>
          <a:noFill/>
          <a:ln w="6350">
            <a:solidFill>
              <a:srgbClr val="D5DAE2"/>
            </a:solidFill>
            <a:prstDash val="solid"/>
          </a:ln>
        </p:spPr>
      </p:sp>
      <p:sp>
        <p:nvSpPr>
          <p:cNvPr id="24" name="Text 22"/>
          <p:cNvSpPr/>
          <p:nvPr/>
        </p:nvSpPr>
        <p:spPr>
          <a:xfrm>
            <a:off x="812800" y="5076190"/>
            <a:ext cx="4572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7C5"/>
                </a:solidFill>
                <a:latin typeface="Noto Sans KR" pitchFamily="34" charset="0"/>
                <a:ea typeface="Noto Sans KR" pitchFamily="34" charset="-122"/>
                <a:cs typeface="Noto Sans KR" pitchFamily="34" charset="-120"/>
              </a:rPr>
              <a:t>07</a:t>
            </a:r>
            <a:endParaRPr lang="en-US" sz="1600" dirty="0"/>
          </a:p>
        </p:txBody>
      </p:sp>
      <p:sp>
        <p:nvSpPr>
          <p:cNvPr id="25" name="Text 23"/>
          <p:cNvSpPr/>
          <p:nvPr/>
        </p:nvSpPr>
        <p:spPr>
          <a:xfrm>
            <a:off x="1473200" y="5076190"/>
            <a:ext cx="102031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Noto Sans KR" pitchFamily="34" charset="0"/>
                <a:ea typeface="Noto Sans KR" pitchFamily="34" charset="-122"/>
                <a:cs typeface="Noto Sans KR" pitchFamily="34" charset="-120"/>
              </a:rPr>
              <a:t>예측</a:t>
            </a:r>
            <a:endParaRPr lang="en-US" sz="1600" dirty="0"/>
          </a:p>
        </p:txBody>
      </p:sp>
      <p:sp>
        <p:nvSpPr>
          <p:cNvPr id="26" name="Text 24"/>
          <p:cNvSpPr/>
          <p:nvPr/>
        </p:nvSpPr>
        <p:spPr>
          <a:xfrm>
            <a:off x="812800" y="6268720"/>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7" name="Text 25"/>
          <p:cNvSpPr/>
          <p:nvPr/>
        </p:nvSpPr>
        <p:spPr>
          <a:xfrm>
            <a:off x="10566400" y="6268720"/>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01 · 선정 배경</a:t>
            </a:r>
            <a:endParaRPr lang="en-US" sz="1200" dirty="0"/>
          </a:p>
        </p:txBody>
      </p:sp>
      <p:sp>
        <p:nvSpPr>
          <p:cNvPr id="3" name="Text 1"/>
          <p:cNvSpPr/>
          <p:nvPr>
            <p:ph type="title"/>
          </p:nvPr>
        </p:nvSpPr>
        <p:spPr>
          <a:xfrm>
            <a:off x="812800" y="88138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프로젝트 선정 배경</a:t>
            </a:r>
            <a:endParaRPr lang="en-US" sz="2400" dirty="0"/>
          </a:p>
        </p:txBody>
      </p:sp>
      <p:sp>
        <p:nvSpPr>
          <p:cNvPr id="4" name="Shape 2"/>
          <p:cNvSpPr/>
          <p:nvPr/>
        </p:nvSpPr>
        <p:spPr>
          <a:xfrm>
            <a:off x="815975" y="2696845"/>
            <a:ext cx="3414157" cy="1934210"/>
          </a:xfrm>
          <a:prstGeom prst="roundRect">
            <a:avLst>
              <a:gd name="adj" fmla="val 6402"/>
            </a:avLst>
          </a:prstGeom>
          <a:solidFill>
            <a:srgbClr val="FFFFFF"/>
          </a:solidFill>
          <a:ln w="6350">
            <a:solidFill>
              <a:srgbClr val="E1E5EB"/>
            </a:solidFill>
            <a:prstDash val="solid"/>
          </a:ln>
        </p:spPr>
      </p:sp>
      <p:sp>
        <p:nvSpPr>
          <p:cNvPr id="5" name="Text 3"/>
          <p:cNvSpPr/>
          <p:nvPr/>
        </p:nvSpPr>
        <p:spPr>
          <a:xfrm>
            <a:off x="1071880" y="2952750"/>
            <a:ext cx="298941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01</a:t>
            </a:r>
            <a:endParaRPr lang="en-US" sz="1200" dirty="0"/>
          </a:p>
        </p:txBody>
      </p:sp>
      <p:sp>
        <p:nvSpPr>
          <p:cNvPr id="6" name="Text 4"/>
          <p:cNvSpPr/>
          <p:nvPr/>
        </p:nvSpPr>
        <p:spPr>
          <a:xfrm>
            <a:off x="1071880" y="3267711"/>
            <a:ext cx="2989417"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72033"/>
                </a:solidFill>
                <a:latin typeface="Noto Sans KR" pitchFamily="34" charset="0"/>
                <a:ea typeface="Noto Sans KR" pitchFamily="34" charset="-122"/>
                <a:cs typeface="Noto Sans KR" pitchFamily="34" charset="-120"/>
              </a:rPr>
              <a:t>실무적 의사결정과 관련된 예측</a:t>
            </a:r>
            <a:endParaRPr lang="en-US" sz="1600" dirty="0"/>
          </a:p>
        </p:txBody>
      </p:sp>
      <p:sp>
        <p:nvSpPr>
          <p:cNvPr id="7" name="Text 5"/>
          <p:cNvSpPr/>
          <p:nvPr/>
        </p:nvSpPr>
        <p:spPr>
          <a:xfrm>
            <a:off x="1071880" y="3643630"/>
            <a:ext cx="2989417"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5"/>
                </a:solidFill>
                <a:latin typeface="Noto Sans KR" pitchFamily="34" charset="0"/>
                <a:ea typeface="Noto Sans KR" pitchFamily="34" charset="-122"/>
                <a:cs typeface="Noto Sans KR" pitchFamily="34" charset="-120"/>
              </a:rPr>
              <a:t>수요 예측은 자전거 재배치 등 실무적 의사결정과 직결</a:t>
            </a:r>
            <a:endParaRPr lang="en-US" sz="1200" dirty="0"/>
          </a:p>
        </p:txBody>
      </p:sp>
      <p:sp>
        <p:nvSpPr>
          <p:cNvPr id="8" name="Shape 6"/>
          <p:cNvSpPr/>
          <p:nvPr/>
        </p:nvSpPr>
        <p:spPr>
          <a:xfrm>
            <a:off x="4388882" y="2696845"/>
            <a:ext cx="3414236" cy="1934210"/>
          </a:xfrm>
          <a:prstGeom prst="roundRect">
            <a:avLst>
              <a:gd name="adj" fmla="val 6402"/>
            </a:avLst>
          </a:prstGeom>
          <a:solidFill>
            <a:srgbClr val="FFFFFF"/>
          </a:solidFill>
          <a:ln w="6350">
            <a:solidFill>
              <a:srgbClr val="E1E5EB"/>
            </a:solidFill>
            <a:prstDash val="solid"/>
          </a:ln>
        </p:spPr>
      </p:sp>
      <p:sp>
        <p:nvSpPr>
          <p:cNvPr id="9" name="Text 7"/>
          <p:cNvSpPr/>
          <p:nvPr/>
        </p:nvSpPr>
        <p:spPr>
          <a:xfrm>
            <a:off x="4644787" y="2952750"/>
            <a:ext cx="298949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02</a:t>
            </a:r>
            <a:endParaRPr lang="en-US" sz="1200" dirty="0"/>
          </a:p>
        </p:txBody>
      </p:sp>
      <p:sp>
        <p:nvSpPr>
          <p:cNvPr id="10" name="Text 8"/>
          <p:cNvSpPr/>
          <p:nvPr/>
        </p:nvSpPr>
        <p:spPr>
          <a:xfrm>
            <a:off x="4644787" y="3267711"/>
            <a:ext cx="2989499"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72033"/>
                </a:solidFill>
                <a:latin typeface="Noto Sans KR" pitchFamily="34" charset="0"/>
                <a:ea typeface="Noto Sans KR" pitchFamily="34" charset="-122"/>
                <a:cs typeface="Noto Sans KR" pitchFamily="34" charset="-120"/>
              </a:rPr>
              <a:t>시간·계절·날씨에 따른 도시 전체의 수요 변화</a:t>
            </a:r>
            <a:endParaRPr lang="en-US" sz="1600" dirty="0"/>
          </a:p>
        </p:txBody>
      </p:sp>
      <p:sp>
        <p:nvSpPr>
          <p:cNvPr id="11" name="Text 9"/>
          <p:cNvSpPr/>
          <p:nvPr/>
        </p:nvSpPr>
        <p:spPr>
          <a:xfrm>
            <a:off x="4644787" y="3917950"/>
            <a:ext cx="298949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5"/>
                </a:solidFill>
                <a:latin typeface="Noto Sans KR" pitchFamily="34" charset="0"/>
                <a:ea typeface="Noto Sans KR" pitchFamily="34" charset="-122"/>
                <a:cs typeface="Noto Sans KR" pitchFamily="34" charset="-120"/>
              </a:rPr>
              <a:t>데이터 구조상 도시 전체의 수요 변화 분석에 적합</a:t>
            </a:r>
            <a:endParaRPr lang="en-US" sz="1200" dirty="0"/>
          </a:p>
        </p:txBody>
      </p:sp>
      <p:sp>
        <p:nvSpPr>
          <p:cNvPr id="12" name="Shape 10"/>
          <p:cNvSpPr/>
          <p:nvPr/>
        </p:nvSpPr>
        <p:spPr>
          <a:xfrm>
            <a:off x="7961868" y="2696845"/>
            <a:ext cx="3414157" cy="1934210"/>
          </a:xfrm>
          <a:prstGeom prst="roundRect">
            <a:avLst>
              <a:gd name="adj" fmla="val 6402"/>
            </a:avLst>
          </a:prstGeom>
          <a:solidFill>
            <a:srgbClr val="FFFFFF"/>
          </a:solidFill>
          <a:ln w="6350">
            <a:solidFill>
              <a:srgbClr val="E1E5EB"/>
            </a:solidFill>
            <a:prstDash val="solid"/>
          </a:ln>
        </p:spPr>
      </p:sp>
      <p:sp>
        <p:nvSpPr>
          <p:cNvPr id="13" name="Text 11"/>
          <p:cNvSpPr/>
          <p:nvPr/>
        </p:nvSpPr>
        <p:spPr>
          <a:xfrm>
            <a:off x="8217774" y="2952750"/>
            <a:ext cx="298941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03</a:t>
            </a:r>
            <a:endParaRPr lang="en-US" sz="1200" dirty="0"/>
          </a:p>
        </p:txBody>
      </p:sp>
      <p:sp>
        <p:nvSpPr>
          <p:cNvPr id="14" name="Text 12"/>
          <p:cNvSpPr/>
          <p:nvPr/>
        </p:nvSpPr>
        <p:spPr>
          <a:xfrm>
            <a:off x="8217774" y="3267711"/>
            <a:ext cx="2989417" cy="5740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72033"/>
                </a:solidFill>
                <a:latin typeface="Noto Sans KR" pitchFamily="34" charset="0"/>
                <a:ea typeface="Noto Sans KR" pitchFamily="34" charset="-122"/>
                <a:cs typeface="Noto Sans KR" pitchFamily="34" charset="-120"/>
              </a:rPr>
              <a:t>여러 방법론을 함께 적용해볼 수 있는 데이터</a:t>
            </a:r>
            <a:endParaRPr lang="en-US" sz="1600" dirty="0"/>
          </a:p>
        </p:txBody>
      </p:sp>
      <p:sp>
        <p:nvSpPr>
          <p:cNvPr id="15" name="Text 13"/>
          <p:cNvSpPr/>
          <p:nvPr/>
        </p:nvSpPr>
        <p:spPr>
          <a:xfrm>
            <a:off x="8217774" y="3917950"/>
            <a:ext cx="298941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5"/>
                </a:solidFill>
                <a:latin typeface="Noto Sans KR" pitchFamily="34" charset="0"/>
                <a:ea typeface="Noto Sans KR" pitchFamily="34" charset="-122"/>
                <a:cs typeface="Noto Sans KR" pitchFamily="34" charset="-120"/>
              </a:rPr>
              <a:t>이론적으로 배운 내용을 적용하기에 적합</a:t>
            </a:r>
            <a:endParaRPr lang="en-US" sz="1200" dirty="0"/>
          </a:p>
        </p:txBody>
      </p:sp>
      <p:sp>
        <p:nvSpPr>
          <p:cNvPr id="16" name="Text 14"/>
          <p:cNvSpPr/>
          <p:nvPr/>
        </p:nvSpPr>
        <p:spPr>
          <a:xfrm>
            <a:off x="812800" y="6268720"/>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7" name="Text 15"/>
          <p:cNvSpPr/>
          <p:nvPr/>
        </p:nvSpPr>
        <p:spPr>
          <a:xfrm>
            <a:off x="10566400" y="6268720"/>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02 · 분석 과정</a:t>
            </a:r>
            <a:endParaRPr lang="en-US" sz="1200" dirty="0"/>
          </a:p>
        </p:txBody>
      </p:sp>
      <p:sp>
        <p:nvSpPr>
          <p:cNvPr id="3" name="Text 1"/>
          <p:cNvSpPr/>
          <p:nvPr>
            <p:ph type="title"/>
          </p:nvPr>
        </p:nvSpPr>
        <p:spPr>
          <a:xfrm>
            <a:off x="812800" y="88138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분석 과정 요약</a:t>
            </a:r>
            <a:endParaRPr lang="en-US" sz="2400" dirty="0"/>
          </a:p>
        </p:txBody>
      </p:sp>
      <p:sp>
        <p:nvSpPr>
          <p:cNvPr id="4" name="Text 2"/>
          <p:cNvSpPr/>
          <p:nvPr/>
        </p:nvSpPr>
        <p:spPr>
          <a:xfrm>
            <a:off x="812800" y="19024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원본 데이터 컬럼</a:t>
            </a:r>
            <a:endParaRPr lang="en-US" sz="1200" dirty="0"/>
          </a:p>
        </p:txBody>
      </p:sp>
      <p:sp>
        <p:nvSpPr>
          <p:cNvPr id="5" name="Text 3"/>
          <p:cNvSpPr/>
          <p:nvPr/>
        </p:nvSpPr>
        <p:spPr>
          <a:xfrm>
            <a:off x="815975" y="2195195"/>
            <a:ext cx="508714"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Date</a:t>
            </a:r>
            <a:endParaRPr lang="en-US" sz="1200" dirty="0"/>
          </a:p>
        </p:txBody>
      </p:sp>
      <p:sp>
        <p:nvSpPr>
          <p:cNvPr id="6" name="Text 4"/>
          <p:cNvSpPr/>
          <p:nvPr/>
        </p:nvSpPr>
        <p:spPr>
          <a:xfrm>
            <a:off x="1394539" y="2195195"/>
            <a:ext cx="1565196" cy="293370"/>
          </a:xfrm>
          <a:prstGeom prst="roundRect">
            <a:avLst>
              <a:gd name="adj" fmla="val 20563"/>
            </a:avLst>
          </a:prstGeom>
          <a:solidFill>
            <a:srgbClr val="E9EFFC"/>
          </a:solidFill>
          <a:ln w="6350">
            <a:solidFill>
              <a:srgbClr val="C9D7F8"/>
            </a:solidFill>
            <a:prstDash val="solid"/>
          </a:ln>
        </p:spPr>
        <p:txBody>
          <a:bodyPr wrap="none" lIns="0" tIns="0" rIns="0" bIns="0" rtlCol="0" anchor="ctr">
            <a:normAutofit/>
          </a:bodyPr>
          <a:lstStyle/>
          <a:p>
            <a:pPr algn="ctr"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Rented Bike Count</a:t>
            </a:r>
            <a:endParaRPr lang="en-US" sz="1200" dirty="0"/>
          </a:p>
        </p:txBody>
      </p:sp>
      <p:sp>
        <p:nvSpPr>
          <p:cNvPr id="7" name="Text 5"/>
          <p:cNvSpPr/>
          <p:nvPr/>
        </p:nvSpPr>
        <p:spPr>
          <a:xfrm>
            <a:off x="3029585" y="2195195"/>
            <a:ext cx="536575"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Hour</a:t>
            </a:r>
            <a:endParaRPr lang="en-US" sz="1200" dirty="0"/>
          </a:p>
        </p:txBody>
      </p:sp>
      <p:sp>
        <p:nvSpPr>
          <p:cNvPr id="8" name="Text 6"/>
          <p:cNvSpPr/>
          <p:nvPr/>
        </p:nvSpPr>
        <p:spPr>
          <a:xfrm>
            <a:off x="3636010" y="2195195"/>
            <a:ext cx="1094899"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a:t>
            </a:r>
            <a:endParaRPr lang="en-US" sz="1200" dirty="0"/>
          </a:p>
        </p:txBody>
      </p:sp>
      <p:sp>
        <p:nvSpPr>
          <p:cNvPr id="9" name="Text 7"/>
          <p:cNvSpPr/>
          <p:nvPr/>
        </p:nvSpPr>
        <p:spPr>
          <a:xfrm>
            <a:off x="4800759" y="2195195"/>
            <a:ext cx="841375"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Humidity</a:t>
            </a:r>
            <a:endParaRPr lang="en-US" sz="1200" dirty="0"/>
          </a:p>
        </p:txBody>
      </p:sp>
      <p:sp>
        <p:nvSpPr>
          <p:cNvPr id="10" name="Text 8"/>
          <p:cNvSpPr/>
          <p:nvPr/>
        </p:nvSpPr>
        <p:spPr>
          <a:xfrm>
            <a:off x="5711984" y="2195195"/>
            <a:ext cx="1008142"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Wind speed</a:t>
            </a:r>
            <a:endParaRPr lang="en-US" sz="1200" dirty="0"/>
          </a:p>
        </p:txBody>
      </p:sp>
      <p:sp>
        <p:nvSpPr>
          <p:cNvPr id="11" name="Text 9"/>
          <p:cNvSpPr/>
          <p:nvPr/>
        </p:nvSpPr>
        <p:spPr>
          <a:xfrm>
            <a:off x="6789975" y="2195195"/>
            <a:ext cx="782558"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Visibility</a:t>
            </a:r>
            <a:endParaRPr lang="en-US" sz="1200" dirty="0"/>
          </a:p>
        </p:txBody>
      </p:sp>
      <p:sp>
        <p:nvSpPr>
          <p:cNvPr id="12" name="Text 10"/>
          <p:cNvSpPr/>
          <p:nvPr/>
        </p:nvSpPr>
        <p:spPr>
          <a:xfrm>
            <a:off x="7642384" y="2195195"/>
            <a:ext cx="1829356"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Dew point temperature</a:t>
            </a:r>
            <a:endParaRPr lang="en-US" sz="1200" dirty="0"/>
          </a:p>
        </p:txBody>
      </p:sp>
      <p:sp>
        <p:nvSpPr>
          <p:cNvPr id="13" name="Text 11"/>
          <p:cNvSpPr/>
          <p:nvPr/>
        </p:nvSpPr>
        <p:spPr>
          <a:xfrm>
            <a:off x="9541590" y="2195195"/>
            <a:ext cx="1272857"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Solar Radiation</a:t>
            </a:r>
            <a:endParaRPr lang="en-US" sz="1200" dirty="0"/>
          </a:p>
        </p:txBody>
      </p:sp>
      <p:sp>
        <p:nvSpPr>
          <p:cNvPr id="14" name="Text 12"/>
          <p:cNvSpPr/>
          <p:nvPr/>
        </p:nvSpPr>
        <p:spPr>
          <a:xfrm>
            <a:off x="815975" y="2558416"/>
            <a:ext cx="716121"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Rainfall</a:t>
            </a:r>
            <a:endParaRPr lang="en-US" sz="1200" dirty="0"/>
          </a:p>
        </p:txBody>
      </p:sp>
      <p:sp>
        <p:nvSpPr>
          <p:cNvPr id="15" name="Text 13"/>
          <p:cNvSpPr/>
          <p:nvPr/>
        </p:nvSpPr>
        <p:spPr>
          <a:xfrm>
            <a:off x="1601946" y="2558416"/>
            <a:ext cx="797004"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Snowfall</a:t>
            </a:r>
            <a:endParaRPr lang="en-US" sz="1200" dirty="0"/>
          </a:p>
        </p:txBody>
      </p:sp>
      <p:sp>
        <p:nvSpPr>
          <p:cNvPr id="16" name="Text 14"/>
          <p:cNvSpPr/>
          <p:nvPr/>
        </p:nvSpPr>
        <p:spPr>
          <a:xfrm>
            <a:off x="2468801" y="2558416"/>
            <a:ext cx="767715"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Seasons</a:t>
            </a:r>
            <a:endParaRPr lang="en-US" sz="1200" dirty="0"/>
          </a:p>
        </p:txBody>
      </p:sp>
      <p:sp>
        <p:nvSpPr>
          <p:cNvPr id="17" name="Text 15"/>
          <p:cNvSpPr/>
          <p:nvPr/>
        </p:nvSpPr>
        <p:spPr>
          <a:xfrm>
            <a:off x="3306366" y="2558416"/>
            <a:ext cx="729853"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Holiday</a:t>
            </a:r>
            <a:endParaRPr lang="en-US" sz="1200" dirty="0"/>
          </a:p>
        </p:txBody>
      </p:sp>
      <p:sp>
        <p:nvSpPr>
          <p:cNvPr id="18" name="Text 16"/>
          <p:cNvSpPr/>
          <p:nvPr/>
        </p:nvSpPr>
        <p:spPr>
          <a:xfrm>
            <a:off x="4106069" y="2558416"/>
            <a:ext cx="1333421" cy="293370"/>
          </a:xfrm>
          <a:prstGeom prst="roundRect">
            <a:avLst>
              <a:gd name="adj" fmla="val 20563"/>
            </a:avLst>
          </a:prstGeom>
          <a:solidFill>
            <a:srgbClr val="FFFFFF"/>
          </a:solidFill>
          <a:ln w="6350">
            <a:solidFill>
              <a:srgbClr val="E1E5EB"/>
            </a:solidFill>
            <a:prstDash val="solid"/>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Functioning Day</a:t>
            </a:r>
            <a:endParaRPr lang="en-US" sz="1200" dirty="0"/>
          </a:p>
        </p:txBody>
      </p:sp>
      <p:sp>
        <p:nvSpPr>
          <p:cNvPr id="19" name="Shape 17"/>
          <p:cNvSpPr/>
          <p:nvPr/>
        </p:nvSpPr>
        <p:spPr>
          <a:xfrm>
            <a:off x="815975" y="3061336"/>
            <a:ext cx="3414157" cy="1101090"/>
          </a:xfrm>
          <a:prstGeom prst="roundRect">
            <a:avLst>
              <a:gd name="adj" fmla="val 11246"/>
            </a:avLst>
          </a:prstGeom>
          <a:solidFill>
            <a:srgbClr val="FFFFFF"/>
          </a:solidFill>
          <a:ln w="6350">
            <a:solidFill>
              <a:srgbClr val="E1E5EB"/>
            </a:solidFill>
            <a:prstDash val="solid"/>
          </a:ln>
        </p:spPr>
      </p:sp>
      <p:sp>
        <p:nvSpPr>
          <p:cNvPr id="20" name="Text 18"/>
          <p:cNvSpPr/>
          <p:nvPr/>
        </p:nvSpPr>
        <p:spPr>
          <a:xfrm>
            <a:off x="1021080" y="3241041"/>
            <a:ext cx="309406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1</a:t>
            </a:r>
            <a:endParaRPr lang="en-US" sz="1200" dirty="0"/>
          </a:p>
        </p:txBody>
      </p:sp>
      <p:sp>
        <p:nvSpPr>
          <p:cNvPr id="21" name="Text 19"/>
          <p:cNvSpPr/>
          <p:nvPr/>
        </p:nvSpPr>
        <p:spPr>
          <a:xfrm>
            <a:off x="1021080" y="347472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데이터 확인</a:t>
            </a:r>
            <a:endParaRPr lang="en-US" sz="1600" dirty="0"/>
          </a:p>
        </p:txBody>
      </p:sp>
      <p:sp>
        <p:nvSpPr>
          <p:cNvPr id="22" name="Shape 20"/>
          <p:cNvSpPr/>
          <p:nvPr/>
        </p:nvSpPr>
        <p:spPr>
          <a:xfrm>
            <a:off x="4388882" y="3061336"/>
            <a:ext cx="3414157" cy="1101090"/>
          </a:xfrm>
          <a:prstGeom prst="roundRect">
            <a:avLst>
              <a:gd name="adj" fmla="val 11246"/>
            </a:avLst>
          </a:prstGeom>
          <a:solidFill>
            <a:srgbClr val="FFFFFF"/>
          </a:solidFill>
          <a:ln w="6350">
            <a:solidFill>
              <a:srgbClr val="E1E5EB"/>
            </a:solidFill>
            <a:prstDash val="solid"/>
          </a:ln>
        </p:spPr>
      </p:sp>
      <p:sp>
        <p:nvSpPr>
          <p:cNvPr id="23" name="Text 21"/>
          <p:cNvSpPr/>
          <p:nvPr/>
        </p:nvSpPr>
        <p:spPr>
          <a:xfrm>
            <a:off x="4593987" y="3241041"/>
            <a:ext cx="309406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2</a:t>
            </a:r>
            <a:endParaRPr lang="en-US" sz="1200" dirty="0"/>
          </a:p>
        </p:txBody>
      </p:sp>
      <p:sp>
        <p:nvSpPr>
          <p:cNvPr id="24" name="Text 22"/>
          <p:cNvSpPr/>
          <p:nvPr/>
        </p:nvSpPr>
        <p:spPr>
          <a:xfrm>
            <a:off x="4593987" y="347472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EDA</a:t>
            </a:r>
            <a:endParaRPr lang="en-US" sz="1600" dirty="0"/>
          </a:p>
        </p:txBody>
      </p:sp>
      <p:sp>
        <p:nvSpPr>
          <p:cNvPr id="25" name="Text 23"/>
          <p:cNvSpPr/>
          <p:nvPr/>
        </p:nvSpPr>
        <p:spPr>
          <a:xfrm>
            <a:off x="4593987" y="3769361"/>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전체, 범주형, 시간, 기상</a:t>
            </a:r>
            <a:endParaRPr lang="en-US" sz="1200" dirty="0"/>
          </a:p>
        </p:txBody>
      </p:sp>
      <p:sp>
        <p:nvSpPr>
          <p:cNvPr id="26" name="Shape 24"/>
          <p:cNvSpPr/>
          <p:nvPr/>
        </p:nvSpPr>
        <p:spPr>
          <a:xfrm>
            <a:off x="7961789" y="3061336"/>
            <a:ext cx="3414157" cy="1101090"/>
          </a:xfrm>
          <a:prstGeom prst="roundRect">
            <a:avLst>
              <a:gd name="adj" fmla="val 11246"/>
            </a:avLst>
          </a:prstGeom>
          <a:solidFill>
            <a:srgbClr val="FFFFFF"/>
          </a:solidFill>
          <a:ln w="6350">
            <a:solidFill>
              <a:srgbClr val="E1E5EB"/>
            </a:solidFill>
            <a:prstDash val="solid"/>
          </a:ln>
        </p:spPr>
      </p:sp>
      <p:sp>
        <p:nvSpPr>
          <p:cNvPr id="27" name="Text 25"/>
          <p:cNvSpPr/>
          <p:nvPr/>
        </p:nvSpPr>
        <p:spPr>
          <a:xfrm>
            <a:off x="8166894" y="3241041"/>
            <a:ext cx="309406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3</a:t>
            </a:r>
            <a:endParaRPr lang="en-US" sz="1200" dirty="0"/>
          </a:p>
        </p:txBody>
      </p:sp>
      <p:sp>
        <p:nvSpPr>
          <p:cNvPr id="28" name="Text 26"/>
          <p:cNvSpPr/>
          <p:nvPr/>
        </p:nvSpPr>
        <p:spPr>
          <a:xfrm>
            <a:off x="8166894" y="3474720"/>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전처리 / 피처 엔지니어링</a:t>
            </a:r>
            <a:endParaRPr lang="en-US" sz="1600" dirty="0"/>
          </a:p>
        </p:txBody>
      </p:sp>
      <p:sp>
        <p:nvSpPr>
          <p:cNvPr id="29" name="Shape 27"/>
          <p:cNvSpPr/>
          <p:nvPr/>
        </p:nvSpPr>
        <p:spPr>
          <a:xfrm>
            <a:off x="815975" y="4321175"/>
            <a:ext cx="3414157" cy="1101090"/>
          </a:xfrm>
          <a:prstGeom prst="roundRect">
            <a:avLst>
              <a:gd name="adj" fmla="val 11246"/>
            </a:avLst>
          </a:prstGeom>
          <a:solidFill>
            <a:srgbClr val="FFFFFF"/>
          </a:solidFill>
          <a:ln w="6350">
            <a:solidFill>
              <a:srgbClr val="E1E5EB"/>
            </a:solidFill>
            <a:prstDash val="solid"/>
          </a:ln>
        </p:spPr>
      </p:sp>
      <p:sp>
        <p:nvSpPr>
          <p:cNvPr id="30" name="Text 28"/>
          <p:cNvSpPr/>
          <p:nvPr/>
        </p:nvSpPr>
        <p:spPr>
          <a:xfrm>
            <a:off x="1021080" y="4500880"/>
            <a:ext cx="309406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4</a:t>
            </a:r>
            <a:endParaRPr lang="en-US" sz="1200" dirty="0"/>
          </a:p>
        </p:txBody>
      </p:sp>
      <p:sp>
        <p:nvSpPr>
          <p:cNvPr id="31" name="Text 29"/>
          <p:cNvSpPr/>
          <p:nvPr/>
        </p:nvSpPr>
        <p:spPr>
          <a:xfrm>
            <a:off x="1021080" y="473456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Train/Test set 분할</a:t>
            </a:r>
            <a:endParaRPr lang="en-US" sz="1600" dirty="0"/>
          </a:p>
        </p:txBody>
      </p:sp>
      <p:sp>
        <p:nvSpPr>
          <p:cNvPr id="32" name="Shape 30"/>
          <p:cNvSpPr/>
          <p:nvPr/>
        </p:nvSpPr>
        <p:spPr>
          <a:xfrm>
            <a:off x="4388882" y="4321175"/>
            <a:ext cx="3414157" cy="1101090"/>
          </a:xfrm>
          <a:prstGeom prst="roundRect">
            <a:avLst>
              <a:gd name="adj" fmla="val 11246"/>
            </a:avLst>
          </a:prstGeom>
          <a:solidFill>
            <a:srgbClr val="FFFFFF"/>
          </a:solidFill>
          <a:ln w="6350">
            <a:solidFill>
              <a:srgbClr val="E1E5EB"/>
            </a:solidFill>
            <a:prstDash val="solid"/>
          </a:ln>
        </p:spPr>
      </p:sp>
      <p:sp>
        <p:nvSpPr>
          <p:cNvPr id="33" name="Text 31"/>
          <p:cNvSpPr/>
          <p:nvPr/>
        </p:nvSpPr>
        <p:spPr>
          <a:xfrm>
            <a:off x="4593987" y="4500880"/>
            <a:ext cx="309406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5</a:t>
            </a:r>
            <a:endParaRPr lang="en-US" sz="1200" dirty="0"/>
          </a:p>
        </p:txBody>
      </p:sp>
      <p:sp>
        <p:nvSpPr>
          <p:cNvPr id="34" name="Text 32"/>
          <p:cNvSpPr/>
          <p:nvPr/>
        </p:nvSpPr>
        <p:spPr>
          <a:xfrm>
            <a:off x="4593987" y="473456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모델링</a:t>
            </a:r>
            <a:endParaRPr lang="en-US" sz="1600" dirty="0"/>
          </a:p>
        </p:txBody>
      </p:sp>
      <p:sp>
        <p:nvSpPr>
          <p:cNvPr id="35" name="Text 33"/>
          <p:cNvSpPr/>
          <p:nvPr/>
        </p:nvSpPr>
        <p:spPr>
          <a:xfrm>
            <a:off x="4593987" y="50292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베이스라인, 후보 모델</a:t>
            </a:r>
            <a:endParaRPr lang="en-US" sz="1200" dirty="0"/>
          </a:p>
        </p:txBody>
      </p:sp>
      <p:sp>
        <p:nvSpPr>
          <p:cNvPr id="36" name="Shape 34"/>
          <p:cNvSpPr/>
          <p:nvPr/>
        </p:nvSpPr>
        <p:spPr>
          <a:xfrm>
            <a:off x="7961789" y="4321175"/>
            <a:ext cx="3414157" cy="1101090"/>
          </a:xfrm>
          <a:prstGeom prst="roundRect">
            <a:avLst>
              <a:gd name="adj" fmla="val 11246"/>
            </a:avLst>
          </a:prstGeom>
          <a:solidFill>
            <a:srgbClr val="FFFFFF"/>
          </a:solidFill>
          <a:ln w="6350">
            <a:solidFill>
              <a:srgbClr val="E1E5EB"/>
            </a:solidFill>
            <a:prstDash val="solid"/>
          </a:ln>
        </p:spPr>
      </p:sp>
      <p:sp>
        <p:nvSpPr>
          <p:cNvPr id="37" name="Text 35"/>
          <p:cNvSpPr/>
          <p:nvPr/>
        </p:nvSpPr>
        <p:spPr>
          <a:xfrm>
            <a:off x="8166894" y="4500880"/>
            <a:ext cx="309406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457C5"/>
                </a:solidFill>
                <a:latin typeface="Noto Sans KR" pitchFamily="34" charset="0"/>
                <a:ea typeface="Noto Sans KR" pitchFamily="34" charset="-122"/>
                <a:cs typeface="Noto Sans KR" pitchFamily="34" charset="-120"/>
              </a:rPr>
              <a:t>STEP 6</a:t>
            </a:r>
            <a:endParaRPr lang="en-US" sz="1200" dirty="0"/>
          </a:p>
        </p:txBody>
      </p:sp>
      <p:sp>
        <p:nvSpPr>
          <p:cNvPr id="38" name="Text 36"/>
          <p:cNvSpPr/>
          <p:nvPr/>
        </p:nvSpPr>
        <p:spPr>
          <a:xfrm>
            <a:off x="8166894" y="4734561"/>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예측</a:t>
            </a:r>
            <a:endParaRPr lang="en-US" sz="1600" dirty="0"/>
          </a:p>
        </p:txBody>
      </p:sp>
      <p:sp>
        <p:nvSpPr>
          <p:cNvPr id="39" name="Text 37"/>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40" name="Text 38"/>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p:nvPr>
            <p:ph type="title"/>
          </p:nvPr>
        </p:nvSpPr>
        <p:spPr>
          <a:xfrm>
            <a:off x="812800" y="881382"/>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전체 데이터 EDA</a:t>
            </a:r>
            <a:endParaRPr lang="en-US" sz="2400" dirty="0"/>
          </a:p>
        </p:txBody>
      </p:sp>
      <p:sp>
        <p:nvSpPr>
          <p:cNvPr id="4" name="Shape 2"/>
          <p:cNvSpPr/>
          <p:nvPr/>
        </p:nvSpPr>
        <p:spPr>
          <a:xfrm>
            <a:off x="815975" y="2638425"/>
            <a:ext cx="1882537" cy="958850"/>
          </a:xfrm>
          <a:prstGeom prst="roundRect">
            <a:avLst>
              <a:gd name="adj" fmla="val 12914"/>
            </a:avLst>
          </a:prstGeom>
          <a:solidFill>
            <a:srgbClr val="FFFFFF"/>
          </a:solidFill>
          <a:ln w="6350">
            <a:solidFill>
              <a:srgbClr val="E1E5EB"/>
            </a:solidFill>
            <a:prstDash val="solid"/>
          </a:ln>
        </p:spPr>
      </p:sp>
      <p:sp>
        <p:nvSpPr>
          <p:cNvPr id="5" name="Text 3"/>
          <p:cNvSpPr/>
          <p:nvPr/>
        </p:nvSpPr>
        <p:spPr>
          <a:xfrm>
            <a:off x="995680" y="2818132"/>
            <a:ext cx="157392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8,760</a:t>
            </a:r>
            <a:endParaRPr lang="en-US" sz="2400" dirty="0"/>
          </a:p>
        </p:txBody>
      </p:sp>
      <p:sp>
        <p:nvSpPr>
          <p:cNvPr id="6" name="Text 4"/>
          <p:cNvSpPr/>
          <p:nvPr/>
        </p:nvSpPr>
        <p:spPr>
          <a:xfrm>
            <a:off x="995680" y="3204211"/>
            <a:ext cx="15739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개의 행</a:t>
            </a:r>
            <a:endParaRPr lang="en-US" sz="1200" dirty="0"/>
          </a:p>
        </p:txBody>
      </p:sp>
      <p:sp>
        <p:nvSpPr>
          <p:cNvPr id="7" name="Shape 5"/>
          <p:cNvSpPr/>
          <p:nvPr/>
        </p:nvSpPr>
        <p:spPr>
          <a:xfrm>
            <a:off x="2831862" y="2638425"/>
            <a:ext cx="1882537" cy="958850"/>
          </a:xfrm>
          <a:prstGeom prst="roundRect">
            <a:avLst>
              <a:gd name="adj" fmla="val 12914"/>
            </a:avLst>
          </a:prstGeom>
          <a:solidFill>
            <a:srgbClr val="FFFFFF"/>
          </a:solidFill>
          <a:ln w="6350">
            <a:solidFill>
              <a:srgbClr val="E1E5EB"/>
            </a:solidFill>
            <a:prstDash val="solid"/>
          </a:ln>
        </p:spPr>
      </p:sp>
      <p:sp>
        <p:nvSpPr>
          <p:cNvPr id="8" name="Text 6"/>
          <p:cNvSpPr/>
          <p:nvPr/>
        </p:nvSpPr>
        <p:spPr>
          <a:xfrm>
            <a:off x="3011567" y="2818132"/>
            <a:ext cx="157392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없음</a:t>
            </a:r>
            <a:endParaRPr lang="en-US" sz="2400" dirty="0"/>
          </a:p>
        </p:txBody>
      </p:sp>
      <p:sp>
        <p:nvSpPr>
          <p:cNvPr id="9" name="Text 7"/>
          <p:cNvSpPr/>
          <p:nvPr/>
        </p:nvSpPr>
        <p:spPr>
          <a:xfrm>
            <a:off x="3011567" y="3204211"/>
            <a:ext cx="15739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결측값</a:t>
            </a:r>
            <a:endParaRPr lang="en-US" sz="1200" dirty="0"/>
          </a:p>
        </p:txBody>
      </p:sp>
      <p:sp>
        <p:nvSpPr>
          <p:cNvPr id="10" name="Shape 8"/>
          <p:cNvSpPr/>
          <p:nvPr/>
        </p:nvSpPr>
        <p:spPr>
          <a:xfrm>
            <a:off x="4847749" y="2638425"/>
            <a:ext cx="1882616" cy="958850"/>
          </a:xfrm>
          <a:prstGeom prst="roundRect">
            <a:avLst>
              <a:gd name="adj" fmla="val 12914"/>
            </a:avLst>
          </a:prstGeom>
          <a:solidFill>
            <a:srgbClr val="FFFFFF"/>
          </a:solidFill>
          <a:ln w="6350">
            <a:solidFill>
              <a:srgbClr val="E1E5EB"/>
            </a:solidFill>
            <a:prstDash val="solid"/>
          </a:ln>
        </p:spPr>
      </p:sp>
      <p:sp>
        <p:nvSpPr>
          <p:cNvPr id="11" name="Text 9"/>
          <p:cNvSpPr/>
          <p:nvPr/>
        </p:nvSpPr>
        <p:spPr>
          <a:xfrm>
            <a:off x="5027454" y="2818132"/>
            <a:ext cx="1574006"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없음</a:t>
            </a:r>
            <a:endParaRPr lang="en-US" sz="2400" dirty="0"/>
          </a:p>
        </p:txBody>
      </p:sp>
      <p:sp>
        <p:nvSpPr>
          <p:cNvPr id="12" name="Text 10"/>
          <p:cNvSpPr/>
          <p:nvPr/>
        </p:nvSpPr>
        <p:spPr>
          <a:xfrm>
            <a:off x="5027454" y="3204211"/>
            <a:ext cx="15740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중복값</a:t>
            </a:r>
            <a:endParaRPr lang="en-US" sz="1200" dirty="0"/>
          </a:p>
        </p:txBody>
      </p:sp>
      <p:sp>
        <p:nvSpPr>
          <p:cNvPr id="13" name="Shape 11"/>
          <p:cNvSpPr/>
          <p:nvPr/>
        </p:nvSpPr>
        <p:spPr>
          <a:xfrm>
            <a:off x="815975" y="3730625"/>
            <a:ext cx="1882537" cy="958850"/>
          </a:xfrm>
          <a:prstGeom prst="roundRect">
            <a:avLst>
              <a:gd name="adj" fmla="val 12914"/>
            </a:avLst>
          </a:prstGeom>
          <a:solidFill>
            <a:srgbClr val="FFFFFF"/>
          </a:solidFill>
          <a:ln w="6350">
            <a:solidFill>
              <a:srgbClr val="E1E5EB"/>
            </a:solidFill>
            <a:prstDash val="solid"/>
          </a:ln>
        </p:spPr>
      </p:sp>
      <p:sp>
        <p:nvSpPr>
          <p:cNvPr id="14" name="Text 12"/>
          <p:cNvSpPr/>
          <p:nvPr/>
        </p:nvSpPr>
        <p:spPr>
          <a:xfrm>
            <a:off x="995680" y="3910332"/>
            <a:ext cx="157392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72033"/>
                </a:solidFill>
                <a:latin typeface="Noto Sans KR" pitchFamily="34" charset="0"/>
                <a:ea typeface="Noto Sans KR" pitchFamily="34" charset="-122"/>
                <a:cs typeface="Noto Sans KR" pitchFamily="34" charset="-120"/>
              </a:rPr>
              <a:t>4개</a:t>
            </a:r>
            <a:endParaRPr lang="en-US" sz="2400" dirty="0"/>
          </a:p>
        </p:txBody>
      </p:sp>
      <p:sp>
        <p:nvSpPr>
          <p:cNvPr id="15" name="Text 13"/>
          <p:cNvSpPr/>
          <p:nvPr/>
        </p:nvSpPr>
        <p:spPr>
          <a:xfrm>
            <a:off x="995680" y="4296411"/>
            <a:ext cx="15739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문자형 데이터</a:t>
            </a:r>
            <a:endParaRPr lang="en-US" sz="1200" dirty="0"/>
          </a:p>
        </p:txBody>
      </p:sp>
      <p:sp>
        <p:nvSpPr>
          <p:cNvPr id="16" name="Shape 14"/>
          <p:cNvSpPr/>
          <p:nvPr/>
        </p:nvSpPr>
        <p:spPr>
          <a:xfrm>
            <a:off x="2831862" y="3730625"/>
            <a:ext cx="1882537" cy="958850"/>
          </a:xfrm>
          <a:prstGeom prst="roundRect">
            <a:avLst>
              <a:gd name="adj" fmla="val 12914"/>
            </a:avLst>
          </a:prstGeom>
          <a:solidFill>
            <a:srgbClr val="FFFFFF"/>
          </a:solidFill>
          <a:ln w="6350">
            <a:solidFill>
              <a:srgbClr val="E1E5EB"/>
            </a:solidFill>
            <a:prstDash val="solid"/>
          </a:ln>
        </p:spPr>
      </p:sp>
      <p:sp>
        <p:nvSpPr>
          <p:cNvPr id="17" name="Text 15"/>
          <p:cNvSpPr/>
          <p:nvPr/>
        </p:nvSpPr>
        <p:spPr>
          <a:xfrm>
            <a:off x="3011567" y="3910332"/>
            <a:ext cx="157392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72033"/>
                </a:solidFill>
                <a:latin typeface="Noto Sans KR" pitchFamily="34" charset="0"/>
                <a:ea typeface="Noto Sans KR" pitchFamily="34" charset="-122"/>
                <a:cs typeface="Noto Sans KR" pitchFamily="34" charset="-120"/>
              </a:rPr>
              <a:t>4개</a:t>
            </a:r>
            <a:endParaRPr lang="en-US" sz="2400" dirty="0"/>
          </a:p>
        </p:txBody>
      </p:sp>
      <p:sp>
        <p:nvSpPr>
          <p:cNvPr id="18" name="Text 16"/>
          <p:cNvSpPr/>
          <p:nvPr/>
        </p:nvSpPr>
        <p:spPr>
          <a:xfrm>
            <a:off x="3011567" y="4296411"/>
            <a:ext cx="15739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정수형</a:t>
            </a:r>
            <a:endParaRPr lang="en-US" sz="1200" dirty="0"/>
          </a:p>
        </p:txBody>
      </p:sp>
      <p:sp>
        <p:nvSpPr>
          <p:cNvPr id="19" name="Shape 17"/>
          <p:cNvSpPr/>
          <p:nvPr/>
        </p:nvSpPr>
        <p:spPr>
          <a:xfrm>
            <a:off x="4847749" y="3730625"/>
            <a:ext cx="1882616" cy="958850"/>
          </a:xfrm>
          <a:prstGeom prst="roundRect">
            <a:avLst>
              <a:gd name="adj" fmla="val 12914"/>
            </a:avLst>
          </a:prstGeom>
          <a:solidFill>
            <a:srgbClr val="FFFFFF"/>
          </a:solidFill>
          <a:ln w="6350">
            <a:solidFill>
              <a:srgbClr val="E1E5EB"/>
            </a:solidFill>
            <a:prstDash val="solid"/>
          </a:ln>
        </p:spPr>
      </p:sp>
      <p:sp>
        <p:nvSpPr>
          <p:cNvPr id="20" name="Text 18"/>
          <p:cNvSpPr/>
          <p:nvPr/>
        </p:nvSpPr>
        <p:spPr>
          <a:xfrm>
            <a:off x="5027454" y="3910332"/>
            <a:ext cx="1574006"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72033"/>
                </a:solidFill>
                <a:latin typeface="Noto Sans KR" pitchFamily="34" charset="0"/>
                <a:ea typeface="Noto Sans KR" pitchFamily="34" charset="-122"/>
                <a:cs typeface="Noto Sans KR" pitchFamily="34" charset="-120"/>
              </a:rPr>
              <a:t>6개</a:t>
            </a:r>
            <a:endParaRPr lang="en-US" sz="2400" dirty="0"/>
          </a:p>
        </p:txBody>
      </p:sp>
      <p:sp>
        <p:nvSpPr>
          <p:cNvPr id="21" name="Text 19"/>
          <p:cNvSpPr/>
          <p:nvPr/>
        </p:nvSpPr>
        <p:spPr>
          <a:xfrm>
            <a:off x="5027454" y="4296411"/>
            <a:ext cx="15740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실수형</a:t>
            </a:r>
            <a:endParaRPr lang="en-US" sz="1200" dirty="0"/>
          </a:p>
        </p:txBody>
      </p:sp>
      <p:sp>
        <p:nvSpPr>
          <p:cNvPr id="22" name="Shape 20"/>
          <p:cNvSpPr/>
          <p:nvPr/>
        </p:nvSpPr>
        <p:spPr>
          <a:xfrm>
            <a:off x="7041515" y="1820546"/>
            <a:ext cx="4334510" cy="3686810"/>
          </a:xfrm>
          <a:prstGeom prst="roundRect">
            <a:avLst>
              <a:gd name="adj" fmla="val 3359"/>
            </a:avLst>
          </a:prstGeom>
          <a:solidFill>
            <a:srgbClr val="FFFFFF"/>
          </a:solidFill>
          <a:ln w="6350">
            <a:solidFill>
              <a:srgbClr val="E1E5EB"/>
            </a:solidFill>
            <a:prstDash val="solid"/>
          </a:ln>
        </p:spPr>
      </p:sp>
      <p:pic>
        <p:nvPicPr>
          <p:cNvPr id="23" name="Image 0" descr="df.info() 출력: 14개 컬럼 모두 8760 non-null, float64 6개, int64 4개, str 4개">    </p:cNvPr>
          <p:cNvPicPr>
            <a:picLocks noChangeAspect="1"/>
          </p:cNvPicPr>
          <p:nvPr/>
        </p:nvPicPr>
        <p:blipFill>
          <a:blip r:embed="rId1"/>
          <a:srcRect l="-1" r="-1" t="0" b="0"/>
          <a:stretch/>
        </p:blipFill>
        <p:spPr>
          <a:xfrm>
            <a:off x="7170420" y="1949450"/>
            <a:ext cx="4076700" cy="3429000"/>
          </a:xfrm>
          <a:prstGeom prst="rect">
            <a:avLst/>
          </a:prstGeom>
        </p:spPr>
      </p:pic>
      <p:sp>
        <p:nvSpPr>
          <p:cNvPr id="24" name="Text 21"/>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5" name="Text 22"/>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 · 전체 데이터</a:t>
            </a:r>
            <a:endParaRPr lang="en-US" sz="1200" dirty="0"/>
          </a:p>
        </p:txBody>
      </p:sp>
      <p:sp>
        <p:nvSpPr>
          <p:cNvPr id="3" name="Text 1"/>
          <p:cNvSpPr/>
          <p:nvPr>
            <p:ph type="title"/>
          </p:nvPr>
        </p:nvSpPr>
        <p:spPr>
          <a:xfrm>
            <a:off x="812800" y="881382"/>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이상치 확인</a:t>
            </a:r>
            <a:endParaRPr lang="en-US" sz="2400" dirty="0"/>
          </a:p>
        </p:txBody>
      </p:sp>
      <p:sp>
        <p:nvSpPr>
          <p:cNvPr id="4" name="Shape 2"/>
          <p:cNvSpPr/>
          <p:nvPr/>
        </p:nvSpPr>
        <p:spPr>
          <a:xfrm>
            <a:off x="815975" y="2507614"/>
            <a:ext cx="3803650" cy="2312670"/>
          </a:xfrm>
          <a:prstGeom prst="roundRect">
            <a:avLst>
              <a:gd name="adj" fmla="val 5354"/>
            </a:avLst>
          </a:prstGeom>
          <a:solidFill>
            <a:srgbClr val="FFFFFF"/>
          </a:solidFill>
          <a:ln w="6350">
            <a:solidFill>
              <a:srgbClr val="E1E5EB"/>
            </a:solidFill>
            <a:prstDash val="solid"/>
          </a:ln>
        </p:spPr>
      </p:sp>
      <p:sp>
        <p:nvSpPr>
          <p:cNvPr id="5" name="Text 3"/>
          <p:cNvSpPr/>
          <p:nvPr/>
        </p:nvSpPr>
        <p:spPr>
          <a:xfrm>
            <a:off x="1071880" y="2763521"/>
            <a:ext cx="339059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이상치 개수</a:t>
            </a:r>
            <a:endParaRPr lang="en-US" sz="1200" dirty="0"/>
          </a:p>
        </p:txBody>
      </p:sp>
      <p:sp>
        <p:nvSpPr>
          <p:cNvPr id="6" name="Text 4"/>
          <p:cNvSpPr/>
          <p:nvPr/>
        </p:nvSpPr>
        <p:spPr>
          <a:xfrm>
            <a:off x="1071880" y="3103882"/>
            <a:ext cx="3390595"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457C5"/>
                </a:solidFill>
                <a:latin typeface="Noto Sans KR" pitchFamily="34" charset="0"/>
                <a:ea typeface="Noto Sans KR" pitchFamily="34" charset="-122"/>
                <a:cs typeface="Noto Sans KR" pitchFamily="34" charset="-120"/>
              </a:rPr>
              <a:t>158개</a:t>
            </a:r>
            <a:endParaRPr lang="en-US" sz="4400" dirty="0"/>
          </a:p>
        </p:txBody>
      </p:sp>
      <p:sp>
        <p:nvSpPr>
          <p:cNvPr id="7" name="Shape 5"/>
          <p:cNvSpPr/>
          <p:nvPr/>
        </p:nvSpPr>
        <p:spPr>
          <a:xfrm>
            <a:off x="1071880" y="3845561"/>
            <a:ext cx="3291840" cy="718820"/>
          </a:xfrm>
          <a:prstGeom prst="roundRect">
            <a:avLst>
              <a:gd name="adj" fmla="val 10601"/>
            </a:avLst>
          </a:prstGeom>
          <a:solidFill>
            <a:srgbClr val="F5F6F8"/>
          </a:solidFill>
          <a:ln/>
        </p:spPr>
      </p:sp>
      <p:sp>
        <p:nvSpPr>
          <p:cNvPr id="8" name="Text 6"/>
          <p:cNvSpPr/>
          <p:nvPr/>
        </p:nvSpPr>
        <p:spPr>
          <a:xfrm>
            <a:off x="1224280" y="3972561"/>
            <a:ext cx="30766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lower_bound = Q1 - 1.5 * IQR</a:t>
            </a:r>
            <a:endParaRPr lang="en-US" sz="1200" dirty="0"/>
          </a:p>
        </p:txBody>
      </p:sp>
      <p:sp>
        <p:nvSpPr>
          <p:cNvPr id="9" name="Text 7"/>
          <p:cNvSpPr/>
          <p:nvPr/>
        </p:nvSpPr>
        <p:spPr>
          <a:xfrm>
            <a:off x="1224280" y="4224021"/>
            <a:ext cx="30766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upper_bound = Q3 + 1.5 * IQR</a:t>
            </a:r>
            <a:endParaRPr lang="en-US" sz="1200" dirty="0"/>
          </a:p>
        </p:txBody>
      </p:sp>
      <p:sp>
        <p:nvSpPr>
          <p:cNvPr id="10" name="Shape 8"/>
          <p:cNvSpPr/>
          <p:nvPr/>
        </p:nvSpPr>
        <p:spPr>
          <a:xfrm>
            <a:off x="4829175" y="2392046"/>
            <a:ext cx="6546850" cy="557530"/>
          </a:xfrm>
          <a:prstGeom prst="roundRect">
            <a:avLst>
              <a:gd name="adj" fmla="val 17654"/>
            </a:avLst>
          </a:prstGeom>
          <a:solidFill>
            <a:srgbClr val="FFFFFF"/>
          </a:solidFill>
          <a:ln w="6350">
            <a:solidFill>
              <a:srgbClr val="E1E5EB"/>
            </a:solidFill>
            <a:prstDash val="solid"/>
          </a:ln>
        </p:spPr>
      </p:sp>
      <p:sp>
        <p:nvSpPr>
          <p:cNvPr id="11" name="Text 9"/>
          <p:cNvSpPr/>
          <p:nvPr/>
        </p:nvSpPr>
        <p:spPr>
          <a:xfrm>
            <a:off x="5034280" y="2564132"/>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1</a:t>
            </a:r>
            <a:endParaRPr lang="en-US" sz="1200" dirty="0"/>
          </a:p>
        </p:txBody>
      </p:sp>
      <p:sp>
        <p:nvSpPr>
          <p:cNvPr id="12" name="Text 10"/>
          <p:cNvSpPr/>
          <p:nvPr/>
        </p:nvSpPr>
        <p:spPr>
          <a:xfrm>
            <a:off x="5440680" y="2546350"/>
            <a:ext cx="59021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Noto Sans KR" pitchFamily="34" charset="0"/>
                <a:ea typeface="Noto Sans KR" pitchFamily="34" charset="-122"/>
                <a:cs typeface="Noto Sans KR" pitchFamily="34" charset="-120"/>
              </a:rPr>
              <a:t>변수값 확인</a:t>
            </a:r>
            <a:endParaRPr lang="en-US" sz="1400" dirty="0"/>
          </a:p>
        </p:txBody>
      </p:sp>
      <p:sp>
        <p:nvSpPr>
          <p:cNvPr id="13" name="Shape 11"/>
          <p:cNvSpPr/>
          <p:nvPr/>
        </p:nvSpPr>
        <p:spPr>
          <a:xfrm>
            <a:off x="4829175" y="3057525"/>
            <a:ext cx="6546850" cy="557530"/>
          </a:xfrm>
          <a:prstGeom prst="roundRect">
            <a:avLst>
              <a:gd name="adj" fmla="val 17654"/>
            </a:avLst>
          </a:prstGeom>
          <a:solidFill>
            <a:srgbClr val="FFFFFF"/>
          </a:solidFill>
          <a:ln w="6350">
            <a:solidFill>
              <a:srgbClr val="E1E5EB"/>
            </a:solidFill>
            <a:prstDash val="solid"/>
          </a:ln>
        </p:spPr>
      </p:sp>
      <p:sp>
        <p:nvSpPr>
          <p:cNvPr id="14" name="Text 12"/>
          <p:cNvSpPr/>
          <p:nvPr/>
        </p:nvSpPr>
        <p:spPr>
          <a:xfrm>
            <a:off x="5034280" y="3229611"/>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2</a:t>
            </a:r>
            <a:endParaRPr lang="en-US" sz="1200" dirty="0"/>
          </a:p>
        </p:txBody>
      </p:sp>
      <p:sp>
        <p:nvSpPr>
          <p:cNvPr id="15" name="Text 13"/>
          <p:cNvSpPr/>
          <p:nvPr/>
        </p:nvSpPr>
        <p:spPr>
          <a:xfrm>
            <a:off x="5440680" y="3211832"/>
            <a:ext cx="59021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Noto Sans KR" pitchFamily="34" charset="0"/>
                <a:ea typeface="Noto Sans KR" pitchFamily="34" charset="-122"/>
                <a:cs typeface="Noto Sans KR" pitchFamily="34" charset="-120"/>
              </a:rPr>
              <a:t>특정 시간대, 특정 계절에 몰려있음 확인</a:t>
            </a:r>
            <a:endParaRPr lang="en-US" sz="1400" dirty="0"/>
          </a:p>
        </p:txBody>
      </p:sp>
      <p:sp>
        <p:nvSpPr>
          <p:cNvPr id="16" name="Shape 14"/>
          <p:cNvSpPr/>
          <p:nvPr/>
        </p:nvSpPr>
        <p:spPr>
          <a:xfrm>
            <a:off x="4829175" y="3723007"/>
            <a:ext cx="6546850" cy="557530"/>
          </a:xfrm>
          <a:prstGeom prst="roundRect">
            <a:avLst>
              <a:gd name="adj" fmla="val 17654"/>
            </a:avLst>
          </a:prstGeom>
          <a:solidFill>
            <a:srgbClr val="FFFFFF"/>
          </a:solidFill>
          <a:ln w="6350">
            <a:solidFill>
              <a:srgbClr val="E1E5EB"/>
            </a:solidFill>
            <a:prstDash val="solid"/>
          </a:ln>
        </p:spPr>
      </p:sp>
      <p:sp>
        <p:nvSpPr>
          <p:cNvPr id="17" name="Text 15"/>
          <p:cNvSpPr/>
          <p:nvPr/>
        </p:nvSpPr>
        <p:spPr>
          <a:xfrm>
            <a:off x="5034280" y="3895089"/>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3</a:t>
            </a:r>
            <a:endParaRPr lang="en-US" sz="1200" dirty="0"/>
          </a:p>
        </p:txBody>
      </p:sp>
      <p:sp>
        <p:nvSpPr>
          <p:cNvPr id="18" name="Text 16"/>
          <p:cNvSpPr/>
          <p:nvPr/>
        </p:nvSpPr>
        <p:spPr>
          <a:xfrm>
            <a:off x="5440680" y="3877311"/>
            <a:ext cx="59021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Noto Sans KR" pitchFamily="34" charset="0"/>
                <a:ea typeface="Noto Sans KR" pitchFamily="34" charset="-122"/>
                <a:cs typeface="Noto Sans KR" pitchFamily="34" charset="-120"/>
              </a:rPr>
              <a:t>정상적인 피크 수요로 결론</a:t>
            </a:r>
            <a:endParaRPr lang="en-US" sz="1400" dirty="0"/>
          </a:p>
        </p:txBody>
      </p:sp>
      <p:sp>
        <p:nvSpPr>
          <p:cNvPr id="19" name="Shape 17"/>
          <p:cNvSpPr/>
          <p:nvPr/>
        </p:nvSpPr>
        <p:spPr>
          <a:xfrm>
            <a:off x="4826000" y="4385311"/>
            <a:ext cx="6553200" cy="553720"/>
          </a:xfrm>
          <a:prstGeom prst="roundRect">
            <a:avLst>
              <a:gd name="adj" fmla="val 18349"/>
            </a:avLst>
          </a:prstGeom>
          <a:solidFill>
            <a:srgbClr val="E9EFFC"/>
          </a:solidFill>
          <a:ln/>
        </p:spPr>
      </p:sp>
      <p:sp>
        <p:nvSpPr>
          <p:cNvPr id="20" name="Text 18"/>
          <p:cNvSpPr/>
          <p:nvPr/>
        </p:nvSpPr>
        <p:spPr>
          <a:xfrm>
            <a:off x="5029200" y="4555489"/>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a:t>
            </a:r>
            <a:endParaRPr lang="en-US" sz="1200" dirty="0"/>
          </a:p>
        </p:txBody>
      </p:sp>
      <p:sp>
        <p:nvSpPr>
          <p:cNvPr id="21" name="Text 19"/>
          <p:cNvSpPr/>
          <p:nvPr/>
        </p:nvSpPr>
        <p:spPr>
          <a:xfrm>
            <a:off x="5435600" y="4537711"/>
            <a:ext cx="591261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제거 X</a:t>
            </a:r>
            <a:endParaRPr lang="en-US" sz="1400" dirty="0"/>
          </a:p>
        </p:txBody>
      </p:sp>
      <p:sp>
        <p:nvSpPr>
          <p:cNvPr id="22" name="Text 20"/>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3" name="Text 21"/>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 · 전체 데이터</a:t>
            </a:r>
            <a:endParaRPr lang="en-US" sz="1200" dirty="0"/>
          </a:p>
        </p:txBody>
      </p:sp>
      <p:sp>
        <p:nvSpPr>
          <p:cNvPr id="3" name="Text 1"/>
          <p:cNvSpPr/>
          <p:nvPr>
            <p:ph type="title"/>
          </p:nvPr>
        </p:nvSpPr>
        <p:spPr>
          <a:xfrm>
            <a:off x="812800" y="881382"/>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종속 변수 분포</a:t>
            </a:r>
            <a:endParaRPr lang="en-US" sz="2400" dirty="0"/>
          </a:p>
        </p:txBody>
      </p:sp>
      <p:sp>
        <p:nvSpPr>
          <p:cNvPr id="4" name="Text 2"/>
          <p:cNvSpPr/>
          <p:nvPr/>
        </p:nvSpPr>
        <p:spPr>
          <a:xfrm>
            <a:off x="812800" y="1718311"/>
            <a:ext cx="10566400" cy="553720"/>
          </a:xfrm>
          <a:prstGeom prst="roundRect">
            <a:avLst>
              <a:gd name="adj" fmla="val 18349"/>
            </a:avLst>
          </a:prstGeom>
          <a:solidFill>
            <a:srgbClr val="E9EFFC"/>
          </a:solidFill>
          <a:ln/>
        </p:spPr>
        <p:txBody>
          <a:bodyPr wrap="square" lIns="173442" tIns="122642" rIns="0" bIns="97242"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Skewness = 1.139 → 제곱근변환 필요</a:t>
            </a:r>
            <a:endParaRPr lang="en-US" sz="1400" dirty="0"/>
          </a:p>
        </p:txBody>
      </p:sp>
      <p:sp>
        <p:nvSpPr>
          <p:cNvPr id="5" name="Shape 3"/>
          <p:cNvSpPr/>
          <p:nvPr/>
        </p:nvSpPr>
        <p:spPr>
          <a:xfrm>
            <a:off x="1536065" y="2427607"/>
            <a:ext cx="4728210" cy="3178810"/>
          </a:xfrm>
          <a:prstGeom prst="roundRect">
            <a:avLst>
              <a:gd name="adj" fmla="val 3895"/>
            </a:avLst>
          </a:prstGeom>
          <a:solidFill>
            <a:srgbClr val="FFFFFF"/>
          </a:solidFill>
          <a:ln w="6350">
            <a:solidFill>
              <a:srgbClr val="E1E5EB"/>
            </a:solidFill>
            <a:prstDash val="solid"/>
          </a:ln>
        </p:spPr>
      </p:sp>
      <p:pic>
        <p:nvPicPr>
          <p:cNvPr id="6" name="Image 0" descr="Rented Bike Count 분포 히스토그램: 오른쪽으로 꼬리가 긴 분포">    </p:cNvPr>
          <p:cNvPicPr>
            <a:picLocks noChangeAspect="1"/>
          </p:cNvPicPr>
          <p:nvPr/>
        </p:nvPicPr>
        <p:blipFill>
          <a:blip r:embed="rId1"/>
          <a:srcRect l="-17" r="-17" t="0" b="0"/>
          <a:stretch/>
        </p:blipFill>
        <p:spPr>
          <a:xfrm>
            <a:off x="1664970" y="2556511"/>
            <a:ext cx="4470400" cy="2921000"/>
          </a:xfrm>
          <a:prstGeom prst="rect">
            <a:avLst/>
          </a:prstGeom>
        </p:spPr>
      </p:pic>
      <p:sp>
        <p:nvSpPr>
          <p:cNvPr id="7" name="Shape 4"/>
          <p:cNvSpPr/>
          <p:nvPr/>
        </p:nvSpPr>
        <p:spPr>
          <a:xfrm>
            <a:off x="6473825" y="2427607"/>
            <a:ext cx="4182110" cy="3178810"/>
          </a:xfrm>
          <a:prstGeom prst="roundRect">
            <a:avLst>
              <a:gd name="adj" fmla="val 3895"/>
            </a:avLst>
          </a:prstGeom>
          <a:solidFill>
            <a:srgbClr val="FFFFFF"/>
          </a:solidFill>
          <a:ln w="6350">
            <a:solidFill>
              <a:srgbClr val="E1E5EB"/>
            </a:solidFill>
            <a:prstDash val="solid"/>
          </a:ln>
        </p:spPr>
      </p:sp>
      <p:pic>
        <p:nvPicPr>
          <p:cNvPr id="8" name="Image 1" descr="Rented Bike Count 박스플롯: 상단에 이상치가 몰려 있음">    </p:cNvPr>
          <p:cNvPicPr>
            <a:picLocks noChangeAspect="1"/>
          </p:cNvPicPr>
          <p:nvPr/>
        </p:nvPicPr>
        <p:blipFill>
          <a:blip r:embed="rId2"/>
          <a:srcRect l="0" r="0" t="-19" b="-19"/>
          <a:stretch/>
        </p:blipFill>
        <p:spPr>
          <a:xfrm>
            <a:off x="6602730" y="2556511"/>
            <a:ext cx="3924300" cy="2921000"/>
          </a:xfrm>
          <a:prstGeom prst="rect">
            <a:avLst/>
          </a:prstGeom>
        </p:spPr>
      </p:pic>
      <p:sp>
        <p:nvSpPr>
          <p:cNvPr id="9" name="Text 5"/>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0" name="Text 6"/>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p:nvPr>
            <p:ph type="title"/>
          </p:nvPr>
        </p:nvSpPr>
        <p:spPr>
          <a:xfrm>
            <a:off x="812800" y="881382"/>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Time</a:t>
            </a:r>
            <a:endParaRPr lang="en-US" sz="2400" dirty="0"/>
          </a:p>
        </p:txBody>
      </p:sp>
      <p:sp>
        <p:nvSpPr>
          <p:cNvPr id="4" name="Shape 2"/>
          <p:cNvSpPr/>
          <p:nvPr/>
        </p:nvSpPr>
        <p:spPr>
          <a:xfrm>
            <a:off x="815975" y="1489075"/>
            <a:ext cx="5175250" cy="2670810"/>
          </a:xfrm>
          <a:prstGeom prst="roundRect">
            <a:avLst>
              <a:gd name="adj" fmla="val 4636"/>
            </a:avLst>
          </a:prstGeom>
          <a:solidFill>
            <a:srgbClr val="FFFFFF"/>
          </a:solidFill>
          <a:ln w="6350">
            <a:solidFill>
              <a:srgbClr val="E1E5EB"/>
            </a:solidFill>
            <a:prstDash val="solid"/>
          </a:ln>
        </p:spPr>
      </p:sp>
      <p:pic>
        <p:nvPicPr>
          <p:cNvPr id="5" name="Image 0" descr="시간대별 평균 대여량 선 그래프: 8시와 18시에 피크">    </p:cNvPr>
          <p:cNvPicPr>
            <a:picLocks noChangeAspect="1"/>
          </p:cNvPicPr>
          <p:nvPr/>
        </p:nvPicPr>
        <p:blipFill>
          <a:blip r:embed="rId1"/>
          <a:srcRect l="-142" r="-142" t="0" b="0"/>
          <a:stretch/>
        </p:blipFill>
        <p:spPr>
          <a:xfrm>
            <a:off x="958850" y="1617982"/>
            <a:ext cx="4889500" cy="2413000"/>
          </a:xfrm>
          <a:prstGeom prst="rect">
            <a:avLst/>
          </a:prstGeom>
        </p:spPr>
      </p:pic>
      <p:sp>
        <p:nvSpPr>
          <p:cNvPr id="6" name="Text 3"/>
          <p:cNvSpPr/>
          <p:nvPr/>
        </p:nvSpPr>
        <p:spPr>
          <a:xfrm>
            <a:off x="812800" y="4290064"/>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시간대별 평균 대여량</a:t>
            </a:r>
            <a:endParaRPr lang="en-US" sz="1600" dirty="0"/>
          </a:p>
        </p:txBody>
      </p:sp>
      <p:sp>
        <p:nvSpPr>
          <p:cNvPr id="7" name="Text 4"/>
          <p:cNvSpPr/>
          <p:nvPr/>
        </p:nvSpPr>
        <p:spPr>
          <a:xfrm>
            <a:off x="812800" y="45847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8시, 18시 수요가 뚜렷한 피크를 보이는 이중봉 형태</a:t>
            </a:r>
            <a:endParaRPr lang="en-US" sz="1200" dirty="0"/>
          </a:p>
        </p:txBody>
      </p:sp>
      <p:sp>
        <p:nvSpPr>
          <p:cNvPr id="8" name="Shape 5"/>
          <p:cNvSpPr/>
          <p:nvPr/>
        </p:nvSpPr>
        <p:spPr>
          <a:xfrm>
            <a:off x="6200775" y="1489075"/>
            <a:ext cx="5175250" cy="2670810"/>
          </a:xfrm>
          <a:prstGeom prst="roundRect">
            <a:avLst>
              <a:gd name="adj" fmla="val 4636"/>
            </a:avLst>
          </a:prstGeom>
          <a:solidFill>
            <a:srgbClr val="FFFFFF"/>
          </a:solidFill>
          <a:ln w="6350">
            <a:solidFill>
              <a:srgbClr val="E1E5EB"/>
            </a:solidFill>
            <a:prstDash val="solid"/>
          </a:ln>
        </p:spPr>
      </p:sp>
      <p:pic>
        <p:nvPicPr>
          <p:cNvPr id="9" name="Image 1" descr="계절별 시간대 대여량 선 그래프: 여름이 저녁 시간대에 가장 높고 겨울이 전 시간대에서 가장 낮음">    </p:cNvPr>
          <p:cNvPicPr>
            <a:picLocks noChangeAspect="1"/>
          </p:cNvPicPr>
          <p:nvPr/>
        </p:nvPicPr>
        <p:blipFill>
          <a:blip r:embed="rId2"/>
          <a:srcRect l="0" r="0" t="-411" b="-411"/>
          <a:stretch/>
        </p:blipFill>
        <p:spPr>
          <a:xfrm>
            <a:off x="6343650" y="1617982"/>
            <a:ext cx="4889500" cy="2413000"/>
          </a:xfrm>
          <a:prstGeom prst="rect">
            <a:avLst/>
          </a:prstGeom>
        </p:spPr>
      </p:pic>
      <p:sp>
        <p:nvSpPr>
          <p:cNvPr id="10" name="Text 6"/>
          <p:cNvSpPr/>
          <p:nvPr/>
        </p:nvSpPr>
        <p:spPr>
          <a:xfrm>
            <a:off x="6197600" y="4290064"/>
            <a:ext cx="533704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계절별 시간대 대여량</a:t>
            </a:r>
            <a:endParaRPr lang="en-US" sz="1600" dirty="0"/>
          </a:p>
        </p:txBody>
      </p:sp>
      <p:sp>
        <p:nvSpPr>
          <p:cNvPr id="11" name="Text 7"/>
          <p:cNvSpPr/>
          <p:nvPr/>
        </p:nvSpPr>
        <p:spPr>
          <a:xfrm>
            <a:off x="6197600" y="4584700"/>
            <a:ext cx="533704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낮 시간대에는 계절 간 차이가 크지 않지만 저녁(19~22시) 시간대에서 여름의 대여량이 다른 계절보다 뚜렷하게 높아진다. 이는 3번 파트에서 확인한 '여름철 저녁 이용 집중' 현상과 일치한다</a:t>
            </a:r>
            <a:endParaRPr lang="en-US" sz="1200" dirty="0"/>
          </a:p>
        </p:txBody>
      </p:sp>
      <p:sp>
        <p:nvSpPr>
          <p:cNvPr id="12" name="Text 8"/>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3" name="Text 9"/>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기상 변수별 분포</a:t>
            </a:r>
            <a:endParaRPr lang="en-US" sz="2400" dirty="0"/>
          </a:p>
        </p:txBody>
      </p:sp>
      <p:sp>
        <p:nvSpPr>
          <p:cNvPr id="4" name="Text 2"/>
          <p:cNvSpPr/>
          <p:nvPr/>
        </p:nvSpPr>
        <p:spPr>
          <a:xfrm>
            <a:off x="10054257" y="886968"/>
            <a:ext cx="1320879" cy="365760"/>
          </a:xfrm>
          <a:prstGeom prst="roundRect">
            <a:avLst>
              <a:gd name="adj" fmla="val 20833"/>
            </a:avLst>
          </a:prstGeom>
          <a:solidFill>
            <a:srgbClr val="E9EFFC"/>
          </a:solidFill>
          <a:ln/>
        </p:spPr>
        <p:txBody>
          <a:bodyPr wrap="none" lIns="0" tIns="0" rIns="0" bIns="0" rtlCol="0" anchor="ctr">
            <a:normAutofit/>
          </a:bodyPr>
          <a:lstStyle/>
          <a:p>
            <a:pPr algn="ct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비운영날은 제거</a:t>
            </a:r>
            <a:endParaRPr lang="en-US" sz="1200" dirty="0"/>
          </a:p>
        </p:txBody>
      </p:sp>
      <p:sp>
        <p:nvSpPr>
          <p:cNvPr id="5" name="Shape 3"/>
          <p:cNvSpPr/>
          <p:nvPr/>
        </p:nvSpPr>
        <p:spPr>
          <a:xfrm>
            <a:off x="815975" y="1572768"/>
            <a:ext cx="3414157" cy="4443984"/>
          </a:xfrm>
          <a:prstGeom prst="roundRect">
            <a:avLst>
              <a:gd name="adj" fmla="val 3627"/>
            </a:avLst>
          </a:prstGeom>
          <a:solidFill>
            <a:srgbClr val="FFFFFF"/>
          </a:solidFill>
          <a:ln w="6350">
            <a:solidFill>
              <a:srgbClr val="E1E5EB"/>
            </a:solidFill>
            <a:prstDash val="solid"/>
          </a:ln>
        </p:spPr>
      </p:sp>
      <p:sp>
        <p:nvSpPr>
          <p:cNvPr id="6" name="Text 4"/>
          <p:cNvSpPr/>
          <p:nvPr/>
        </p:nvSpPr>
        <p:spPr>
          <a:xfrm>
            <a:off x="1046480" y="1773936"/>
            <a:ext cx="30417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Skewness가 큼</a:t>
            </a:r>
            <a:endParaRPr lang="en-US" sz="1600" dirty="0"/>
          </a:p>
        </p:txBody>
      </p:sp>
      <p:sp>
        <p:nvSpPr>
          <p:cNvPr id="7" name="Text 5"/>
          <p:cNvSpPr/>
          <p:nvPr/>
        </p:nvSpPr>
        <p:spPr>
          <a:xfrm>
            <a:off x="1046480" y="2157984"/>
            <a:ext cx="1080770"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Wind_speed</a:t>
            </a:r>
            <a:endParaRPr lang="en-US" sz="1200" dirty="0"/>
          </a:p>
        </p:txBody>
      </p:sp>
      <p:sp>
        <p:nvSpPr>
          <p:cNvPr id="8" name="Text 6"/>
          <p:cNvSpPr/>
          <p:nvPr/>
        </p:nvSpPr>
        <p:spPr>
          <a:xfrm>
            <a:off x="1046480" y="3419856"/>
            <a:ext cx="804148"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Visibility</a:t>
            </a:r>
            <a:endParaRPr lang="en-US" sz="1200" dirty="0"/>
          </a:p>
        </p:txBody>
      </p:sp>
      <p:sp>
        <p:nvSpPr>
          <p:cNvPr id="9" name="Shape 7"/>
          <p:cNvSpPr/>
          <p:nvPr/>
        </p:nvSpPr>
        <p:spPr>
          <a:xfrm>
            <a:off x="4388882" y="1572768"/>
            <a:ext cx="3414236" cy="4443984"/>
          </a:xfrm>
          <a:prstGeom prst="roundRect">
            <a:avLst>
              <a:gd name="adj" fmla="val 3627"/>
            </a:avLst>
          </a:prstGeom>
          <a:solidFill>
            <a:srgbClr val="FFFFFF"/>
          </a:solidFill>
          <a:ln w="6350">
            <a:solidFill>
              <a:srgbClr val="E1E5EB"/>
            </a:solidFill>
            <a:prstDash val="solid"/>
          </a:ln>
        </p:spPr>
      </p:sp>
      <p:sp>
        <p:nvSpPr>
          <p:cNvPr id="10" name="Text 8"/>
          <p:cNvSpPr/>
          <p:nvPr/>
        </p:nvSpPr>
        <p:spPr>
          <a:xfrm>
            <a:off x="4619387" y="1773936"/>
            <a:ext cx="30418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비교적 대칭</a:t>
            </a:r>
            <a:endParaRPr lang="en-US" sz="1600" dirty="0"/>
          </a:p>
        </p:txBody>
      </p:sp>
      <p:sp>
        <p:nvSpPr>
          <p:cNvPr id="11" name="Text 9"/>
          <p:cNvSpPr/>
          <p:nvPr/>
        </p:nvSpPr>
        <p:spPr>
          <a:xfrm>
            <a:off x="4619387" y="2157984"/>
            <a:ext cx="1116489"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a:t>
            </a:r>
            <a:endParaRPr lang="en-US" sz="1200" dirty="0"/>
          </a:p>
        </p:txBody>
      </p:sp>
      <p:sp>
        <p:nvSpPr>
          <p:cNvPr id="12" name="Text 10"/>
          <p:cNvSpPr/>
          <p:nvPr/>
        </p:nvSpPr>
        <p:spPr>
          <a:xfrm>
            <a:off x="4619387" y="3419856"/>
            <a:ext cx="862965"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Humidity</a:t>
            </a:r>
            <a:endParaRPr lang="en-US" sz="1200" dirty="0"/>
          </a:p>
        </p:txBody>
      </p:sp>
      <p:sp>
        <p:nvSpPr>
          <p:cNvPr id="13" name="Text 11"/>
          <p:cNvSpPr/>
          <p:nvPr/>
        </p:nvSpPr>
        <p:spPr>
          <a:xfrm>
            <a:off x="4619387" y="4681728"/>
            <a:ext cx="1953022"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Dew_point_temperature</a:t>
            </a:r>
            <a:endParaRPr lang="en-US" sz="1200" dirty="0"/>
          </a:p>
        </p:txBody>
      </p:sp>
      <p:sp>
        <p:nvSpPr>
          <p:cNvPr id="14" name="Shape 12"/>
          <p:cNvSpPr/>
          <p:nvPr/>
        </p:nvSpPr>
        <p:spPr>
          <a:xfrm>
            <a:off x="7961868" y="1572768"/>
            <a:ext cx="3414157" cy="4443984"/>
          </a:xfrm>
          <a:prstGeom prst="roundRect">
            <a:avLst>
              <a:gd name="adj" fmla="val 3627"/>
            </a:avLst>
          </a:prstGeom>
          <a:solidFill>
            <a:srgbClr val="FFFFFF"/>
          </a:solidFill>
          <a:ln w="6350">
            <a:solidFill>
              <a:srgbClr val="E1E5EB"/>
            </a:solidFill>
            <a:prstDash val="solid"/>
          </a:ln>
        </p:spPr>
      </p:sp>
      <p:sp>
        <p:nvSpPr>
          <p:cNvPr id="15" name="Text 13"/>
          <p:cNvSpPr/>
          <p:nvPr/>
        </p:nvSpPr>
        <p:spPr>
          <a:xfrm>
            <a:off x="8192374" y="1773936"/>
            <a:ext cx="30417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0 비율이 매우 높음</a:t>
            </a:r>
            <a:endParaRPr lang="en-US" sz="1600" dirty="0"/>
          </a:p>
        </p:txBody>
      </p:sp>
      <p:sp>
        <p:nvSpPr>
          <p:cNvPr id="16" name="Text 14"/>
          <p:cNvSpPr/>
          <p:nvPr/>
        </p:nvSpPr>
        <p:spPr>
          <a:xfrm>
            <a:off x="8192297" y="2157984"/>
            <a:ext cx="1345486"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Solar_Radiation</a:t>
            </a:r>
            <a:endParaRPr lang="en-US" sz="1200" dirty="0"/>
          </a:p>
        </p:txBody>
      </p:sp>
      <p:sp>
        <p:nvSpPr>
          <p:cNvPr id="17" name="Text 15"/>
          <p:cNvSpPr/>
          <p:nvPr/>
        </p:nvSpPr>
        <p:spPr>
          <a:xfrm>
            <a:off x="9728489" y="2157984"/>
            <a:ext cx="737711"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Rainfall</a:t>
            </a:r>
            <a:endParaRPr lang="en-US" sz="1200" dirty="0"/>
          </a:p>
        </p:txBody>
      </p:sp>
      <p:sp>
        <p:nvSpPr>
          <p:cNvPr id="18" name="Text 16"/>
          <p:cNvSpPr/>
          <p:nvPr/>
        </p:nvSpPr>
        <p:spPr>
          <a:xfrm>
            <a:off x="8192297" y="3419856"/>
            <a:ext cx="818594" cy="265176"/>
          </a:xfrm>
          <a:prstGeom prst="roundRect">
            <a:avLst>
              <a:gd name="adj" fmla="val 23946"/>
            </a:avLst>
          </a:prstGeom>
          <a:solidFill>
            <a:srgbClr val="F5F6F8"/>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Snowfall</a:t>
            </a:r>
            <a:endParaRPr lang="en-US" sz="1200" dirty="0"/>
          </a:p>
        </p:txBody>
      </p:sp>
      <p:sp>
        <p:nvSpPr>
          <p:cNvPr id="19" name="Text 17"/>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0" name="Text 18"/>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09</a:t>
            </a:r>
            <a:endParaRPr lang="en-US" sz="1200" dirty="0"/>
          </a:p>
        </p:txBody>
      </p:sp>
      <p:pic>
        <p:nvPicPr>
          <p:cNvPr id="21" name="Image Wind_speed" descr="Wind_speed 분포 히스토그램과 박스플롯"/>
          <p:cNvPicPr>
            <a:picLocks noChangeAspect="1"/>
          </p:cNvPicPr>
          <p:nvPr/>
        </p:nvPicPr>
        <p:blipFill>
          <a:blip r:embed="rId3"/>
          <a:stretch>
            <a:fillRect/>
          </a:stretch>
        </p:blipFill>
        <p:spPr>
          <a:xfrm>
            <a:off x="1046404" y="2468880"/>
            <a:ext cx="2873333" cy="841248"/>
          </a:xfrm>
          <a:prstGeom prst="rect">
            <a:avLst/>
          </a:prstGeom>
        </p:spPr>
      </p:pic>
      <p:pic>
        <p:nvPicPr>
          <p:cNvPr id="22" name="Image Visibility" descr="Visibility 분포 히스토그램과 박스플롯"/>
          <p:cNvPicPr>
            <a:picLocks noChangeAspect="1"/>
          </p:cNvPicPr>
          <p:nvPr/>
        </p:nvPicPr>
        <p:blipFill>
          <a:blip r:embed="rId4"/>
          <a:stretch>
            <a:fillRect/>
          </a:stretch>
        </p:blipFill>
        <p:spPr>
          <a:xfrm>
            <a:off x="1046404" y="3730752"/>
            <a:ext cx="2873333" cy="841248"/>
          </a:xfrm>
          <a:prstGeom prst="rect">
            <a:avLst/>
          </a:prstGeom>
        </p:spPr>
      </p:pic>
      <p:sp>
        <p:nvSpPr>
          <p:cNvPr id="24" name="Note 0"/>
          <p:cNvSpPr/>
          <p:nvPr/>
        </p:nvSpPr>
        <p:spPr>
          <a:xfrm>
            <a:off x="1046404" y="4681728"/>
            <a:ext cx="2953299" cy="365760"/>
          </a:xfrm>
          <a:prstGeom prst="roundRect">
            <a:avLst>
              <a:gd name="adj" fmla="val 20833"/>
            </a:avLst>
          </a:prstGeom>
          <a:solidFill>
            <a:srgbClr val="F5F6F8"/>
          </a:solidFill>
          <a:ln/>
        </p:spPr>
        <p:txBody>
          <a:bodyPr wrap="square" lIns="91982" tIns="66582" rIns="0" bIns="41182"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Visibility는 상한값(2000)에 관측값 집중</a:t>
            </a:r>
            <a:endParaRPr lang="en-US" sz="1200" dirty="0"/>
          </a:p>
        </p:txBody>
      </p:sp>
      <p:pic>
        <p:nvPicPr>
          <p:cNvPr id="25" name="Image Temperature" descr="Temperature 분포 히스토그램과 박스플롯"/>
          <p:cNvPicPr>
            <a:picLocks noChangeAspect="1"/>
          </p:cNvPicPr>
          <p:nvPr/>
        </p:nvPicPr>
        <p:blipFill>
          <a:blip r:embed="rId5"/>
          <a:stretch>
            <a:fillRect/>
          </a:stretch>
        </p:blipFill>
        <p:spPr>
          <a:xfrm>
            <a:off x="4619311" y="2468880"/>
            <a:ext cx="2873333" cy="841248"/>
          </a:xfrm>
          <a:prstGeom prst="rect">
            <a:avLst/>
          </a:prstGeom>
        </p:spPr>
      </p:pic>
      <p:pic>
        <p:nvPicPr>
          <p:cNvPr id="26" name="Image Humidity" descr="Humidity 분포 히스토그램과 박스플롯"/>
          <p:cNvPicPr>
            <a:picLocks noChangeAspect="1"/>
          </p:cNvPicPr>
          <p:nvPr/>
        </p:nvPicPr>
        <p:blipFill>
          <a:blip r:embed="rId6"/>
          <a:stretch>
            <a:fillRect/>
          </a:stretch>
        </p:blipFill>
        <p:spPr>
          <a:xfrm>
            <a:off x="4619311" y="3730752"/>
            <a:ext cx="2873333" cy="841248"/>
          </a:xfrm>
          <a:prstGeom prst="rect">
            <a:avLst/>
          </a:prstGeom>
        </p:spPr>
      </p:pic>
      <p:pic>
        <p:nvPicPr>
          <p:cNvPr id="27" name="Image Dew_point_temperature" descr="Dew_point_temperature 분포 히스토그램과 박스플롯"/>
          <p:cNvPicPr>
            <a:picLocks noChangeAspect="1"/>
          </p:cNvPicPr>
          <p:nvPr/>
        </p:nvPicPr>
        <p:blipFill>
          <a:blip r:embed="rId7"/>
          <a:stretch>
            <a:fillRect/>
          </a:stretch>
        </p:blipFill>
        <p:spPr>
          <a:xfrm>
            <a:off x="4619311" y="4992624"/>
            <a:ext cx="2873333" cy="841248"/>
          </a:xfrm>
          <a:prstGeom prst="rect">
            <a:avLst/>
          </a:prstGeom>
        </p:spPr>
      </p:pic>
      <p:pic>
        <p:nvPicPr>
          <p:cNvPr id="28" name="Image Solar_Radiation" descr="Solar_Radiation 분포 히스토그램 (0 제외)"/>
          <p:cNvPicPr>
            <a:picLocks noChangeAspect="1"/>
          </p:cNvPicPr>
          <p:nvPr/>
        </p:nvPicPr>
        <p:blipFill>
          <a:blip r:embed="rId8"/>
          <a:stretch>
            <a:fillRect/>
          </a:stretch>
        </p:blipFill>
        <p:spPr>
          <a:xfrm>
            <a:off x="8192297" y="2468880"/>
            <a:ext cx="1243224" cy="841248"/>
          </a:xfrm>
          <a:prstGeom prst="rect">
            <a:avLst/>
          </a:prstGeom>
        </p:spPr>
      </p:pic>
      <p:pic>
        <p:nvPicPr>
          <p:cNvPr id="29" name="Image Rainfall" descr="Rainfall 분포 히스토그램 (0 제외)"/>
          <p:cNvPicPr>
            <a:picLocks noChangeAspect="1"/>
          </p:cNvPicPr>
          <p:nvPr/>
        </p:nvPicPr>
        <p:blipFill>
          <a:blip r:embed="rId9"/>
          <a:stretch>
            <a:fillRect/>
          </a:stretch>
        </p:blipFill>
        <p:spPr>
          <a:xfrm>
            <a:off x="9728489" y="2468880"/>
            <a:ext cx="1243224" cy="841248"/>
          </a:xfrm>
          <a:prstGeom prst="rect">
            <a:avLst/>
          </a:prstGeom>
        </p:spPr>
      </p:pic>
      <p:pic>
        <p:nvPicPr>
          <p:cNvPr id="30" name="Image Snowfall" descr="Snowfall 분포 히스토그램 (0 제외)"/>
          <p:cNvPicPr>
            <a:picLocks noChangeAspect="1"/>
          </p:cNvPicPr>
          <p:nvPr/>
        </p:nvPicPr>
        <p:blipFill>
          <a:blip r:embed="rId10"/>
          <a:stretch>
            <a:fillRect/>
          </a:stretch>
        </p:blipFill>
        <p:spPr>
          <a:xfrm>
            <a:off x="8192297" y="3730752"/>
            <a:ext cx="1243224" cy="841248"/>
          </a:xfrm>
          <a:prstGeom prst="rect">
            <a:avLst/>
          </a:prstGeom>
        </p:spPr>
      </p:pic>
      <p:sp>
        <p:nvSpPr>
          <p:cNvPr id="31" name="Note 2"/>
          <p:cNvSpPr/>
          <p:nvPr/>
        </p:nvSpPr>
        <p:spPr>
          <a:xfrm>
            <a:off x="8192297" y="4681728"/>
            <a:ext cx="2953299" cy="365760"/>
          </a:xfrm>
          <a:prstGeom prst="roundRect">
            <a:avLst>
              <a:gd name="adj" fmla="val 20833"/>
            </a:avLst>
          </a:prstGeom>
          <a:solidFill>
            <a:srgbClr val="F5F6F8"/>
          </a:solidFill>
          <a:ln/>
        </p:spPr>
        <p:txBody>
          <a:bodyPr wrap="square" lIns="91982" tIns="66582" rIns="0" bIns="41182"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0을 제외한 값(non-zero)만 그린 분포</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기상변수와 대여량의 상관관계 (Pearson과 Spearman)</a:t>
            </a:r>
            <a:endParaRPr lang="en-US" sz="2400" dirty="0"/>
          </a:p>
        </p:txBody>
      </p:sp>
      <p:sp>
        <p:nvSpPr>
          <p:cNvPr id="4" name="Shape 2"/>
          <p:cNvSpPr/>
          <p:nvPr/>
        </p:nvSpPr>
        <p:spPr>
          <a:xfrm>
            <a:off x="815975" y="1976121"/>
            <a:ext cx="5401310" cy="3375660"/>
          </a:xfrm>
          <a:prstGeom prst="roundRect">
            <a:avLst>
              <a:gd name="adj" fmla="val 3668"/>
            </a:avLst>
          </a:prstGeom>
          <a:solidFill>
            <a:srgbClr val="FFFFFF"/>
          </a:solidFill>
          <a:ln w="6350">
            <a:solidFill>
              <a:srgbClr val="E1E5EB"/>
            </a:solidFill>
            <a:prstDash val="solid"/>
          </a:ln>
        </p:spPr>
      </p:sp>
      <p:pic>
        <p:nvPicPr>
          <p:cNvPr id="5" name="Image 0" descr="기상 변수와 대여량의 Pearson·Spearman 상관계수 막대 그래프: Temperature가 가장 높고 Rainfall·Snowfall·Humidity는 음의 상관">    </p:cNvPr>
          <p:cNvPicPr>
            <a:picLocks noChangeAspect="1"/>
          </p:cNvPicPr>
          <p:nvPr/>
        </p:nvPicPr>
        <p:blipFill>
          <a:blip r:embed="rId1"/>
          <a:srcRect l="0" r="0" t="-29" b="-29"/>
          <a:stretch/>
        </p:blipFill>
        <p:spPr>
          <a:xfrm>
            <a:off x="944880" y="2105025"/>
            <a:ext cx="5143500" cy="3117850"/>
          </a:xfrm>
          <a:prstGeom prst="rect">
            <a:avLst/>
          </a:prstGeom>
        </p:spPr>
      </p:pic>
      <p:sp>
        <p:nvSpPr>
          <p:cNvPr id="6" name="Shape 3"/>
          <p:cNvSpPr/>
          <p:nvPr/>
        </p:nvSpPr>
        <p:spPr>
          <a:xfrm>
            <a:off x="6477635" y="2326004"/>
            <a:ext cx="4898390" cy="1144270"/>
          </a:xfrm>
          <a:prstGeom prst="roundRect">
            <a:avLst>
              <a:gd name="adj" fmla="val 10821"/>
            </a:avLst>
          </a:prstGeom>
          <a:solidFill>
            <a:srgbClr val="FFFFFF"/>
          </a:solidFill>
          <a:ln w="6350">
            <a:solidFill>
              <a:srgbClr val="E1E5EB"/>
            </a:solidFill>
            <a:prstDash val="solid"/>
          </a:ln>
        </p:spPr>
      </p:sp>
      <p:sp>
        <p:nvSpPr>
          <p:cNvPr id="7" name="Text 4"/>
          <p:cNvSpPr/>
          <p:nvPr/>
        </p:nvSpPr>
        <p:spPr>
          <a:xfrm>
            <a:off x="6682740" y="2531114"/>
            <a:ext cx="462282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Solar_Radiation · Rainfall · Snowfall</a:t>
            </a:r>
            <a:endParaRPr lang="en-US" sz="1200" dirty="0"/>
          </a:p>
        </p:txBody>
      </p:sp>
      <p:sp>
        <p:nvSpPr>
          <p:cNvPr id="8" name="Text 5"/>
          <p:cNvSpPr/>
          <p:nvPr/>
        </p:nvSpPr>
        <p:spPr>
          <a:xfrm>
            <a:off x="6682740" y="2807971"/>
            <a:ext cx="4622825"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72033"/>
                </a:solidFill>
                <a:latin typeface="Noto Sans KR" pitchFamily="34" charset="0"/>
                <a:ea typeface="Noto Sans KR" pitchFamily="34" charset="-122"/>
                <a:cs typeface="Noto Sans KR" pitchFamily="34" charset="-120"/>
              </a:rPr>
              <a:t>대부분의 값이 0이라는 zero-inflation 구조 때문에 Pearson-Spearman 차이 발생 → 고려할 필요 X</a:t>
            </a:r>
            <a:endParaRPr lang="en-US" sz="1200" dirty="0"/>
          </a:p>
        </p:txBody>
      </p:sp>
      <p:sp>
        <p:nvSpPr>
          <p:cNvPr id="9" name="Shape 6"/>
          <p:cNvSpPr/>
          <p:nvPr/>
        </p:nvSpPr>
        <p:spPr>
          <a:xfrm>
            <a:off x="6477635" y="3629025"/>
            <a:ext cx="4898390" cy="1372870"/>
          </a:xfrm>
          <a:prstGeom prst="roundRect">
            <a:avLst>
              <a:gd name="adj" fmla="val 9019"/>
            </a:avLst>
          </a:prstGeom>
          <a:solidFill>
            <a:srgbClr val="FFFFFF"/>
          </a:solidFill>
          <a:ln w="6350">
            <a:solidFill>
              <a:srgbClr val="E1E5EB"/>
            </a:solidFill>
            <a:prstDash val="solid"/>
          </a:ln>
        </p:spPr>
      </p:sp>
      <p:sp>
        <p:nvSpPr>
          <p:cNvPr id="10" name="Text 7"/>
          <p:cNvSpPr/>
          <p:nvPr/>
        </p:nvSpPr>
        <p:spPr>
          <a:xfrm>
            <a:off x="6682740" y="3834129"/>
            <a:ext cx="462282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나머지 연속형 변수</a:t>
            </a:r>
            <a:endParaRPr lang="en-US" sz="1200" dirty="0"/>
          </a:p>
        </p:txBody>
      </p:sp>
      <p:sp>
        <p:nvSpPr>
          <p:cNvPr id="11" name="Text 8"/>
          <p:cNvSpPr/>
          <p:nvPr/>
        </p:nvSpPr>
        <p:spPr>
          <a:xfrm>
            <a:off x="6682740" y="4110992"/>
            <a:ext cx="4622825"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72033"/>
                </a:solidFill>
                <a:latin typeface="Noto Sans KR" pitchFamily="34" charset="0"/>
                <a:ea typeface="Noto Sans KR" pitchFamily="34" charset="-122"/>
                <a:cs typeface="Noto Sans KR" pitchFamily="34" charset="-120"/>
              </a:rPr>
              <a:t>Temperature, Humidity, Wind_speed, Visibility, Dew_point_temperature는 abs_diff가 모두 0.05 이하로 작아 뚜렷한 비선형 패턴 증거 없음</a:t>
            </a:r>
            <a:endParaRPr lang="en-US" sz="1200" dirty="0"/>
          </a:p>
        </p:txBody>
      </p:sp>
      <p:sp>
        <p:nvSpPr>
          <p:cNvPr id="12" name="Text 9"/>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3" name="Text 10"/>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기상변수와 대여량의 상관관계 (산점도, 박스플롯)</a:t>
            </a:r>
            <a:endParaRPr lang="en-US" sz="2400" dirty="0"/>
          </a:p>
        </p:txBody>
      </p:sp>
      <p:sp>
        <p:nvSpPr>
          <p:cNvPr id="4" name="Shape 2"/>
          <p:cNvSpPr/>
          <p:nvPr/>
        </p:nvSpPr>
        <p:spPr>
          <a:xfrm>
            <a:off x="815975" y="1572768"/>
            <a:ext cx="5210810" cy="2761488"/>
          </a:xfrm>
          <a:prstGeom prst="roundRect">
            <a:avLst>
              <a:gd name="adj" fmla="val 4484"/>
            </a:avLst>
          </a:prstGeom>
          <a:solidFill>
            <a:srgbClr val="FFFFFF"/>
          </a:solidFill>
          <a:ln w="6350">
            <a:solidFill>
              <a:srgbClr val="E1E5EB"/>
            </a:solidFill>
            <a:prstDash val="solid"/>
          </a:ln>
        </p:spPr>
      </p:sp>
      <p:pic>
        <p:nvPicPr>
          <p:cNvPr id="5" name="Image 0" descr="기상 변수 6개와 대여량의 산점도와 추세선: Temperature, Humidity, Wind_speed, Visibility, Dew_point_temperature, Solar_Radiation">    </p:cNvPr>
          <p:cNvPicPr>
            <a:picLocks noChangeAspect="1"/>
          </p:cNvPicPr>
          <p:nvPr/>
        </p:nvPicPr>
        <p:blipFill>
          <a:blip r:embed="rId1"/>
          <a:srcRect l="0" r="0" t="-39" b="-39"/>
          <a:stretch/>
        </p:blipFill>
        <p:spPr>
          <a:xfrm>
            <a:off x="1122256" y="1700784"/>
            <a:ext cx="4598249" cy="2505456"/>
          </a:xfrm>
          <a:prstGeom prst="rect">
            <a:avLst/>
          </a:prstGeom>
        </p:spPr>
      </p:pic>
      <p:sp>
        <p:nvSpPr>
          <p:cNvPr id="6" name="Text 3"/>
          <p:cNvSpPr/>
          <p:nvPr/>
        </p:nvSpPr>
        <p:spPr>
          <a:xfrm>
            <a:off x="6283960" y="1616202"/>
            <a:ext cx="52480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Humidity · Wind_speed</a:t>
            </a:r>
            <a:endParaRPr lang="en-US" sz="1200" dirty="0"/>
          </a:p>
        </p:txBody>
      </p:sp>
      <p:sp>
        <p:nvSpPr>
          <p:cNvPr id="7" name="Text 4"/>
          <p:cNvSpPr/>
          <p:nvPr/>
        </p:nvSpPr>
        <p:spPr>
          <a:xfrm>
            <a:off x="6283960" y="1842266"/>
            <a:ext cx="52480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실제 산점도를 그려보니 역U자형(비선형) 관계</a:t>
            </a:r>
            <a:endParaRPr lang="en-US" sz="1200" dirty="0"/>
          </a:p>
        </p:txBody>
      </p:sp>
      <p:sp>
        <p:nvSpPr>
          <p:cNvPr id="8" name="Text 5"/>
          <p:cNvSpPr/>
          <p:nvPr/>
        </p:nvSpPr>
        <p:spPr>
          <a:xfrm>
            <a:off x="6283960" y="2157223"/>
            <a:ext cx="52480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Temperature</a:t>
            </a:r>
            <a:endParaRPr lang="en-US" sz="1200" dirty="0"/>
          </a:p>
        </p:txBody>
      </p:sp>
      <p:sp>
        <p:nvSpPr>
          <p:cNvPr id="9" name="Text 6"/>
          <p:cNvSpPr/>
          <p:nvPr/>
        </p:nvSpPr>
        <p:spPr>
          <a:xfrm>
            <a:off x="6283960" y="2383281"/>
            <a:ext cx="52480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S자선, 일정 구간까지만 선형적 증가 그 이후에는 증가폭 둔화</a:t>
            </a:r>
            <a:endParaRPr lang="en-US" sz="1200" dirty="0"/>
          </a:p>
        </p:txBody>
      </p:sp>
      <p:sp>
        <p:nvSpPr>
          <p:cNvPr id="10" name="Text 7"/>
          <p:cNvSpPr/>
          <p:nvPr/>
        </p:nvSpPr>
        <p:spPr>
          <a:xfrm>
            <a:off x="6283960" y="2698244"/>
            <a:ext cx="52480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Visibility</a:t>
            </a:r>
            <a:endParaRPr lang="en-US" sz="1200" dirty="0"/>
          </a:p>
        </p:txBody>
      </p:sp>
      <p:sp>
        <p:nvSpPr>
          <p:cNvPr id="11" name="Text 8"/>
          <p:cNvSpPr/>
          <p:nvPr/>
        </p:nvSpPr>
        <p:spPr>
          <a:xfrm>
            <a:off x="6283960" y="2924302"/>
            <a:ext cx="52480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관계 자체보다는 계기 상한으로 인한 데이터 구조가 추세선 모양에 영향을 준 것으로 해석</a:t>
            </a:r>
            <a:endParaRPr lang="en-US" sz="1200" dirty="0"/>
          </a:p>
        </p:txBody>
      </p:sp>
      <p:sp>
        <p:nvSpPr>
          <p:cNvPr id="12" name="Text 9"/>
          <p:cNvSpPr/>
          <p:nvPr/>
        </p:nvSpPr>
        <p:spPr>
          <a:xfrm>
            <a:off x="6283960" y="3452623"/>
            <a:ext cx="52480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Dew_point_temperature</a:t>
            </a:r>
            <a:endParaRPr lang="en-US" sz="1200" dirty="0"/>
          </a:p>
        </p:txBody>
      </p:sp>
      <p:sp>
        <p:nvSpPr>
          <p:cNvPr id="13" name="Text 10"/>
          <p:cNvSpPr/>
          <p:nvPr/>
        </p:nvSpPr>
        <p:spPr>
          <a:xfrm>
            <a:off x="6283960" y="3678681"/>
            <a:ext cx="52480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Temperature와 유사 (Temperature와의 상관계수가 0.91로 사실상 같은 정보) → 다중공선성의 시각적 증거</a:t>
            </a:r>
            <a:endParaRPr lang="en-US" sz="1200" dirty="0"/>
          </a:p>
        </p:txBody>
      </p:sp>
      <p:sp>
        <p:nvSpPr>
          <p:cNvPr id="14" name="Text 11"/>
          <p:cNvSpPr/>
          <p:nvPr/>
        </p:nvSpPr>
        <p:spPr>
          <a:xfrm>
            <a:off x="6283960" y="4207002"/>
            <a:ext cx="52480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Solar_Radiation</a:t>
            </a:r>
            <a:endParaRPr lang="en-US" sz="1200" dirty="0"/>
          </a:p>
        </p:txBody>
      </p:sp>
      <p:sp>
        <p:nvSpPr>
          <p:cNvPr id="15" name="Text 12"/>
          <p:cNvSpPr/>
          <p:nvPr/>
        </p:nvSpPr>
        <p:spPr>
          <a:xfrm>
            <a:off x="6283960" y="4433066"/>
            <a:ext cx="52480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전형적인 zero-inflated 변수의 산점도. 이산적 구분이 추세의 대부분을 설명하며 연속값으로서의 선형 관계는 상대적으로 약함</a:t>
            </a:r>
            <a:endParaRPr lang="en-US" sz="1200" dirty="0"/>
          </a:p>
        </p:txBody>
      </p:sp>
      <p:sp>
        <p:nvSpPr>
          <p:cNvPr id="16" name="Text 13"/>
          <p:cNvSpPr/>
          <p:nvPr/>
        </p:nvSpPr>
        <p:spPr>
          <a:xfrm>
            <a:off x="6283960" y="5016245"/>
            <a:ext cx="52480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Rainfall / Snowfall</a:t>
            </a:r>
            <a:endParaRPr lang="en-US" sz="1200" dirty="0"/>
          </a:p>
        </p:txBody>
      </p:sp>
      <p:sp>
        <p:nvSpPr>
          <p:cNvPr id="17" name="Text 14"/>
          <p:cNvSpPr/>
          <p:nvPr/>
        </p:nvSpPr>
        <p:spPr>
          <a:xfrm>
            <a:off x="6283960" y="5242308"/>
            <a:ext cx="52480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양보다 유무</a:t>
            </a:r>
            <a:endParaRPr lang="en-US" sz="1200" dirty="0"/>
          </a:p>
        </p:txBody>
      </p:sp>
      <p:sp>
        <p:nvSpPr>
          <p:cNvPr id="18" name="Text 15"/>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9" name="Text 16"/>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11</a:t>
            </a:r>
            <a:endParaRPr lang="en-US" sz="1200" dirty="0"/>
          </a:p>
        </p:txBody>
      </p:sp>
      <p:sp>
        <p:nvSpPr>
          <p:cNvPr id="20" name="Shape Box"/>
          <p:cNvSpPr/>
          <p:nvPr/>
        </p:nvSpPr>
        <p:spPr>
          <a:xfrm>
            <a:off x="815975" y="4462272"/>
            <a:ext cx="5210810" cy="1572768"/>
          </a:xfrm>
          <a:prstGeom prst="roundRect">
            <a:avLst>
              <a:gd name="adj" fmla="val 7873"/>
            </a:avLst>
          </a:prstGeom>
          <a:solidFill>
            <a:srgbClr val="FFFFFF"/>
          </a:solidFill>
          <a:ln w="6350">
            <a:solidFill>
              <a:srgbClr val="E1E5EB"/>
            </a:solidFill>
            <a:prstDash val="solid"/>
          </a:ln>
        </p:spPr>
      </p:sp>
      <p:pic>
        <p:nvPicPr>
          <p:cNvPr id="21" name="Image Box" descr="강수 여부(Rain_YN)·적설 여부(Snow_YN)별 대여량 박스플롯: 비나 눈이 올 때 대여량이 크게 낮음"/>
          <p:cNvPicPr>
            <a:picLocks noChangeAspect="1"/>
          </p:cNvPicPr>
          <p:nvPr/>
        </p:nvPicPr>
        <p:blipFill>
          <a:blip r:embed="rId4"/>
          <a:stretch>
            <a:fillRect/>
          </a:stretch>
        </p:blipFill>
        <p:spPr>
          <a:xfrm>
            <a:off x="943991" y="4590288"/>
            <a:ext cx="3180252" cy="1316736"/>
          </a:xfrm>
          <a:prstGeom prst="rect">
            <a:avLst/>
          </a:prstGeom>
        </p:spPr>
      </p:pic>
      <p:sp>
        <p:nvSpPr>
          <p:cNvPr id="22" name="Text Box Head"/>
          <p:cNvSpPr/>
          <p:nvPr/>
        </p:nvSpPr>
        <p:spPr>
          <a:xfrm>
            <a:off x="4307123" y="4873752"/>
            <a:ext cx="15367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비·눈 유무별 대여량</a:t>
            </a:r>
            <a:endParaRPr lang="en-US" sz="1200" dirty="0"/>
          </a:p>
        </p:txBody>
      </p:sp>
      <p:sp>
        <p:nvSpPr>
          <p:cNvPr id="23" name="Text Box Body"/>
          <p:cNvSpPr/>
          <p:nvPr/>
        </p:nvSpPr>
        <p:spPr>
          <a:xfrm>
            <a:off x="4307123" y="5102352"/>
            <a:ext cx="1536782" cy="4480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비/눈이 오면 대여량 중앙값 80% 이상 감소</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이상치</a:t>
            </a:r>
            <a:endParaRPr lang="en-US" sz="2400" dirty="0"/>
          </a:p>
        </p:txBody>
      </p:sp>
      <p:sp>
        <p:nvSpPr>
          <p:cNvPr id="4" name="Shape 2"/>
          <p:cNvSpPr/>
          <p:nvPr/>
        </p:nvSpPr>
        <p:spPr>
          <a:xfrm>
            <a:off x="815975" y="2381889"/>
            <a:ext cx="4707890" cy="953770"/>
          </a:xfrm>
          <a:prstGeom prst="roundRect">
            <a:avLst>
              <a:gd name="adj" fmla="val 12983"/>
            </a:avLst>
          </a:prstGeom>
          <a:solidFill>
            <a:srgbClr val="FFFFFF"/>
          </a:solidFill>
          <a:ln w="6350">
            <a:solidFill>
              <a:srgbClr val="E1E5EB"/>
            </a:solidFill>
            <a:prstDash val="solid"/>
          </a:ln>
        </p:spPr>
      </p:sp>
      <p:sp>
        <p:nvSpPr>
          <p:cNvPr id="5" name="Text 3"/>
          <p:cNvSpPr/>
          <p:nvPr/>
        </p:nvSpPr>
        <p:spPr>
          <a:xfrm>
            <a:off x="1021080" y="2586992"/>
            <a:ext cx="44266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비교 기준</a:t>
            </a:r>
            <a:endParaRPr lang="en-US" sz="1200" dirty="0"/>
          </a:p>
        </p:txBody>
      </p:sp>
      <p:sp>
        <p:nvSpPr>
          <p:cNvPr id="6" name="Text 4"/>
          <p:cNvSpPr/>
          <p:nvPr/>
        </p:nvSpPr>
        <p:spPr>
          <a:xfrm>
            <a:off x="1021080" y="2863850"/>
            <a:ext cx="44266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72033"/>
                </a:solidFill>
                <a:latin typeface="Noto Sans KR" pitchFamily="34" charset="0"/>
                <a:ea typeface="Noto Sans KR" pitchFamily="34" charset="-122"/>
                <a:cs typeface="Noto Sans KR" pitchFamily="34" charset="-120"/>
              </a:rPr>
              <a:t>IQR 기준 이상치 개수/비율을 변수별로 비교</a:t>
            </a:r>
            <a:endParaRPr lang="en-US" sz="1400" dirty="0"/>
          </a:p>
        </p:txBody>
      </p:sp>
      <p:sp>
        <p:nvSpPr>
          <p:cNvPr id="7" name="Shape 5"/>
          <p:cNvSpPr/>
          <p:nvPr/>
        </p:nvSpPr>
        <p:spPr>
          <a:xfrm>
            <a:off x="812800" y="3465829"/>
            <a:ext cx="4714240" cy="1483360"/>
          </a:xfrm>
          <a:prstGeom prst="roundRect">
            <a:avLst>
              <a:gd name="adj" fmla="val 8562"/>
            </a:avLst>
          </a:prstGeom>
          <a:solidFill>
            <a:srgbClr val="E9EFFC"/>
          </a:solidFill>
          <a:ln/>
        </p:spPr>
      </p:sp>
      <p:sp>
        <p:nvSpPr>
          <p:cNvPr id="8" name="Text 6"/>
          <p:cNvSpPr/>
          <p:nvPr/>
        </p:nvSpPr>
        <p:spPr>
          <a:xfrm>
            <a:off x="1016000" y="3669029"/>
            <a:ext cx="443707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처리 방침</a:t>
            </a:r>
            <a:endParaRPr lang="en-US" sz="1200" dirty="0"/>
          </a:p>
        </p:txBody>
      </p:sp>
      <p:sp>
        <p:nvSpPr>
          <p:cNvPr id="9" name="Text 7"/>
          <p:cNvSpPr/>
          <p:nvPr/>
        </p:nvSpPr>
        <p:spPr>
          <a:xfrm>
            <a:off x="1016000" y="3945892"/>
            <a:ext cx="4437075"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72033"/>
                </a:solidFill>
                <a:latin typeface="Noto Sans KR" pitchFamily="34" charset="0"/>
                <a:ea typeface="Noto Sans KR" pitchFamily="34" charset="-122"/>
                <a:cs typeface="Noto Sans KR" pitchFamily="34" charset="-120"/>
              </a:rPr>
              <a:t>Humidity=0과 Visibility=2000처럼 '값이 이상해서'가 아니라 '계기의 측정 한계'로 생기는 값들은 제거 대상이 아니라 별도로 기록</a:t>
            </a:r>
            <a:endParaRPr lang="en-US" sz="1400" dirty="0"/>
          </a:p>
        </p:txBody>
      </p:sp>
      <p:sp>
        <p:nvSpPr>
          <p:cNvPr id="10" name="Shape 8"/>
          <p:cNvSpPr/>
          <p:nvPr/>
        </p:nvSpPr>
        <p:spPr>
          <a:xfrm>
            <a:off x="5784215" y="2538096"/>
            <a:ext cx="5591810" cy="2251710"/>
          </a:xfrm>
          <a:prstGeom prst="roundRect">
            <a:avLst>
              <a:gd name="adj" fmla="val 5499"/>
            </a:avLst>
          </a:prstGeom>
          <a:solidFill>
            <a:srgbClr val="FFFFFF"/>
          </a:solidFill>
          <a:ln w="6350">
            <a:solidFill>
              <a:srgbClr val="E1E5EB"/>
            </a:solidFill>
            <a:prstDash val="solid"/>
          </a:ln>
        </p:spPr>
      </p:sp>
      <p:pic>
        <p:nvPicPr>
          <p:cNvPr id="11" name="Image 0" descr="Humidity = 0 인 행 수 17 (2018-05-19, 2018-05-21 봄철 새벽 시간대), Visibility = 2000(상한) 인 행 수 2150 / 전체 8465 (25.4%)">    </p:cNvPr>
          <p:cNvPicPr>
            <a:picLocks noChangeAspect="1"/>
          </p:cNvPicPr>
          <p:nvPr/>
        </p:nvPicPr>
        <p:blipFill>
          <a:blip r:embed="rId1"/>
          <a:srcRect l="-5" r="-5" t="0" b="0"/>
          <a:stretch/>
        </p:blipFill>
        <p:spPr>
          <a:xfrm>
            <a:off x="5913120" y="2667000"/>
            <a:ext cx="5334000" cy="1993900"/>
          </a:xfrm>
          <a:prstGeom prst="rect">
            <a:avLst/>
          </a:prstGeom>
        </p:spPr>
      </p:pic>
      <p:sp>
        <p:nvSpPr>
          <p:cNvPr id="12" name="Text 9"/>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3" name="Text 10"/>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 · Weather</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다중공선성 확인</a:t>
            </a:r>
            <a:endParaRPr lang="en-US" sz="2400" dirty="0"/>
          </a:p>
        </p:txBody>
      </p:sp>
      <p:sp>
        <p:nvSpPr>
          <p:cNvPr id="4" name="Shape 2"/>
          <p:cNvSpPr/>
          <p:nvPr/>
        </p:nvSpPr>
        <p:spPr>
          <a:xfrm>
            <a:off x="815975" y="1884046"/>
            <a:ext cx="4321810" cy="3559810"/>
          </a:xfrm>
          <a:prstGeom prst="roundRect">
            <a:avLst>
              <a:gd name="adj" fmla="val 3478"/>
            </a:avLst>
          </a:prstGeom>
          <a:solidFill>
            <a:srgbClr val="FFFFFF"/>
          </a:solidFill>
          <a:ln w="6350">
            <a:solidFill>
              <a:srgbClr val="E1E5EB"/>
            </a:solidFill>
            <a:prstDash val="solid"/>
          </a:ln>
        </p:spPr>
      </p:sp>
      <p:pic>
        <p:nvPicPr>
          <p:cNvPr id="5" name="Image 0" descr="기상 변수 상관계수 히트맵: Temperature와 Dew_point_temperature의 상관계수 0.91, Humidity와 Dew_point_temperature 0.54">    </p:cNvPr>
          <p:cNvPicPr>
            <a:picLocks noChangeAspect="1"/>
          </p:cNvPicPr>
          <p:nvPr/>
        </p:nvPicPr>
        <p:blipFill>
          <a:blip r:embed="rId1"/>
          <a:srcRect l="-30" r="-30" t="0" b="0"/>
          <a:stretch/>
        </p:blipFill>
        <p:spPr>
          <a:xfrm>
            <a:off x="944880" y="2012950"/>
            <a:ext cx="4064000" cy="3302000"/>
          </a:xfrm>
          <a:prstGeom prst="rect">
            <a:avLst/>
          </a:prstGeom>
        </p:spPr>
      </p:pic>
      <p:sp>
        <p:nvSpPr>
          <p:cNvPr id="6" name="Text 3"/>
          <p:cNvSpPr/>
          <p:nvPr/>
        </p:nvSpPr>
        <p:spPr>
          <a:xfrm>
            <a:off x="5394960" y="1736092"/>
            <a:ext cx="5984240" cy="746760"/>
          </a:xfrm>
          <a:prstGeom prst="roundRect">
            <a:avLst>
              <a:gd name="adj" fmla="val 13605"/>
            </a:avLst>
          </a:prstGeom>
          <a:solidFill>
            <a:srgbClr val="E9EFFC"/>
          </a:solidFill>
          <a:ln/>
        </p:spPr>
        <p:txBody>
          <a:bodyPr wrap="square" lIns="148042" tIns="122642" rIns="0" bIns="97242" rtlCol="0" anchor="t">
            <a:normAutofit/>
          </a:bodyPr>
          <a:lstStyle/>
          <a:p>
            <a:pPr algn="l" indent="0" marL="0">
              <a:lnSpc>
                <a:spcPts val="1740"/>
              </a:lnSpc>
              <a:buNone/>
            </a:pPr>
            <a:r>
              <a:rPr lang="en-US" sz="1200" dirty="0">
                <a:solidFill>
                  <a:srgbClr val="172033"/>
                </a:solidFill>
                <a:latin typeface="Noto Sans KR" pitchFamily="34" charset="0"/>
                <a:ea typeface="Noto Sans KR" pitchFamily="34" charset="-122"/>
                <a:cs typeface="Noto Sans KR" pitchFamily="34" charset="-120"/>
              </a:rPr>
              <a:t>Dew_point_temperature는 Temperature, Humidity와 물리적으로 강하게 연동되는 변수라 VIF가 높게 나올 가능성이 큼 → 모델링 중 다중선형회귀 모형에서 제거 필요</a:t>
            </a:r>
            <a:endParaRPr lang="en-US" sz="1200" dirty="0"/>
          </a:p>
        </p:txBody>
      </p:sp>
      <p:sp>
        <p:nvSpPr>
          <p:cNvPr id="7" name="Shape 4"/>
          <p:cNvSpPr/>
          <p:nvPr/>
        </p:nvSpPr>
        <p:spPr>
          <a:xfrm>
            <a:off x="5394960" y="2609850"/>
            <a:ext cx="5981700" cy="2981960"/>
          </a:xfrm>
          <a:prstGeom prst="roundRect">
            <a:avLst>
              <a:gd name="adj" fmla="val 3407"/>
            </a:avLst>
          </a:prstGeom>
          <a:solidFill>
            <a:srgbClr val="FFFFFF"/>
          </a:solidFill>
          <a:ln/>
        </p:spPr>
      </p:sp>
      <p:sp>
        <p:nvSpPr>
          <p:cNvPr id="8" name="Shape 5"/>
          <p:cNvSpPr/>
          <p:nvPr/>
        </p:nvSpPr>
        <p:spPr>
          <a:xfrm>
            <a:off x="5394960" y="2609850"/>
            <a:ext cx="5981700" cy="2981960"/>
          </a:xfrm>
          <a:custGeom>
            <a:avLst/>
            <a:gdLst/>
            <a:ahLst/>
            <a:cxnLst/>
            <a:rect l="l" t="t" r="r" b="b"/>
            <a:pathLst>
              <a:path w="5981700" h="2981960">
                <a:moveTo>
                  <a:pt x="101600" y="2981960"/>
                </a:moveTo>
                <a:lnTo>
                  <a:pt x="101600" y="2981960"/>
                </a:lnTo>
                <a:arcTo hR="101600" wR="101600" stAng="5400000" swAng="5400000"/>
                <a:lnTo>
                  <a:pt x="0" y="101600"/>
                </a:lnTo>
                <a:arcTo hR="101600" wR="101600" stAng="10800000" swAng="5400000"/>
                <a:lnTo>
                  <a:pt x="5880100" y="0"/>
                </a:lnTo>
                <a:arcTo hR="101600" wR="101600" stAng="16200000" swAng="5400000"/>
                <a:lnTo>
                  <a:pt x="5981700" y="101600"/>
                </a:lnTo>
                <a:arcTo hR="91440" wR="101600" stAng="0" swAng="-5400000"/>
                <a:lnTo>
                  <a:pt x="101600" y="10160"/>
                </a:lnTo>
                <a:arcTo hR="91440" wR="91440" stAng="16200000" swAng="-5400000"/>
                <a:lnTo>
                  <a:pt x="10160" y="2880360"/>
                </a:lnTo>
                <a:arcTo hR="101600" wR="91440" stAng="10800000" swAng="-5400000"/>
                <a:close/>
              </a:path>
            </a:pathLst>
          </a:custGeom>
          <a:solidFill>
            <a:srgbClr val="141413">
              <a:alpha val="22000"/>
            </a:srgbClr>
          </a:solidFill>
          <a:ln/>
        </p:spPr>
      </p:sp>
      <p:sp>
        <p:nvSpPr>
          <p:cNvPr id="9" name="Shape 6"/>
          <p:cNvSpPr/>
          <p:nvPr/>
        </p:nvSpPr>
        <p:spPr>
          <a:xfrm>
            <a:off x="5405120" y="2620010"/>
            <a:ext cx="5971540" cy="330200"/>
          </a:xfrm>
          <a:custGeom>
            <a:avLst/>
            <a:gdLst/>
            <a:ahLst/>
            <a:cxnLst/>
            <a:rect l="l" t="t" r="r" b="b"/>
            <a:pathLst>
              <a:path w="5971540" h="330200">
                <a:moveTo>
                  <a:pt x="0" y="91440"/>
                </a:moveTo>
                <a:arcTo hR="91440" wR="91440" stAng="10800000" swAng="5400000"/>
                <a:lnTo>
                  <a:pt x="5869940" y="0"/>
                </a:lnTo>
                <a:arcTo hR="101600" wR="101600" stAng="16200000" swAng="5400000"/>
                <a:lnTo>
                  <a:pt x="5971540" y="330200"/>
                </a:lnTo>
                <a:lnTo>
                  <a:pt x="0" y="330200"/>
                </a:lnTo>
                <a:close/>
              </a:path>
            </a:pathLst>
          </a:custGeom>
          <a:solidFill>
            <a:srgbClr val="ECECEC"/>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05120" y="2620010"/>
          <a:ext cx="5971540" cy="2971800"/>
        </p:xfrm>
        <a:graphic>
          <a:graphicData uri="http://schemas.openxmlformats.org/drawingml/2006/table">
            <a:tbl>
              <a:tblPr/>
              <a:tblGrid>
                <a:gridCol w="3702355"/>
                <a:gridCol w="2269185"/>
              </a:tblGrid>
              <a:tr h="330200">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variable</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VIF</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Dew_point_temperature</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9BFB8"/>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116.219367</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r>
              <a:tr h="330200">
                <a:tc>
                  <a:txBody>
                    <a:bodyPr/>
                    <a:lstStyle/>
                    <a:p>
                      <a:pP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Temperature</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87.152504</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r>
              <a:tr h="330200">
                <a:tc>
                  <a:txBody>
                    <a:bodyPr/>
                    <a:lstStyle/>
                    <a:p>
                      <a:pP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Humidity</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20.132908</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Solar_Radiation</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1.975087</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Visibility</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1.565867</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Wind_speed</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1.198871</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Snowfall</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1.093974</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Rainfall</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1.080975</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7"/>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8"/>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(Functioning_Day)</a:t>
            </a:r>
            <a:endParaRPr lang="en-US" sz="2400" dirty="0"/>
          </a:p>
        </p:txBody>
      </p:sp>
      <p:sp>
        <p:nvSpPr>
          <p:cNvPr id="4" name="Shape 2"/>
          <p:cNvSpPr/>
          <p:nvPr/>
        </p:nvSpPr>
        <p:spPr>
          <a:xfrm>
            <a:off x="815975" y="2635889"/>
            <a:ext cx="3414157" cy="1350010"/>
          </a:xfrm>
          <a:prstGeom prst="roundRect">
            <a:avLst>
              <a:gd name="adj" fmla="val 9172"/>
            </a:avLst>
          </a:prstGeom>
          <a:solidFill>
            <a:srgbClr val="FFFFFF"/>
          </a:solidFill>
          <a:ln w="6350">
            <a:solidFill>
              <a:srgbClr val="E1E5EB"/>
            </a:solidFill>
            <a:prstDash val="solid"/>
          </a:ln>
        </p:spPr>
      </p:sp>
      <p:sp>
        <p:nvSpPr>
          <p:cNvPr id="5" name="Text 3"/>
          <p:cNvSpPr/>
          <p:nvPr/>
        </p:nvSpPr>
        <p:spPr>
          <a:xfrm>
            <a:off x="1046480" y="2866392"/>
            <a:ext cx="30417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Seasons</a:t>
            </a:r>
            <a:endParaRPr lang="en-US" sz="1200" dirty="0"/>
          </a:p>
        </p:txBody>
      </p:sp>
      <p:sp>
        <p:nvSpPr>
          <p:cNvPr id="6" name="Text 4"/>
          <p:cNvSpPr/>
          <p:nvPr/>
        </p:nvSpPr>
        <p:spPr>
          <a:xfrm>
            <a:off x="1046480" y="3143250"/>
            <a:ext cx="3041741"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거의 균등</a:t>
            </a:r>
            <a:endParaRPr lang="en-US" sz="2400" dirty="0"/>
          </a:p>
        </p:txBody>
      </p:sp>
      <p:sp>
        <p:nvSpPr>
          <p:cNvPr id="7" name="Text 5"/>
          <p:cNvSpPr/>
          <p:nvPr/>
        </p:nvSpPr>
        <p:spPr>
          <a:xfrm>
            <a:off x="1046480" y="3542029"/>
            <a:ext cx="30417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계절별 각 약 25%</a:t>
            </a:r>
            <a:endParaRPr lang="en-US" sz="1200" dirty="0"/>
          </a:p>
        </p:txBody>
      </p:sp>
      <p:sp>
        <p:nvSpPr>
          <p:cNvPr id="8" name="Shape 6"/>
          <p:cNvSpPr/>
          <p:nvPr/>
        </p:nvSpPr>
        <p:spPr>
          <a:xfrm>
            <a:off x="4388882" y="2635889"/>
            <a:ext cx="3414236" cy="1350010"/>
          </a:xfrm>
          <a:prstGeom prst="roundRect">
            <a:avLst>
              <a:gd name="adj" fmla="val 9172"/>
            </a:avLst>
          </a:prstGeom>
          <a:solidFill>
            <a:srgbClr val="FFFFFF"/>
          </a:solidFill>
          <a:ln w="6350">
            <a:solidFill>
              <a:srgbClr val="E1E5EB"/>
            </a:solidFill>
            <a:prstDash val="solid"/>
          </a:ln>
        </p:spPr>
      </p:sp>
      <p:sp>
        <p:nvSpPr>
          <p:cNvPr id="9" name="Text 7"/>
          <p:cNvSpPr/>
          <p:nvPr/>
        </p:nvSpPr>
        <p:spPr>
          <a:xfrm>
            <a:off x="4619387" y="2866392"/>
            <a:ext cx="304182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Holiday</a:t>
            </a:r>
            <a:endParaRPr lang="en-US" sz="1200" dirty="0"/>
          </a:p>
        </p:txBody>
      </p:sp>
      <p:sp>
        <p:nvSpPr>
          <p:cNvPr id="10" name="Text 8"/>
          <p:cNvSpPr/>
          <p:nvPr/>
        </p:nvSpPr>
        <p:spPr>
          <a:xfrm>
            <a:off x="4619387" y="3143250"/>
            <a:ext cx="3041823"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5%</a:t>
            </a:r>
            <a:endParaRPr lang="en-US" sz="2400" dirty="0"/>
          </a:p>
        </p:txBody>
      </p:sp>
      <p:sp>
        <p:nvSpPr>
          <p:cNvPr id="11" name="Text 9"/>
          <p:cNvSpPr/>
          <p:nvPr/>
        </p:nvSpPr>
        <p:spPr>
          <a:xfrm>
            <a:off x="4619387" y="3542029"/>
            <a:ext cx="30418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공휴일 432개</a:t>
            </a:r>
            <a:endParaRPr lang="en-US" sz="1200" dirty="0"/>
          </a:p>
        </p:txBody>
      </p:sp>
      <p:sp>
        <p:nvSpPr>
          <p:cNvPr id="12" name="Shape 10"/>
          <p:cNvSpPr/>
          <p:nvPr/>
        </p:nvSpPr>
        <p:spPr>
          <a:xfrm>
            <a:off x="7961868" y="2635889"/>
            <a:ext cx="3414157" cy="1350010"/>
          </a:xfrm>
          <a:prstGeom prst="roundRect">
            <a:avLst>
              <a:gd name="adj" fmla="val 9172"/>
            </a:avLst>
          </a:prstGeom>
          <a:solidFill>
            <a:srgbClr val="FFFFFF"/>
          </a:solidFill>
          <a:ln w="6350">
            <a:solidFill>
              <a:srgbClr val="E1E5EB"/>
            </a:solidFill>
            <a:prstDash val="solid"/>
          </a:ln>
        </p:spPr>
      </p:sp>
      <p:sp>
        <p:nvSpPr>
          <p:cNvPr id="13" name="Text 11"/>
          <p:cNvSpPr/>
          <p:nvPr/>
        </p:nvSpPr>
        <p:spPr>
          <a:xfrm>
            <a:off x="8192374" y="2866392"/>
            <a:ext cx="30417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Functioning_Day</a:t>
            </a:r>
            <a:endParaRPr lang="en-US" sz="1200" dirty="0"/>
          </a:p>
        </p:txBody>
      </p:sp>
      <p:sp>
        <p:nvSpPr>
          <p:cNvPr id="14" name="Text 12"/>
          <p:cNvSpPr/>
          <p:nvPr/>
        </p:nvSpPr>
        <p:spPr>
          <a:xfrm>
            <a:off x="8192374" y="3143250"/>
            <a:ext cx="3041741"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3%</a:t>
            </a:r>
            <a:endParaRPr lang="en-US" sz="2400" dirty="0"/>
          </a:p>
        </p:txBody>
      </p:sp>
      <p:sp>
        <p:nvSpPr>
          <p:cNvPr id="15" name="Text 13"/>
          <p:cNvSpPr/>
          <p:nvPr/>
        </p:nvSpPr>
        <p:spPr>
          <a:xfrm>
            <a:off x="8192374" y="3542029"/>
            <a:ext cx="30417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No 295개</a:t>
            </a:r>
            <a:endParaRPr lang="en-US" sz="1200" dirty="0"/>
          </a:p>
        </p:txBody>
      </p:sp>
      <p:sp>
        <p:nvSpPr>
          <p:cNvPr id="16" name="Text 14"/>
          <p:cNvSpPr/>
          <p:nvPr/>
        </p:nvSpPr>
        <p:spPr>
          <a:xfrm>
            <a:off x="812800" y="4141471"/>
            <a:ext cx="10566400" cy="553720"/>
          </a:xfrm>
          <a:prstGeom prst="roundRect">
            <a:avLst>
              <a:gd name="adj" fmla="val 18349"/>
            </a:avLst>
          </a:prstGeom>
          <a:solidFill>
            <a:srgbClr val="E9EFFC"/>
          </a:solidFill>
          <a:ln/>
        </p:spPr>
        <p:txBody>
          <a:bodyPr wrap="square" lIns="173442" tIns="122642" rIns="0" bIns="97242"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 비운영날 제거</a:t>
            </a:r>
            <a:endParaRPr lang="en-US" sz="1400" dirty="0"/>
          </a:p>
        </p:txBody>
      </p:sp>
      <p:sp>
        <p:nvSpPr>
          <p:cNvPr id="17" name="Text 15"/>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8" name="Text 16"/>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(Seasons)</a:t>
            </a:r>
            <a:endParaRPr lang="en-US" sz="2400" dirty="0"/>
          </a:p>
        </p:txBody>
      </p:sp>
      <p:sp>
        <p:nvSpPr>
          <p:cNvPr id="4" name="Text 2"/>
          <p:cNvSpPr/>
          <p:nvPr/>
        </p:nvSpPr>
        <p:spPr>
          <a:xfrm>
            <a:off x="812800" y="1540764"/>
            <a:ext cx="2797969" cy="340360"/>
          </a:xfrm>
          <a:prstGeom prst="roundRect">
            <a:avLst>
              <a:gd name="adj" fmla="val 22388"/>
            </a:avLst>
          </a:prstGeom>
          <a:solidFill>
            <a:srgbClr val="E9EFFC"/>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비모수 검정인 Kruskal-Wallis 검정 사용</a:t>
            </a:r>
            <a:endParaRPr lang="en-US" sz="1200" dirty="0"/>
          </a:p>
        </p:txBody>
      </p:sp>
      <p:sp>
        <p:nvSpPr>
          <p:cNvPr id="5" name="Text 3"/>
          <p:cNvSpPr/>
          <p:nvPr/>
        </p:nvSpPr>
        <p:spPr>
          <a:xfrm>
            <a:off x="5943600" y="1540764"/>
            <a:ext cx="4398264" cy="340360"/>
          </a:xfrm>
          <a:prstGeom prst="roundRect">
            <a:avLst>
              <a:gd name="adj" fmla="val 22388"/>
            </a:avLst>
          </a:prstGeom>
          <a:solidFill>
            <a:srgbClr val="E9EFFC"/>
          </a:solidFill>
          <a:ln/>
        </p:spPr>
        <p:txBody>
          <a:bodyPr wrap="none" lIns="0" tIns="0" rIns="0" bIns="0" rtlCol="0" anchor="ctr">
            <a:normAutofit/>
          </a:bodyPr>
          <a:lstStyle/>
          <a:p>
            <a:pPr algn="ct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어떤 계절끼리 다른지 보기 위해 계절 두 개씩 Mann-Whitney 검정</a:t>
            </a:r>
            <a:endParaRPr lang="en-US" sz="1200" dirty="0"/>
          </a:p>
        </p:txBody>
      </p:sp>
      <p:sp>
        <p:nvSpPr>
          <p:cNvPr id="6" name="Shape 4"/>
          <p:cNvSpPr/>
          <p:nvPr/>
        </p:nvSpPr>
        <p:spPr>
          <a:xfrm>
            <a:off x="815975" y="4343400"/>
            <a:ext cx="1143000" cy="832104"/>
          </a:xfrm>
          <a:prstGeom prst="roundRect">
            <a:avLst>
              <a:gd name="adj" fmla="val 11829"/>
            </a:avLst>
          </a:prstGeom>
          <a:solidFill>
            <a:srgbClr val="FFFFFF"/>
          </a:solidFill>
          <a:ln w="6350">
            <a:solidFill>
              <a:srgbClr val="E1E5EB"/>
            </a:solidFill>
            <a:prstDash val="solid"/>
          </a:ln>
        </p:spPr>
      </p:sp>
      <p:sp>
        <p:nvSpPr>
          <p:cNvPr id="7" name="Text 5"/>
          <p:cNvSpPr/>
          <p:nvPr/>
        </p:nvSpPr>
        <p:spPr>
          <a:xfrm>
            <a:off x="944880" y="4471416"/>
            <a:ext cx="9359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여름</a:t>
            </a:r>
            <a:endParaRPr lang="en-US" sz="1200" dirty="0"/>
          </a:p>
        </p:txBody>
      </p:sp>
      <p:sp>
        <p:nvSpPr>
          <p:cNvPr id="8" name="Text 6"/>
          <p:cNvSpPr/>
          <p:nvPr/>
        </p:nvSpPr>
        <p:spPr>
          <a:xfrm>
            <a:off x="944880" y="4709160"/>
            <a:ext cx="93599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B84E14"/>
                </a:solidFill>
                <a:latin typeface="Noto Sans KR" pitchFamily="34" charset="0"/>
                <a:ea typeface="Noto Sans KR" pitchFamily="34" charset="-122"/>
                <a:cs typeface="Noto Sans KR" pitchFamily="34" charset="-120"/>
              </a:rPr>
              <a:t>1,034</a:t>
            </a:r>
            <a:endParaRPr lang="en-US" sz="2400" dirty="0"/>
          </a:p>
        </p:txBody>
      </p:sp>
      <p:sp>
        <p:nvSpPr>
          <p:cNvPr id="9" name="Shape 7"/>
          <p:cNvSpPr/>
          <p:nvPr/>
        </p:nvSpPr>
        <p:spPr>
          <a:xfrm>
            <a:off x="2041525" y="4343400"/>
            <a:ext cx="1143000" cy="832104"/>
          </a:xfrm>
          <a:prstGeom prst="roundRect">
            <a:avLst>
              <a:gd name="adj" fmla="val 11829"/>
            </a:avLst>
          </a:prstGeom>
          <a:solidFill>
            <a:srgbClr val="FFFFFF"/>
          </a:solidFill>
          <a:ln w="6350">
            <a:solidFill>
              <a:srgbClr val="E1E5EB"/>
            </a:solidFill>
            <a:prstDash val="solid"/>
          </a:ln>
        </p:spPr>
      </p:sp>
      <p:sp>
        <p:nvSpPr>
          <p:cNvPr id="10" name="Text 8"/>
          <p:cNvSpPr/>
          <p:nvPr/>
        </p:nvSpPr>
        <p:spPr>
          <a:xfrm>
            <a:off x="2170430" y="4471416"/>
            <a:ext cx="9359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가을</a:t>
            </a:r>
            <a:endParaRPr lang="en-US" sz="1200" dirty="0"/>
          </a:p>
        </p:txBody>
      </p:sp>
      <p:sp>
        <p:nvSpPr>
          <p:cNvPr id="11" name="Text 9"/>
          <p:cNvSpPr/>
          <p:nvPr/>
        </p:nvSpPr>
        <p:spPr>
          <a:xfrm>
            <a:off x="2170430" y="4709160"/>
            <a:ext cx="93599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72033"/>
                </a:solidFill>
                <a:latin typeface="Noto Sans KR" pitchFamily="34" charset="0"/>
                <a:ea typeface="Noto Sans KR" pitchFamily="34" charset="-122"/>
                <a:cs typeface="Noto Sans KR" pitchFamily="34" charset="-120"/>
              </a:rPr>
              <a:t>924</a:t>
            </a:r>
            <a:endParaRPr lang="en-US" sz="2400" dirty="0"/>
          </a:p>
        </p:txBody>
      </p:sp>
      <p:sp>
        <p:nvSpPr>
          <p:cNvPr id="12" name="Shape 10"/>
          <p:cNvSpPr/>
          <p:nvPr/>
        </p:nvSpPr>
        <p:spPr>
          <a:xfrm>
            <a:off x="3267075" y="4343400"/>
            <a:ext cx="1143000" cy="832104"/>
          </a:xfrm>
          <a:prstGeom prst="roundRect">
            <a:avLst>
              <a:gd name="adj" fmla="val 11829"/>
            </a:avLst>
          </a:prstGeom>
          <a:solidFill>
            <a:srgbClr val="FFFFFF"/>
          </a:solidFill>
          <a:ln w="6350">
            <a:solidFill>
              <a:srgbClr val="E1E5EB"/>
            </a:solidFill>
            <a:prstDash val="solid"/>
          </a:ln>
        </p:spPr>
      </p:sp>
      <p:sp>
        <p:nvSpPr>
          <p:cNvPr id="13" name="Text 11"/>
          <p:cNvSpPr/>
          <p:nvPr/>
        </p:nvSpPr>
        <p:spPr>
          <a:xfrm>
            <a:off x="3395980" y="4471416"/>
            <a:ext cx="9359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봄</a:t>
            </a:r>
            <a:endParaRPr lang="en-US" sz="1200" dirty="0"/>
          </a:p>
        </p:txBody>
      </p:sp>
      <p:sp>
        <p:nvSpPr>
          <p:cNvPr id="14" name="Text 12"/>
          <p:cNvSpPr/>
          <p:nvPr/>
        </p:nvSpPr>
        <p:spPr>
          <a:xfrm>
            <a:off x="3395980" y="4709160"/>
            <a:ext cx="93599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72033"/>
                </a:solidFill>
                <a:latin typeface="Noto Sans KR" pitchFamily="34" charset="0"/>
                <a:ea typeface="Noto Sans KR" pitchFamily="34" charset="-122"/>
                <a:cs typeface="Noto Sans KR" pitchFamily="34" charset="-120"/>
              </a:rPr>
              <a:t>746</a:t>
            </a:r>
            <a:endParaRPr lang="en-US" sz="2400" dirty="0"/>
          </a:p>
        </p:txBody>
      </p:sp>
      <p:sp>
        <p:nvSpPr>
          <p:cNvPr id="15" name="Shape 13"/>
          <p:cNvSpPr/>
          <p:nvPr/>
        </p:nvSpPr>
        <p:spPr>
          <a:xfrm>
            <a:off x="4492625" y="4343400"/>
            <a:ext cx="1143000" cy="832104"/>
          </a:xfrm>
          <a:prstGeom prst="roundRect">
            <a:avLst>
              <a:gd name="adj" fmla="val 11829"/>
            </a:avLst>
          </a:prstGeom>
          <a:solidFill>
            <a:srgbClr val="FFFFFF"/>
          </a:solidFill>
          <a:ln w="6350">
            <a:solidFill>
              <a:srgbClr val="E1E5EB"/>
            </a:solidFill>
            <a:prstDash val="solid"/>
          </a:ln>
        </p:spPr>
      </p:sp>
      <p:sp>
        <p:nvSpPr>
          <p:cNvPr id="16" name="Text 14"/>
          <p:cNvSpPr/>
          <p:nvPr/>
        </p:nvSpPr>
        <p:spPr>
          <a:xfrm>
            <a:off x="4621530" y="4471416"/>
            <a:ext cx="9359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겨울</a:t>
            </a:r>
            <a:endParaRPr lang="en-US" sz="1200" dirty="0"/>
          </a:p>
        </p:txBody>
      </p:sp>
      <p:sp>
        <p:nvSpPr>
          <p:cNvPr id="17" name="Text 15"/>
          <p:cNvSpPr/>
          <p:nvPr/>
        </p:nvSpPr>
        <p:spPr>
          <a:xfrm>
            <a:off x="4621530" y="4709160"/>
            <a:ext cx="93599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72033"/>
                </a:solidFill>
                <a:latin typeface="Noto Sans KR" pitchFamily="34" charset="0"/>
                <a:ea typeface="Noto Sans KR" pitchFamily="34" charset="-122"/>
                <a:cs typeface="Noto Sans KR" pitchFamily="34" charset="-120"/>
              </a:rPr>
              <a:t>226</a:t>
            </a:r>
            <a:endParaRPr lang="en-US" sz="2400" dirty="0"/>
          </a:p>
        </p:txBody>
      </p:sp>
      <p:sp>
        <p:nvSpPr>
          <p:cNvPr id="26" name="Shape 23"/>
          <p:cNvSpPr/>
          <p:nvPr/>
        </p:nvSpPr>
        <p:spPr>
          <a:xfrm>
            <a:off x="5943600" y="2623871"/>
            <a:ext cx="5435600" cy="2323490"/>
          </a:xfrm>
          <a:prstGeom prst="roundRect">
            <a:avLst>
              <a:gd name="adj" fmla="val 4819"/>
            </a:avLst>
          </a:prstGeom>
          <a:solidFill>
            <a:srgbClr val="FFFFFF"/>
          </a:solidFill>
          <a:ln/>
        </p:spPr>
      </p:sp>
      <p:sp>
        <p:nvSpPr>
          <p:cNvPr id="27" name="Shape 24"/>
          <p:cNvSpPr/>
          <p:nvPr/>
        </p:nvSpPr>
        <p:spPr>
          <a:xfrm>
            <a:off x="5943600" y="2623871"/>
            <a:ext cx="5435600" cy="2323490"/>
          </a:xfrm>
          <a:custGeom>
            <a:avLst/>
            <a:gdLst/>
            <a:ahLst/>
            <a:cxnLst/>
            <a:rect l="l" t="t" r="r" b="b"/>
            <a:pathLst>
              <a:path w="5435600" h="2108200">
                <a:moveTo>
                  <a:pt x="101600" y="2108200"/>
                </a:moveTo>
                <a:lnTo>
                  <a:pt x="101600" y="2108200"/>
                </a:lnTo>
                <a:arcTo hR="101600" wR="101600" stAng="5400000" swAng="5400000"/>
                <a:lnTo>
                  <a:pt x="0" y="101600"/>
                </a:lnTo>
                <a:arcTo hR="101600" wR="101600" stAng="10800000" swAng="5400000"/>
                <a:lnTo>
                  <a:pt x="5334000" y="0"/>
                </a:lnTo>
                <a:arcTo hR="101600" wR="101600" stAng="16200000" swAng="5400000"/>
                <a:lnTo>
                  <a:pt x="5435600" y="101600"/>
                </a:lnTo>
                <a:arcTo hR="91440" wR="101600" stAng="0" swAng="-5400000"/>
                <a:lnTo>
                  <a:pt x="101600" y="10160"/>
                </a:lnTo>
                <a:arcTo hR="91440" wR="91440" stAng="16200000" swAng="-5400000"/>
                <a:lnTo>
                  <a:pt x="10160" y="2006600"/>
                </a:lnTo>
                <a:arcTo hR="101600" wR="91440" stAng="10800000" swAng="-5400000"/>
                <a:close/>
              </a:path>
            </a:pathLst>
          </a:custGeom>
          <a:solidFill>
            <a:srgbClr val="141413">
              <a:alpha val="22000"/>
            </a:srgbClr>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53658" y="2633472"/>
          <a:ext cx="5425135" cy="2304288"/>
        </p:xfrm>
        <a:graphic>
          <a:graphicData uri="http://schemas.openxmlformats.org/drawingml/2006/table">
            <a:tbl>
              <a:tblPr/>
              <a:tblGrid>
                <a:gridCol w="1828800"/>
                <a:gridCol w="1188720"/>
                <a:gridCol w="1216152"/>
                <a:gridCol w="1191463"/>
              </a:tblGrid>
              <a:tr h="329184">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비교 (A − B)</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평균 차이</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중앙값 차이</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보정 p값</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r>
              <a:tr h="329184">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봄 − 여름</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-287.8</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-306.5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9184">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봄 − 가을</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-177.9</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-257.0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9184">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봄 − 겨울</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520.7</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396.0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9184">
                <a:tc>
                  <a:txBody>
                    <a:bodyPr/>
                    <a:lstStyle/>
                    <a:p>
                      <a:pP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여름 − 가을</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110.0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49.5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r>
              <a:tr h="329184">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여름 − 겨울</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808.5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702.5</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9184">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가을 − 겨울</a:t>
                      </a:r>
                      <a:endParaRPr lang="en-US" sz="1200" dirty="0">
                        <a:latin typeface="Noto Sans KR" charset="0"/>
                        <a:ea typeface="Noto Sans KR" charset="0"/>
                        <a:cs typeface="Noto Sans KR" charset="0"/>
                      </a:endParaRPr>
                    </a:p>
                  </a:txBody>
                  <a:tcPr marL="88900" marR="88900" marT="38100" marB="38100" anchor="ctr">
                    <a:lnL w="0" cap="flat" cmpd="sng" algn="ctr">
                      <a:noFill/>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698.6</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653.0</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&lt; 0.0001</a:t>
                      </a:r>
                      <a:endParaRPr lang="en-US" sz="1200" dirty="0">
                        <a:latin typeface="Noto Sans KR" charset="0"/>
                        <a:ea typeface="Noto Sans KR" charset="0"/>
                        <a:cs typeface="Noto Sans KR" charset="0"/>
                      </a:endParaRPr>
                    </a:p>
                  </a:txBody>
                  <a:tcPr marL="88900" marR="88900" marT="38100" marB="38100" anchor="ctr">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9" name="Text 25"/>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30" name="Text 26"/>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15</a:t>
            </a:r>
            <a:endParaRPr lang="en-US" sz="1200" dirty="0"/>
          </a:p>
        </p:txBody>
      </p:sp>
      <p:sp>
        <p:nvSpPr>
          <p:cNvPr id="31" name="Text KW Result"/>
          <p:cNvSpPr/>
          <p:nvPr/>
        </p:nvSpPr>
        <p:spPr>
          <a:xfrm>
            <a:off x="812902" y="2807208"/>
            <a:ext cx="4818888" cy="2194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계절 간 분포에 유의한 차이</a:t>
            </a:r>
            <a:endParaRPr lang="en-US" sz="1200" dirty="0"/>
          </a:p>
        </p:txBody>
      </p:sp>
      <p:sp>
        <p:nvSpPr>
          <p:cNvPr id="32" name="Text MW Result"/>
          <p:cNvSpPr/>
          <p:nvPr/>
        </p:nvSpPr>
        <p:spPr>
          <a:xfrm>
            <a:off x="5943600" y="1965960"/>
            <a:ext cx="5435194" cy="2194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여러 번 검정한 만큼 Bonferroni 보정(p값 × 6) 적용</a:t>
            </a:r>
            <a:endParaRPr lang="en-US" sz="1200" dirty="0"/>
          </a:p>
        </p:txBody>
      </p:sp>
      <p:pic>
        <p:nvPicPr>
          <p:cNvPr id="34" name="Image KW Result" descr="Kruskal-Wallis 검정 출력: Kruskal-Wallis H = 2513.76, p-value = 0.000e+00 / 효과크기 epsilon² = 0.297"/>
          <p:cNvPicPr>
            <a:picLocks noChangeAspect="1"/>
          </p:cNvPicPr>
          <p:nvPr/>
        </p:nvPicPr>
        <p:blipFill>
          <a:blip r:embed="rId4"/>
          <a:stretch>
            <a:fillRect/>
          </a:stretch>
        </p:blipFill>
        <p:spPr>
          <a:xfrm>
            <a:off x="812902" y="1956816"/>
            <a:ext cx="4389120" cy="702815"/>
          </a:xfrm>
          <a:prstGeom prst="rect">
            <a:avLst/>
          </a:prstGeom>
        </p:spPr>
      </p:pic>
      <p:sp>
        <p:nvSpPr>
          <p:cNvPr id="35" name="Text MW Closing"/>
          <p:cNvSpPr/>
          <p:nvPr/>
        </p:nvSpPr>
        <p:spPr>
          <a:xfrm>
            <a:off x="5943600" y="5084064"/>
            <a:ext cx="5435194" cy="21945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 여름–가을 차이가 가장 작고, 겨울과 나머지 계절의 차이가 가장 큼</a:t>
            </a:r>
            <a:endParaRPr lang="en-US" sz="1200" dirty="0"/>
          </a:p>
        </p:txBody>
      </p:sp>
      <p:sp>
        <p:nvSpPr>
          <p:cNvPr id="36" name="Text KW Effect"/>
          <p:cNvSpPr/>
          <p:nvPr/>
        </p:nvSpPr>
        <p:spPr>
          <a:xfrm>
            <a:off x="812902" y="3072384"/>
            <a:ext cx="4818888" cy="2194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효과크기 ε² = 0.297 · 큰 효과 (0.26 이상이면 큼)</a:t>
            </a:r>
            <a:endParaRPr lang="en-US" sz="1200" dirty="0"/>
          </a:p>
        </p:txBody>
      </p:sp>
      <p:sp>
        <p:nvSpPr>
          <p:cNvPr id="37" name="Text Mean Label"/>
          <p:cNvSpPr/>
          <p:nvPr/>
        </p:nvSpPr>
        <p:spPr>
          <a:xfrm>
            <a:off x="812902" y="4041648"/>
            <a:ext cx="4818888" cy="21945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계절별 평균 대여량</a:t>
            </a:r>
            <a:endParaRPr lang="en-US" sz="1200" dirty="0"/>
          </a:p>
        </p:txBody>
      </p:sp>
      <p:sp>
        <p:nvSpPr>
          <p:cNvPr id="38" name="Text MW Sig"/>
          <p:cNvSpPr/>
          <p:nvPr/>
        </p:nvSpPr>
        <p:spPr>
          <a:xfrm>
            <a:off x="5943600" y="2231136"/>
            <a:ext cx="5435194" cy="21945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6개 계절 쌍 모두 보정 p &lt; 0.05로 유의</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(Seasons · 시간대)</a:t>
            </a:r>
            <a:endParaRPr lang="en-US" sz="2400" dirty="0"/>
          </a:p>
        </p:txBody>
      </p:sp>
      <p:sp>
        <p:nvSpPr>
          <p:cNvPr id="18" name="Shape 16"/>
          <p:cNvSpPr/>
          <p:nvPr/>
        </p:nvSpPr>
        <p:spPr>
          <a:xfrm>
            <a:off x="815975" y="1541146"/>
            <a:ext cx="4819650" cy="2035810"/>
          </a:xfrm>
          <a:prstGeom prst="roundRect">
            <a:avLst>
              <a:gd name="adj" fmla="val 6083"/>
            </a:avLst>
          </a:prstGeom>
          <a:solidFill>
            <a:srgbClr val="FFFFFF"/>
          </a:solidFill>
          <a:ln w="6350">
            <a:solidFill>
              <a:srgbClr val="E1E5EB"/>
            </a:solidFill>
            <a:prstDash val="solid"/>
          </a:ln>
        </p:spPr>
      </p:sp>
      <p:sp>
        <p:nvSpPr>
          <p:cNvPr id="19" name="Text 17"/>
          <p:cNvSpPr/>
          <p:nvPr/>
        </p:nvSpPr>
        <p:spPr>
          <a:xfrm>
            <a:off x="1021080" y="1815466"/>
            <a:ext cx="45417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왜 여름이 많을까?</a:t>
            </a:r>
            <a:endParaRPr lang="en-US" sz="1400" dirty="0"/>
          </a:p>
        </p:txBody>
      </p:sp>
      <p:sp>
        <p:nvSpPr>
          <p:cNvPr id="20" name="Text 18"/>
          <p:cNvSpPr/>
          <p:nvPr/>
        </p:nvSpPr>
        <p:spPr>
          <a:xfrm>
            <a:off x="1021080" y="2290954"/>
            <a:ext cx="45417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가설) 여름에는 해가 길어서 저녁까지 탈 수 있기에 많은 것 같다</a:t>
            </a:r>
            <a:endParaRPr lang="en-US" sz="1200" dirty="0"/>
          </a:p>
        </p:txBody>
      </p:sp>
      <p:sp>
        <p:nvSpPr>
          <p:cNvPr id="21" name="Text 19"/>
          <p:cNvSpPr/>
          <p:nvPr/>
        </p:nvSpPr>
        <p:spPr>
          <a:xfrm>
            <a:off x="1021080" y="2610994"/>
            <a:ext cx="45417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계절별 시간대 그래프로 저녁시간에 차이가 나는지 확인</a:t>
            </a:r>
            <a:endParaRPr lang="en-US" sz="1200" dirty="0"/>
          </a:p>
        </p:txBody>
      </p:sp>
      <p:sp>
        <p:nvSpPr>
          <p:cNvPr id="22" name="Text 20"/>
          <p:cNvSpPr/>
          <p:nvPr/>
        </p:nvSpPr>
        <p:spPr>
          <a:xfrm>
            <a:off x="1021080" y="2931034"/>
            <a:ext cx="454172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 저녁, 밤 시간대의 이유 O</a:t>
            </a:r>
            <a:endParaRPr lang="en-US" sz="1200" dirty="0"/>
          </a:p>
        </p:txBody>
      </p:sp>
      <p:sp>
        <p:nvSpPr>
          <p:cNvPr id="24" name="Shape 22"/>
          <p:cNvSpPr/>
          <p:nvPr/>
        </p:nvSpPr>
        <p:spPr>
          <a:xfrm>
            <a:off x="5946775" y="1541146"/>
            <a:ext cx="5429250" cy="2035810"/>
          </a:xfrm>
          <a:prstGeom prst="roundRect">
            <a:avLst>
              <a:gd name="adj" fmla="val 6082"/>
            </a:avLst>
          </a:prstGeom>
          <a:solidFill>
            <a:srgbClr val="FFFFFF"/>
          </a:solidFill>
          <a:ln w="6350">
            <a:solidFill>
              <a:srgbClr val="E1E5EB"/>
            </a:solidFill>
            <a:prstDash val="solid"/>
          </a:ln>
        </p:spPr>
      </p:sp>
      <p:pic>
        <p:nvPicPr>
          <p:cNvPr id="25" name="Image 0" descr="계절별 시간대 평균 대여량 선 그래프: 19~22시 구간에서 여름이 가장 높음">    </p:cNvPr>
          <p:cNvPicPr>
            <a:picLocks noChangeAspect="1"/>
          </p:cNvPicPr>
          <p:nvPr/>
        </p:nvPicPr>
        <p:blipFill>
          <a:blip r:embed="rId1"/>
          <a:srcRect l="-19" r="-19" t="0" b="0"/>
          <a:stretch/>
        </p:blipFill>
        <p:spPr>
          <a:xfrm>
            <a:off x="6696075" y="1670050"/>
            <a:ext cx="3930650" cy="1778000"/>
          </a:xfrm>
          <a:prstGeom prst="rect">
            <a:avLst/>
          </a:prstGeom>
        </p:spPr>
      </p:pic>
      <p:sp>
        <p:nvSpPr>
          <p:cNvPr id="26" name="Shape 23"/>
          <p:cNvSpPr/>
          <p:nvPr/>
        </p:nvSpPr>
        <p:spPr>
          <a:xfrm>
            <a:off x="5943600" y="3681729"/>
            <a:ext cx="5435600" cy="2108200"/>
          </a:xfrm>
          <a:prstGeom prst="roundRect">
            <a:avLst>
              <a:gd name="adj" fmla="val 4819"/>
            </a:avLst>
          </a:prstGeom>
          <a:solidFill>
            <a:srgbClr val="FFFFFF"/>
          </a:solidFill>
          <a:ln/>
        </p:spPr>
      </p:sp>
      <p:sp>
        <p:nvSpPr>
          <p:cNvPr id="27" name="Shape 24"/>
          <p:cNvSpPr/>
          <p:nvPr/>
        </p:nvSpPr>
        <p:spPr>
          <a:xfrm>
            <a:off x="5943600" y="3681729"/>
            <a:ext cx="5435600" cy="2108200"/>
          </a:xfrm>
          <a:custGeom>
            <a:avLst/>
            <a:gdLst/>
            <a:ahLst/>
            <a:cxnLst/>
            <a:rect l="l" t="t" r="r" b="b"/>
            <a:pathLst>
              <a:path w="5435600" h="2108200">
                <a:moveTo>
                  <a:pt x="101600" y="2108200"/>
                </a:moveTo>
                <a:lnTo>
                  <a:pt x="101600" y="2108200"/>
                </a:lnTo>
                <a:arcTo hR="101600" wR="101600" stAng="5400000" swAng="5400000"/>
                <a:lnTo>
                  <a:pt x="0" y="101600"/>
                </a:lnTo>
                <a:arcTo hR="101600" wR="101600" stAng="10800000" swAng="5400000"/>
                <a:lnTo>
                  <a:pt x="5334000" y="0"/>
                </a:lnTo>
                <a:arcTo hR="101600" wR="101600" stAng="16200000" swAng="5400000"/>
                <a:lnTo>
                  <a:pt x="5435600" y="101600"/>
                </a:lnTo>
                <a:arcTo hR="91440" wR="101600" stAng="0" swAng="-5400000"/>
                <a:lnTo>
                  <a:pt x="101600" y="10160"/>
                </a:lnTo>
                <a:arcTo hR="91440" wR="91440" stAng="16200000" swAng="-5400000"/>
                <a:lnTo>
                  <a:pt x="10160" y="2006600"/>
                </a:lnTo>
                <a:arcTo hR="101600" wR="91440" stAng="10800000" swAng="-5400000"/>
                <a:close/>
              </a:path>
            </a:pathLst>
          </a:custGeom>
          <a:solidFill>
            <a:srgbClr val="141413">
              <a:alpha val="22000"/>
            </a:srgbClr>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953760" y="3691889"/>
          <a:ext cx="5425440" cy="2098040"/>
        </p:xfrm>
        <a:graphic>
          <a:graphicData uri="http://schemas.openxmlformats.org/drawingml/2006/table">
            <a:tbl>
              <a:tblPr/>
              <a:tblGrid>
                <a:gridCol w="1302106"/>
                <a:gridCol w="596798"/>
                <a:gridCol w="596798"/>
                <a:gridCol w="596798"/>
                <a:gridCol w="596798"/>
                <a:gridCol w="1736141"/>
              </a:tblGrid>
              <a:tr h="299720">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시간대</a:t>
                      </a:r>
                      <a:endParaRPr lang="en-US" sz="1200" dirty="0">
                        <a:latin typeface="Noto Sans KR" charset="0"/>
                        <a:ea typeface="Noto Sans KR" charset="0"/>
                        <a:cs typeface="Noto Sans KR" charset="0"/>
                      </a:endParaRPr>
                    </a:p>
                  </a:txBody>
                  <a:tcPr marL="88900" marR="88900" marT="38100" marB="38100" anchor="t">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봄</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여름</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가을</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겨울</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여름 − 봄·가을 평균</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r>
              <a:tr h="2997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새벽(0~6시)</a:t>
                      </a:r>
                      <a:endParaRPr lang="en-US" sz="1200" dirty="0">
                        <a:latin typeface="Noto Sans KR" charset="0"/>
                        <a:ea typeface="Noto Sans KR" charset="0"/>
                        <a:cs typeface="Noto Sans KR" charset="0"/>
                      </a:endParaRPr>
                    </a:p>
                  </a:txBody>
                  <a:tcPr marL="88900" marR="88900" marT="38100" marB="381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250</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486</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370</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102</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176</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97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출근(7~9시)</a:t>
                      </a:r>
                      <a:endParaRPr lang="en-US" sz="1200" dirty="0">
                        <a:latin typeface="Noto Sans KR" charset="0"/>
                        <a:ea typeface="Noto Sans KR" charset="0"/>
                        <a:cs typeface="Noto Sans KR" charset="0"/>
                      </a:endParaRPr>
                    </a:p>
                  </a:txBody>
                  <a:tcPr marL="88900" marR="88900" marT="38100" marB="381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774</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1077</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994</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295</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193</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97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낮(10~16시)</a:t>
                      </a:r>
                      <a:endParaRPr lang="en-US" sz="1200" dirty="0">
                        <a:latin typeface="Noto Sans KR" charset="0"/>
                        <a:ea typeface="Noto Sans KR" charset="0"/>
                        <a:cs typeface="Noto Sans KR" charset="0"/>
                      </a:endParaRPr>
                    </a:p>
                  </a:txBody>
                  <a:tcPr marL="88900" marR="88900" marT="38100" marB="381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856</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908</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995</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264</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-18</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97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퇴근(17~18시)</a:t>
                      </a:r>
                      <a:endParaRPr lang="en-US" sz="1200" dirty="0">
                        <a:latin typeface="Noto Sans KR" charset="0"/>
                        <a:ea typeface="Noto Sans KR" charset="0"/>
                        <a:cs typeface="Noto Sans KR" charset="0"/>
                      </a:endParaRPr>
                    </a:p>
                  </a:txBody>
                  <a:tcPr marL="88900" marR="88900" marT="38100" marB="381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1499</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1831</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1773</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390</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195</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99720">
                <a:tc>
                  <a:txBody>
                    <a:bodyPr/>
                    <a:lstStyle/>
                    <a:p>
                      <a:pP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저녁(19~22시)</a:t>
                      </a:r>
                      <a:endParaRPr lang="en-US" sz="1200" dirty="0">
                        <a:latin typeface="Noto Sans KR" charset="0"/>
                        <a:ea typeface="Noto Sans KR" charset="0"/>
                        <a:cs typeface="Noto Sans KR" charset="0"/>
                      </a:endParaRPr>
                    </a:p>
                  </a:txBody>
                  <a:tcPr marL="88900" marR="88900" marT="38100" marB="38100" anchor="t">
                    <a:lnL w="0" cap="flat" cmpd="sng" algn="ctr">
                      <a:noFill/>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1057</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1753</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1305</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253</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572</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r>
              <a:tr h="2997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밤(23시)</a:t>
                      </a:r>
                      <a:endParaRPr lang="en-US" sz="1200" dirty="0">
                        <a:latin typeface="Noto Sans KR" charset="0"/>
                        <a:ea typeface="Noto Sans KR" charset="0"/>
                        <a:cs typeface="Noto Sans KR" charset="0"/>
                      </a:endParaRPr>
                    </a:p>
                  </a:txBody>
                  <a:tcPr marL="88900" marR="88900" marT="38100" marB="381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623</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1154</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829</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173</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428</a:t>
                      </a:r>
                      <a:endParaRPr lang="en-US" sz="1200" dirty="0">
                        <a:latin typeface="Noto Sans KR" charset="0"/>
                        <a:ea typeface="Noto Sans KR" charset="0"/>
                        <a:cs typeface="Noto Sans KR" charset="0"/>
                      </a:endParaRPr>
                    </a:p>
                  </a:txBody>
                  <a:tcPr marL="88900" marR="889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FB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9" name="Text 25"/>
          <p:cNvSpPr/>
          <p:nvPr/>
        </p:nvSpPr>
        <p:spPr>
          <a:xfrm>
            <a:off x="812800" y="6268721"/>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30" name="Text 26"/>
          <p:cNvSpPr/>
          <p:nvPr/>
        </p:nvSpPr>
        <p:spPr>
          <a:xfrm>
            <a:off x="10566400" y="6268721"/>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16</a:t>
            </a:r>
            <a:endParaRPr lang="en-US" sz="1200" dirty="0"/>
          </a:p>
        </p:txBody>
      </p:sp>
      <p:sp>
        <p:nvSpPr>
          <p:cNvPr id="31" name="Shape Evening"/>
          <p:cNvSpPr/>
          <p:nvPr/>
        </p:nvSpPr>
        <p:spPr>
          <a:xfrm>
            <a:off x="815975" y="3681729"/>
            <a:ext cx="4819650" cy="2108200"/>
          </a:xfrm>
          <a:prstGeom prst="roundRect">
            <a:avLst>
              <a:gd name="adj" fmla="val 5874"/>
            </a:avLst>
          </a:prstGeom>
          <a:solidFill>
            <a:srgbClr val="FFFFFF"/>
          </a:solidFill>
          <a:ln w="6350">
            <a:solidFill>
              <a:srgbClr val="E1E5EB"/>
            </a:solidFill>
            <a:prstDash val="solid"/>
          </a:ln>
        </p:spPr>
      </p:sp>
      <p:sp>
        <p:nvSpPr>
          <p:cNvPr id="32" name="Text Evening Head"/>
          <p:cNvSpPr/>
          <p:nvPr/>
        </p:nvSpPr>
        <p:spPr>
          <a:xfrm>
            <a:off x="1021080" y="3901185"/>
            <a:ext cx="454172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저녁(19~22시) 대여 비중</a:t>
            </a:r>
            <a:endParaRPr lang="en-US" sz="1400" dirty="0"/>
          </a:p>
        </p:txBody>
      </p:sp>
      <p:sp>
        <p:nvSpPr>
          <p:cNvPr id="6" name="Shape 4"/>
          <p:cNvSpPr/>
          <p:nvPr/>
        </p:nvSpPr>
        <p:spPr>
          <a:xfrm>
            <a:off x="1021080" y="4340097"/>
            <a:ext cx="1033272" cy="822960"/>
          </a:xfrm>
          <a:prstGeom prst="roundRect">
            <a:avLst>
              <a:gd name="adj" fmla="val 11960"/>
            </a:avLst>
          </a:prstGeom>
          <a:solidFill>
            <a:srgbClr val="F5F6F8"/>
          </a:solidFill>
          <a:ln w="6350">
            <a:noFill/>
            <a:prstDash val="solid"/>
          </a:ln>
        </p:spPr>
      </p:sp>
      <p:sp>
        <p:nvSpPr>
          <p:cNvPr id="7" name="Text 5"/>
          <p:cNvSpPr/>
          <p:nvPr/>
        </p:nvSpPr>
        <p:spPr>
          <a:xfrm>
            <a:off x="1149096" y="4449825"/>
            <a:ext cx="850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여름</a:t>
            </a:r>
            <a:endParaRPr lang="en-US" sz="1200" dirty="0"/>
          </a:p>
        </p:txBody>
      </p:sp>
      <p:sp>
        <p:nvSpPr>
          <p:cNvPr id="8" name="Text 6"/>
          <p:cNvSpPr/>
          <p:nvPr/>
        </p:nvSpPr>
        <p:spPr>
          <a:xfrm>
            <a:off x="1149096" y="4696713"/>
            <a:ext cx="850392" cy="360680"/>
          </a:xfrm>
          <a:prstGeom prst="rect">
            <a:avLst/>
          </a:prstGeom>
          <a:noFill/>
          <a:ln/>
        </p:spPr>
        <p:txBody>
          <a:bodyPr wrap="square" lIns="0" tIns="0" rIns="0" bIns="0" rtlCol="0" anchor="t">
            <a:normAutofit/>
          </a:bodyPr>
          <a:lstStyle/>
          <a:p>
            <a:pPr algn="l" indent="0" marL="0">
              <a:lnSpc>
                <a:spcPts val="2200"/>
              </a:lnSpc>
              <a:buNone/>
            </a:pPr>
            <a:r>
              <a:rPr lang="en-US" sz="1800" b="1" dirty="0">
                <a:solidFill>
                  <a:srgbClr val="B84E14"/>
                </a:solidFill>
                <a:latin typeface="Noto Sans KR" pitchFamily="34" charset="0"/>
                <a:ea typeface="Noto Sans KR" pitchFamily="34" charset="-122"/>
                <a:cs typeface="Noto Sans KR" pitchFamily="34" charset="-120"/>
              </a:rPr>
              <a:t>28.3%</a:t>
            </a:r>
            <a:endParaRPr lang="en-US" sz="2400" dirty="0"/>
          </a:p>
        </p:txBody>
      </p:sp>
      <p:sp>
        <p:nvSpPr>
          <p:cNvPr id="9" name="Shape 7"/>
          <p:cNvSpPr/>
          <p:nvPr/>
        </p:nvSpPr>
        <p:spPr>
          <a:xfrm>
            <a:off x="2148535" y="4340097"/>
            <a:ext cx="1033272" cy="822960"/>
          </a:xfrm>
          <a:prstGeom prst="roundRect">
            <a:avLst>
              <a:gd name="adj" fmla="val 11960"/>
            </a:avLst>
          </a:prstGeom>
          <a:solidFill>
            <a:srgbClr val="F5F6F8"/>
          </a:solidFill>
          <a:ln w="6350">
            <a:noFill/>
            <a:prstDash val="solid"/>
          </a:ln>
        </p:spPr>
      </p:sp>
      <p:sp>
        <p:nvSpPr>
          <p:cNvPr id="10" name="Text 8"/>
          <p:cNvSpPr/>
          <p:nvPr/>
        </p:nvSpPr>
        <p:spPr>
          <a:xfrm>
            <a:off x="2276551" y="4449825"/>
            <a:ext cx="850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봄</a:t>
            </a:r>
            <a:endParaRPr lang="en-US" sz="1200" dirty="0"/>
          </a:p>
        </p:txBody>
      </p:sp>
      <p:sp>
        <p:nvSpPr>
          <p:cNvPr id="11" name="Text 9"/>
          <p:cNvSpPr/>
          <p:nvPr/>
        </p:nvSpPr>
        <p:spPr>
          <a:xfrm>
            <a:off x="2276551" y="4696713"/>
            <a:ext cx="850392" cy="360680"/>
          </a:xfrm>
          <a:prstGeom prst="rect">
            <a:avLst/>
          </a:prstGeom>
          <a:noFill/>
          <a:ln/>
        </p:spPr>
        <p:txBody>
          <a:bodyPr wrap="square" lIns="0" tIns="0" rIns="0" bIns="0" rtlCol="0" anchor="t">
            <a:normAutofit/>
          </a:bodyPr>
          <a:lstStyle/>
          <a:p>
            <a:pPr algn="l" indent="0" marL="0">
              <a:lnSpc>
                <a:spcPts val="2200"/>
              </a:lnSpc>
              <a:buNone/>
            </a:pPr>
            <a:r>
              <a:rPr lang="en-US" sz="1800" b="1" dirty="0">
                <a:solidFill>
                  <a:srgbClr val="172033"/>
                </a:solidFill>
                <a:latin typeface="Noto Sans KR" pitchFamily="34" charset="0"/>
                <a:ea typeface="Noto Sans KR" pitchFamily="34" charset="-122"/>
                <a:cs typeface="Noto Sans KR" pitchFamily="34" charset="-120"/>
              </a:rPr>
              <a:t>23.6%</a:t>
            </a:r>
            <a:endParaRPr lang="en-US" sz="2400" dirty="0"/>
          </a:p>
        </p:txBody>
      </p:sp>
      <p:sp>
        <p:nvSpPr>
          <p:cNvPr id="12" name="Shape 10"/>
          <p:cNvSpPr/>
          <p:nvPr/>
        </p:nvSpPr>
        <p:spPr>
          <a:xfrm>
            <a:off x="3275990" y="4340097"/>
            <a:ext cx="1033272" cy="822960"/>
          </a:xfrm>
          <a:prstGeom prst="roundRect">
            <a:avLst>
              <a:gd name="adj" fmla="val 11960"/>
            </a:avLst>
          </a:prstGeom>
          <a:solidFill>
            <a:srgbClr val="F5F6F8"/>
          </a:solidFill>
          <a:ln w="6350">
            <a:noFill/>
            <a:prstDash val="solid"/>
          </a:ln>
        </p:spPr>
      </p:sp>
      <p:sp>
        <p:nvSpPr>
          <p:cNvPr id="13" name="Text 11"/>
          <p:cNvSpPr/>
          <p:nvPr/>
        </p:nvSpPr>
        <p:spPr>
          <a:xfrm>
            <a:off x="3404006" y="4449825"/>
            <a:ext cx="850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가을</a:t>
            </a:r>
            <a:endParaRPr lang="en-US" sz="1200" dirty="0"/>
          </a:p>
        </p:txBody>
      </p:sp>
      <p:sp>
        <p:nvSpPr>
          <p:cNvPr id="14" name="Text 12"/>
          <p:cNvSpPr/>
          <p:nvPr/>
        </p:nvSpPr>
        <p:spPr>
          <a:xfrm>
            <a:off x="3404006" y="4696713"/>
            <a:ext cx="850392" cy="360680"/>
          </a:xfrm>
          <a:prstGeom prst="rect">
            <a:avLst/>
          </a:prstGeom>
          <a:noFill/>
          <a:ln/>
        </p:spPr>
        <p:txBody>
          <a:bodyPr wrap="square" lIns="0" tIns="0" rIns="0" bIns="0" rtlCol="0" anchor="t">
            <a:normAutofit/>
          </a:bodyPr>
          <a:lstStyle/>
          <a:p>
            <a:pPr algn="l" indent="0" marL="0">
              <a:lnSpc>
                <a:spcPts val="2200"/>
              </a:lnSpc>
              <a:buNone/>
            </a:pPr>
            <a:r>
              <a:rPr lang="en-US" sz="1800" b="1" dirty="0">
                <a:solidFill>
                  <a:srgbClr val="172033"/>
                </a:solidFill>
                <a:latin typeface="Noto Sans KR" pitchFamily="34" charset="0"/>
                <a:ea typeface="Noto Sans KR" pitchFamily="34" charset="-122"/>
                <a:cs typeface="Noto Sans KR" pitchFamily="34" charset="-120"/>
              </a:rPr>
              <a:t>23.6%</a:t>
            </a:r>
            <a:endParaRPr lang="en-US" sz="2400" dirty="0"/>
          </a:p>
        </p:txBody>
      </p:sp>
      <p:sp>
        <p:nvSpPr>
          <p:cNvPr id="15" name="Shape 13"/>
          <p:cNvSpPr/>
          <p:nvPr/>
        </p:nvSpPr>
        <p:spPr>
          <a:xfrm>
            <a:off x="4403446" y="4340097"/>
            <a:ext cx="1033272" cy="822960"/>
          </a:xfrm>
          <a:prstGeom prst="roundRect">
            <a:avLst>
              <a:gd name="adj" fmla="val 11960"/>
            </a:avLst>
          </a:prstGeom>
          <a:solidFill>
            <a:srgbClr val="F5F6F8"/>
          </a:solidFill>
          <a:ln w="6350">
            <a:noFill/>
            <a:prstDash val="solid"/>
          </a:ln>
        </p:spPr>
      </p:sp>
      <p:sp>
        <p:nvSpPr>
          <p:cNvPr id="16" name="Text 14"/>
          <p:cNvSpPr/>
          <p:nvPr/>
        </p:nvSpPr>
        <p:spPr>
          <a:xfrm>
            <a:off x="4531462" y="4449825"/>
            <a:ext cx="850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겨울</a:t>
            </a:r>
            <a:endParaRPr lang="en-US" sz="1200" dirty="0"/>
          </a:p>
        </p:txBody>
      </p:sp>
      <p:sp>
        <p:nvSpPr>
          <p:cNvPr id="17" name="Text 15"/>
          <p:cNvSpPr/>
          <p:nvPr/>
        </p:nvSpPr>
        <p:spPr>
          <a:xfrm>
            <a:off x="4531462" y="4696713"/>
            <a:ext cx="850392" cy="360680"/>
          </a:xfrm>
          <a:prstGeom prst="rect">
            <a:avLst/>
          </a:prstGeom>
          <a:noFill/>
          <a:ln/>
        </p:spPr>
        <p:txBody>
          <a:bodyPr wrap="square" lIns="0" tIns="0" rIns="0" bIns="0" rtlCol="0" anchor="t">
            <a:normAutofit/>
          </a:bodyPr>
          <a:lstStyle/>
          <a:p>
            <a:pPr algn="l" indent="0" marL="0">
              <a:lnSpc>
                <a:spcPts val="2200"/>
              </a:lnSpc>
              <a:buNone/>
            </a:pPr>
            <a:r>
              <a:rPr lang="en-US" sz="1800" b="1" dirty="0">
                <a:solidFill>
                  <a:srgbClr val="172033"/>
                </a:solidFill>
                <a:latin typeface="Noto Sans KR" pitchFamily="34" charset="0"/>
                <a:ea typeface="Noto Sans KR" pitchFamily="34" charset="-122"/>
                <a:cs typeface="Noto Sans KR" pitchFamily="34" charset="-120"/>
              </a:rPr>
              <a:t>18.7%</a:t>
            </a:r>
            <a:endParaRPr lang="en-US" sz="2400" dirty="0"/>
          </a:p>
        </p:txBody>
      </p:sp>
      <p:sp>
        <p:nvSpPr>
          <p:cNvPr id="33" name="Text Evening Note"/>
          <p:cNvSpPr/>
          <p:nvPr/>
        </p:nvSpPr>
        <p:spPr>
          <a:xfrm>
            <a:off x="1021080" y="5345937"/>
            <a:ext cx="45417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저녁(19~22시)에는 여름이 봄·가을 평균보다 약 570건 많음</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p:nvPr>
            <p:ph type="title"/>
          </p:nvPr>
        </p:nvSpPr>
        <p:spPr>
          <a:xfrm>
            <a:off x="812800" y="881379"/>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(요일)</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5"/>
                </a:solidFill>
                <a:latin typeface="Noto Sans KR" pitchFamily="34" charset="0"/>
                <a:ea typeface="Noto Sans KR" pitchFamily="34" charset="-122"/>
                <a:cs typeface="Noto Sans KR" pitchFamily="34" charset="-120"/>
              </a:rPr>
              <a:t>공휴일, 주말, 주중(공휴일X) 여부별 대여량</a:t>
            </a:r>
            <a:endParaRPr lang="en-US" sz="1400" dirty="0"/>
          </a:p>
        </p:txBody>
      </p:sp>
      <p:sp>
        <p:nvSpPr>
          <p:cNvPr id="5" name="Shape 3"/>
          <p:cNvSpPr/>
          <p:nvPr/>
        </p:nvSpPr>
        <p:spPr>
          <a:xfrm>
            <a:off x="815975" y="2080902"/>
            <a:ext cx="5845810" cy="2797810"/>
          </a:xfrm>
          <a:prstGeom prst="roundRect">
            <a:avLst>
              <a:gd name="adj" fmla="val 4426"/>
            </a:avLst>
          </a:prstGeom>
          <a:solidFill>
            <a:srgbClr val="FFFFFF"/>
          </a:solidFill>
          <a:ln w="6350">
            <a:solidFill>
              <a:srgbClr val="E1E5EB"/>
            </a:solidFill>
            <a:prstDash val="solid"/>
          </a:ln>
        </p:spPr>
      </p:sp>
      <p:pic>
        <p:nvPicPr>
          <p:cNvPr id="6" name="Image 0" descr="Workday, Weekend, Holiday별 시간대 평균 대여량 선 그래프: Workday만 8시와 18시에 뚜렷한 피크">    </p:cNvPr>
          <p:cNvPicPr>
            <a:picLocks noChangeAspect="1"/>
          </p:cNvPicPr>
          <p:nvPr/>
        </p:nvPicPr>
        <p:blipFill>
          <a:blip r:embed="rId1"/>
          <a:srcRect l="-79" r="-79" t="0" b="0"/>
          <a:stretch/>
        </p:blipFill>
        <p:spPr>
          <a:xfrm>
            <a:off x="944880" y="2209800"/>
            <a:ext cx="5588000" cy="2540000"/>
          </a:xfrm>
          <a:prstGeom prst="rect">
            <a:avLst/>
          </a:prstGeom>
        </p:spPr>
      </p:pic>
      <p:sp>
        <p:nvSpPr>
          <p:cNvPr id="7" name="Text 4"/>
          <p:cNvSpPr/>
          <p:nvPr/>
        </p:nvSpPr>
        <p:spPr>
          <a:xfrm>
            <a:off x="6868160" y="2669542"/>
            <a:ext cx="46463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DayType별 표본 수와 대여량</a:t>
            </a:r>
            <a:endParaRPr lang="en-US" sz="1200" dirty="0"/>
          </a:p>
        </p:txBody>
      </p:sp>
      <p:sp>
        <p:nvSpPr>
          <p:cNvPr id="8" name="Shape 5"/>
          <p:cNvSpPr/>
          <p:nvPr/>
        </p:nvSpPr>
        <p:spPr>
          <a:xfrm>
            <a:off x="6868160" y="2959100"/>
            <a:ext cx="4508500" cy="1330960"/>
          </a:xfrm>
          <a:prstGeom prst="roundRect">
            <a:avLst>
              <a:gd name="adj" fmla="val 7634"/>
            </a:avLst>
          </a:prstGeom>
          <a:solidFill>
            <a:srgbClr val="FFFFFF"/>
          </a:solidFill>
          <a:ln/>
        </p:spPr>
      </p:sp>
      <p:sp>
        <p:nvSpPr>
          <p:cNvPr id="9" name="Shape 6"/>
          <p:cNvSpPr/>
          <p:nvPr/>
        </p:nvSpPr>
        <p:spPr>
          <a:xfrm>
            <a:off x="6868160" y="2959100"/>
            <a:ext cx="4508500" cy="1330960"/>
          </a:xfrm>
          <a:custGeom>
            <a:avLst/>
            <a:gdLst/>
            <a:ahLst/>
            <a:cxnLst/>
            <a:rect l="l" t="t" r="r" b="b"/>
            <a:pathLst>
              <a:path w="4508500" h="1330960">
                <a:moveTo>
                  <a:pt x="101600" y="1330960"/>
                </a:moveTo>
                <a:lnTo>
                  <a:pt x="101600" y="1330960"/>
                </a:lnTo>
                <a:arcTo hR="101600" wR="101600" stAng="5400000" swAng="5400000"/>
                <a:lnTo>
                  <a:pt x="0" y="101600"/>
                </a:lnTo>
                <a:arcTo hR="101600" wR="101600" stAng="10800000" swAng="5400000"/>
                <a:lnTo>
                  <a:pt x="4406900" y="0"/>
                </a:lnTo>
                <a:arcTo hR="101600" wR="101600" stAng="16200000" swAng="5400000"/>
                <a:lnTo>
                  <a:pt x="4508500" y="101600"/>
                </a:lnTo>
                <a:arcTo hR="91440" wR="101600" stAng="0" swAng="-5400000"/>
                <a:lnTo>
                  <a:pt x="101600" y="10160"/>
                </a:lnTo>
                <a:arcTo hR="91440" wR="91440" stAng="16200000" swAng="-5400000"/>
                <a:lnTo>
                  <a:pt x="10160" y="1229360"/>
                </a:lnTo>
                <a:arcTo hR="101600" wR="91440" stAng="10800000" swAng="-5400000"/>
                <a:close/>
              </a:path>
            </a:pathLst>
          </a:custGeom>
          <a:solidFill>
            <a:srgbClr val="141413">
              <a:alpha val="22000"/>
            </a:srgbClr>
          </a:solidFill>
          <a:ln/>
        </p:spPr>
      </p:sp>
      <p:sp>
        <p:nvSpPr>
          <p:cNvPr id="10" name="Shape 7"/>
          <p:cNvSpPr/>
          <p:nvPr/>
        </p:nvSpPr>
        <p:spPr>
          <a:xfrm>
            <a:off x="6878320" y="2969260"/>
            <a:ext cx="4498340" cy="330200"/>
          </a:xfrm>
          <a:custGeom>
            <a:avLst/>
            <a:gdLst/>
            <a:ahLst/>
            <a:cxnLst/>
            <a:rect l="l" t="t" r="r" b="b"/>
            <a:pathLst>
              <a:path w="4498340" h="330200">
                <a:moveTo>
                  <a:pt x="0" y="91440"/>
                </a:moveTo>
                <a:arcTo hR="91440" wR="91440" stAng="10800000" swAng="5400000"/>
                <a:lnTo>
                  <a:pt x="4396740" y="0"/>
                </a:lnTo>
                <a:arcTo hR="101600" wR="101600" stAng="16200000" swAng="5400000"/>
                <a:lnTo>
                  <a:pt x="4498340" y="330200"/>
                </a:lnTo>
                <a:lnTo>
                  <a:pt x="0" y="330200"/>
                </a:lnTo>
                <a:close/>
              </a:path>
            </a:pathLst>
          </a:custGeom>
          <a:solidFill>
            <a:srgbClr val="ECECEC"/>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78320" y="2969260"/>
          <a:ext cx="4498340" cy="1320800"/>
        </p:xfrm>
        <a:graphic>
          <a:graphicData uri="http://schemas.openxmlformats.org/drawingml/2006/table">
            <a:tbl>
              <a:tblPr/>
              <a:tblGrid>
                <a:gridCol w="1259535"/>
                <a:gridCol w="809701"/>
                <a:gridCol w="719734"/>
                <a:gridCol w="809701"/>
                <a:gridCol w="899668"/>
              </a:tblGrid>
              <a:tr h="330200">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DayType</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hours</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days</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mean</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median</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Workday</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5712</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238</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756.2</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580.0</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Weekend</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2345</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98</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698.1</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509.0</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Holiday</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408</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17</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529.2</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259.0</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2800" y="5034285"/>
            <a:ext cx="10566400" cy="553720"/>
          </a:xfrm>
          <a:prstGeom prst="roundRect">
            <a:avLst>
              <a:gd name="adj" fmla="val 18349"/>
            </a:avLst>
          </a:prstGeom>
          <a:solidFill>
            <a:srgbClr val="E9EFFC"/>
          </a:solidFill>
          <a:ln/>
        </p:spPr>
        <p:txBody>
          <a:bodyPr wrap="square" lIns="173442" tIns="122642" rIns="0" bIns="97242"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출퇴근 피크는 근무일에만 있고 주말, 공휴일은 오후에 여가로 타는 패턴</a:t>
            </a:r>
            <a:endParaRPr lang="en-US" sz="1400" dirty="0"/>
          </a:p>
        </p:txBody>
      </p:sp>
      <p:sp>
        <p:nvSpPr>
          <p:cNvPr id="13" name="Text 9"/>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4" name="Text 10"/>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03 · 데이터 EDA</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범주형 변수 (Holiday)</a:t>
            </a:r>
            <a:endParaRPr lang="en-US" sz="2400" dirty="0"/>
          </a:p>
        </p:txBody>
      </p:sp>
      <p:sp>
        <p:nvSpPr>
          <p:cNvPr id="4" name="Shape 2"/>
          <p:cNvSpPr/>
          <p:nvPr/>
        </p:nvSpPr>
        <p:spPr>
          <a:xfrm>
            <a:off x="815975" y="2158367"/>
            <a:ext cx="5226050" cy="1438910"/>
          </a:xfrm>
          <a:prstGeom prst="roundRect">
            <a:avLst>
              <a:gd name="adj" fmla="val 8605"/>
            </a:avLst>
          </a:prstGeom>
          <a:solidFill>
            <a:srgbClr val="FFFFFF"/>
          </a:solidFill>
          <a:ln w="6350">
            <a:solidFill>
              <a:srgbClr val="E1E5EB"/>
            </a:solidFill>
            <a:prstDash val="solid"/>
          </a:ln>
        </p:spPr>
      </p:sp>
      <p:sp>
        <p:nvSpPr>
          <p:cNvPr id="5" name="Text 3"/>
          <p:cNvSpPr/>
          <p:nvPr/>
        </p:nvSpPr>
        <p:spPr>
          <a:xfrm>
            <a:off x="1021080" y="2363477"/>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1 · 계절</a:t>
            </a:r>
            <a:endParaRPr lang="en-US" sz="1200" dirty="0"/>
          </a:p>
        </p:txBody>
      </p:sp>
      <p:sp>
        <p:nvSpPr>
          <p:cNvPr id="6" name="Text 4"/>
          <p:cNvSpPr/>
          <p:nvPr/>
        </p:nvSpPr>
        <p:spPr>
          <a:xfrm>
            <a:off x="1021080" y="2627635"/>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033"/>
                </a:solidFill>
                <a:latin typeface="Noto Sans KR" pitchFamily="34" charset="0"/>
                <a:ea typeface="Noto Sans KR" pitchFamily="34" charset="-122"/>
                <a:cs typeface="Noto Sans KR" pitchFamily="34" charset="-120"/>
              </a:rPr>
              <a:t>겨울에 공휴일이 모여있음</a:t>
            </a:r>
            <a:endParaRPr lang="en-US" sz="1200" dirty="0"/>
          </a:p>
        </p:txBody>
      </p:sp>
      <p:sp>
        <p:nvSpPr>
          <p:cNvPr id="7" name="Text 5"/>
          <p:cNvSpPr/>
          <p:nvPr/>
        </p:nvSpPr>
        <p:spPr>
          <a:xfrm>
            <a:off x="1021080" y="2899408"/>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5"/>
                </a:solidFill>
                <a:latin typeface="Noto Sans KR" pitchFamily="34" charset="0"/>
                <a:ea typeface="Noto Sans KR" pitchFamily="34" charset="-122"/>
                <a:cs typeface="Noto Sans KR" pitchFamily="34" charset="-120"/>
              </a:rPr>
              <a:t>→ 같은 계절 안에서의 공휴일 비공휴일 비교</a:t>
            </a:r>
            <a:endParaRPr lang="en-US" sz="1200" dirty="0"/>
          </a:p>
        </p:txBody>
      </p:sp>
      <p:sp>
        <p:nvSpPr>
          <p:cNvPr id="8" name="Text 6"/>
          <p:cNvSpPr/>
          <p:nvPr/>
        </p:nvSpPr>
        <p:spPr>
          <a:xfrm>
            <a:off x="1021080" y="3171192"/>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5"/>
                </a:solidFill>
                <a:latin typeface="Noto Sans KR" pitchFamily="34" charset="0"/>
                <a:ea typeface="Noto Sans KR" pitchFamily="34" charset="-122"/>
                <a:cs typeface="Noto Sans KR" pitchFamily="34" charset="-120"/>
              </a:rPr>
              <a:t>→ 차이가 줄음</a:t>
            </a:r>
            <a:endParaRPr lang="en-US" sz="1200" dirty="0"/>
          </a:p>
        </p:txBody>
      </p:sp>
      <p:sp>
        <p:nvSpPr>
          <p:cNvPr id="9" name="Shape 7"/>
          <p:cNvSpPr/>
          <p:nvPr/>
        </p:nvSpPr>
        <p:spPr>
          <a:xfrm>
            <a:off x="815975" y="3730625"/>
            <a:ext cx="5226050" cy="1438910"/>
          </a:xfrm>
          <a:prstGeom prst="roundRect">
            <a:avLst>
              <a:gd name="adj" fmla="val 8605"/>
            </a:avLst>
          </a:prstGeom>
          <a:solidFill>
            <a:srgbClr val="FFFFFF"/>
          </a:solidFill>
          <a:ln w="6350">
            <a:solidFill>
              <a:srgbClr val="E1E5EB"/>
            </a:solidFill>
            <a:prstDash val="solid"/>
          </a:ln>
        </p:spPr>
      </p:sp>
      <p:sp>
        <p:nvSpPr>
          <p:cNvPr id="10" name="Text 8"/>
          <p:cNvSpPr/>
          <p:nvPr/>
        </p:nvSpPr>
        <p:spPr>
          <a:xfrm>
            <a:off x="1021080" y="3935735"/>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2 · 관측 단위</a:t>
            </a:r>
            <a:endParaRPr lang="en-US" sz="1200" dirty="0"/>
          </a:p>
        </p:txBody>
      </p:sp>
      <p:sp>
        <p:nvSpPr>
          <p:cNvPr id="11" name="Text 9"/>
          <p:cNvSpPr/>
          <p:nvPr/>
        </p:nvSpPr>
        <p:spPr>
          <a:xfrm>
            <a:off x="1021080" y="4199892"/>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033"/>
                </a:solidFill>
                <a:latin typeface="Noto Sans KR" pitchFamily="34" charset="0"/>
                <a:ea typeface="Noto Sans KR" pitchFamily="34" charset="-122"/>
                <a:cs typeface="Noto Sans KR" pitchFamily="34" charset="-120"/>
              </a:rPr>
              <a:t>같은 날의 24시간은 계절이 같고 날씨가 크게 다르지 않음</a:t>
            </a:r>
            <a:endParaRPr lang="en-US" sz="1200" dirty="0"/>
          </a:p>
        </p:txBody>
      </p:sp>
      <p:sp>
        <p:nvSpPr>
          <p:cNvPr id="12" name="Text 10"/>
          <p:cNvSpPr/>
          <p:nvPr/>
        </p:nvSpPr>
        <p:spPr>
          <a:xfrm>
            <a:off x="1021080" y="4471677"/>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5"/>
                </a:solidFill>
                <a:latin typeface="Noto Sans KR" pitchFamily="34" charset="0"/>
                <a:ea typeface="Noto Sans KR" pitchFamily="34" charset="-122"/>
                <a:cs typeface="Noto Sans KR" pitchFamily="34" charset="-120"/>
              </a:rPr>
              <a:t>→ 하루를 하나의 관측값 (p-value가 실제보다 훨씬 작게 나오는 것을 방지)</a:t>
            </a:r>
            <a:endParaRPr lang="en-US" sz="1200" dirty="0"/>
          </a:p>
        </p:txBody>
      </p:sp>
      <p:sp>
        <p:nvSpPr>
          <p:cNvPr id="13" name="Text 11"/>
          <p:cNvSpPr/>
          <p:nvPr/>
        </p:nvSpPr>
        <p:spPr>
          <a:xfrm>
            <a:off x="1021080" y="4743450"/>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5"/>
                </a:solidFill>
                <a:latin typeface="Noto Sans KR" pitchFamily="34" charset="0"/>
                <a:ea typeface="Noto Sans KR" pitchFamily="34" charset="-122"/>
                <a:cs typeface="Noto Sans KR" pitchFamily="34" charset="-120"/>
              </a:rPr>
              <a:t>→ 그냥 비교, 계절 맞춤, 기온 구간 맞춤, 기온과 비 회귀</a:t>
            </a:r>
            <a:endParaRPr lang="en-US" sz="1200" dirty="0"/>
          </a:p>
        </p:txBody>
      </p:sp>
      <p:sp>
        <p:nvSpPr>
          <p:cNvPr id="14" name="Shape 12"/>
          <p:cNvSpPr/>
          <p:nvPr/>
        </p:nvSpPr>
        <p:spPr>
          <a:xfrm>
            <a:off x="6299200" y="2493008"/>
            <a:ext cx="5080000" cy="1661160"/>
          </a:xfrm>
          <a:prstGeom prst="roundRect">
            <a:avLst>
              <a:gd name="adj" fmla="val 6116"/>
            </a:avLst>
          </a:prstGeom>
          <a:solidFill>
            <a:srgbClr val="FFFFFF"/>
          </a:solidFill>
          <a:ln/>
        </p:spPr>
      </p:sp>
      <p:sp>
        <p:nvSpPr>
          <p:cNvPr id="15" name="Shape 13"/>
          <p:cNvSpPr/>
          <p:nvPr/>
        </p:nvSpPr>
        <p:spPr>
          <a:xfrm>
            <a:off x="6299200" y="2493008"/>
            <a:ext cx="5080000" cy="1661160"/>
          </a:xfrm>
          <a:custGeom>
            <a:avLst/>
            <a:gdLst/>
            <a:ahLst/>
            <a:cxnLst/>
            <a:rect l="l" t="t" r="r" b="b"/>
            <a:pathLst>
              <a:path w="5080000" h="1661160">
                <a:moveTo>
                  <a:pt x="101600" y="1661160"/>
                </a:moveTo>
                <a:lnTo>
                  <a:pt x="101600" y="1661160"/>
                </a:lnTo>
                <a:arcTo hR="101600" wR="101600" stAng="5400000" swAng="5400000"/>
                <a:lnTo>
                  <a:pt x="0" y="101600"/>
                </a:lnTo>
                <a:arcTo hR="101600" wR="101600" stAng="10800000" swAng="5400000"/>
                <a:lnTo>
                  <a:pt x="4978400" y="0"/>
                </a:lnTo>
                <a:arcTo hR="101600" wR="101600" stAng="16200000" swAng="5400000"/>
                <a:lnTo>
                  <a:pt x="5080000" y="101600"/>
                </a:lnTo>
                <a:arcTo hR="91440" wR="101600" stAng="0" swAng="-5400000"/>
                <a:lnTo>
                  <a:pt x="101600" y="10160"/>
                </a:lnTo>
                <a:arcTo hR="91440" wR="91440" stAng="16200000" swAng="-5400000"/>
                <a:lnTo>
                  <a:pt x="10160" y="1559560"/>
                </a:lnTo>
                <a:arcTo hR="101600" wR="91440" stAng="10800000" swAng="-5400000"/>
                <a:close/>
              </a:path>
            </a:pathLst>
          </a:custGeom>
          <a:solidFill>
            <a:srgbClr val="141413">
              <a:alpha val="22000"/>
            </a:srgbClr>
          </a:solidFill>
          <a:ln/>
        </p:spPr>
      </p:sp>
      <p:sp>
        <p:nvSpPr>
          <p:cNvPr id="16" name="Shape 14"/>
          <p:cNvSpPr/>
          <p:nvPr/>
        </p:nvSpPr>
        <p:spPr>
          <a:xfrm>
            <a:off x="6309360" y="2503168"/>
            <a:ext cx="5069840" cy="330200"/>
          </a:xfrm>
          <a:custGeom>
            <a:avLst/>
            <a:gdLst/>
            <a:ahLst/>
            <a:cxnLst/>
            <a:rect l="l" t="t" r="r" b="b"/>
            <a:pathLst>
              <a:path w="5069840" h="330200">
                <a:moveTo>
                  <a:pt x="0" y="91440"/>
                </a:moveTo>
                <a:arcTo hR="91440" wR="91440" stAng="10800000" swAng="5400000"/>
                <a:lnTo>
                  <a:pt x="4968240" y="0"/>
                </a:lnTo>
                <a:arcTo hR="101600" wR="101600" stAng="16200000" swAng="5400000"/>
                <a:lnTo>
                  <a:pt x="5069840" y="330200"/>
                </a:lnTo>
                <a:lnTo>
                  <a:pt x="0" y="330200"/>
                </a:lnTo>
                <a:close/>
              </a:path>
            </a:pathLst>
          </a:custGeom>
          <a:solidFill>
            <a:srgbClr val="ECECEC"/>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09360" y="2503168"/>
          <a:ext cx="5069840" cy="1651000"/>
        </p:xfrm>
        <a:graphic>
          <a:graphicData uri="http://schemas.openxmlformats.org/drawingml/2006/table">
            <a:tbl>
              <a:tblPr/>
              <a:tblGrid>
                <a:gridCol w="2433523"/>
                <a:gridCol w="2636317"/>
              </a:tblGrid>
              <a:tr h="330200">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비교 방법</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공휴일이 적은 정도 (시간당)</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그냥 비교 (3-4)</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210건</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계절 맞춤 (3-6)</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51건</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기온 구간 맞춤 (방법 1)</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95건</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기온·비 회귀 (방법 2)</a:t>
                      </a:r>
                      <a:endParaRPr lang="en-US" sz="1200" dirty="0">
                        <a:latin typeface="Noto Sans KR" charset="0"/>
                        <a:ea typeface="Noto Sans KR" charset="0"/>
                        <a:cs typeface="Noto Sans KR" charset="0"/>
                      </a:endParaRPr>
                    </a:p>
                  </a:txBody>
                  <a:tcPr marL="53340" marR="53340" marT="53340" marB="53340" anchor="t">
                    <a:lnL w="0" cap="flat" cmpd="sng" algn="ctr">
                      <a:noFill/>
                    </a:lnL>
                    <a:lnR w="12700" cap="flat" cmpd="sng" algn="ctr">
                      <a:solidFill>
                        <a:srgbClr val="BABF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FC9"/>
                      </a:solidFill>
                      <a:prstDash val="solid"/>
                      <a:round/>
                      <a:headEnd type="none" w="med" len="med"/>
                      <a:tailEnd type="none" w="med" len="med"/>
                    </a:lnB>
                    <a:solidFill>
                      <a:srgbClr val="E9EFFC"/>
                    </a:solidFill>
                  </a:tcPr>
                </a:tc>
                <a:tc>
                  <a:txBody>
                    <a:bodyPr/>
                    <a:lstStyle/>
                    <a:p>
                      <a:pPr indent="0" marL="0">
                        <a:lnSpc>
                          <a:spcPts val="1680"/>
                        </a:lnSpc>
                        <a:buNone/>
                      </a:pPr>
                      <a:r>
                        <a:rPr lang="en-US" sz="1200" dirty="0">
                          <a:solidFill>
                            <a:srgbClr val="2457C5"/>
                          </a:solidFill>
                          <a:latin typeface="Noto Sans KR" pitchFamily="34" charset="0"/>
                          <a:ea typeface="Noto Sans KR" pitchFamily="34" charset="-122"/>
                          <a:cs typeface="Noto Sans KR" pitchFamily="34" charset="-120"/>
                        </a:rPr>
                        <a:t>149건 (p ≈ 0.006)</a:t>
                      </a:r>
                      <a:endParaRPr lang="en-US" sz="1200" dirty="0">
                        <a:latin typeface="Noto Sans KR" charset="0"/>
                        <a:ea typeface="Noto Sans KR" charset="0"/>
                        <a:cs typeface="Noto Sans KR" charset="0"/>
                      </a:endParaRPr>
                    </a:p>
                  </a:txBody>
                  <a:tcPr marL="53340" marR="53340" marT="53340" marB="5334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BFC9"/>
                      </a:solidFill>
                      <a:prstDash val="solid"/>
                      <a:round/>
                      <a:headEnd type="none" w="med" len="med"/>
                      <a:tailEnd type="none" w="med" len="med"/>
                    </a:lnB>
                    <a:solidFill>
                      <a:srgbClr val="E9EFFC"/>
                    </a:solidFill>
                  </a:tcPr>
                </a:tc>
              </a:tr>
            </a:tbl>
          </a:graphicData>
        </a:graphic>
      </p:graphicFrame>
      <p:sp>
        <p:nvSpPr>
          <p:cNvPr id="18" name="Text 15"/>
          <p:cNvSpPr/>
          <p:nvPr/>
        </p:nvSpPr>
        <p:spPr>
          <a:xfrm>
            <a:off x="6299200" y="4281177"/>
            <a:ext cx="5080000" cy="553720"/>
          </a:xfrm>
          <a:prstGeom prst="roundRect">
            <a:avLst>
              <a:gd name="adj" fmla="val 18349"/>
            </a:avLst>
          </a:prstGeom>
          <a:solidFill>
            <a:srgbClr val="E9EFFC"/>
          </a:solidFill>
          <a:ln/>
        </p:spPr>
        <p:txBody>
          <a:bodyPr wrap="square" lIns="173442" tIns="122642" rIns="33234" bIns="97242"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 공휴일에 덜 타는 것은 맞다</a:t>
            </a:r>
            <a:endParaRPr lang="en-US" sz="1400" dirty="0"/>
          </a:p>
        </p:txBody>
      </p:sp>
      <p:sp>
        <p:nvSpPr>
          <p:cNvPr id="19" name="Text 16"/>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0" name="Text 17"/>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04 · 전처리</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데이터 전처리 / 피처 엔지니어링</a:t>
            </a:r>
            <a:endParaRPr lang="en-US" sz="2400" dirty="0"/>
          </a:p>
        </p:txBody>
      </p:sp>
      <p:sp>
        <p:nvSpPr>
          <p:cNvPr id="4" name="Shape 2"/>
          <p:cNvSpPr/>
          <p:nvPr/>
        </p:nvSpPr>
        <p:spPr>
          <a:xfrm>
            <a:off x="815975" y="1865002"/>
            <a:ext cx="5213350" cy="1562100"/>
          </a:xfrm>
          <a:prstGeom prst="roundRect">
            <a:avLst>
              <a:gd name="adj" fmla="val 7927"/>
            </a:avLst>
          </a:prstGeom>
          <a:solidFill>
            <a:srgbClr val="FFFFFF"/>
          </a:solidFill>
          <a:ln w="6350">
            <a:solidFill>
              <a:srgbClr val="E1E5EB"/>
            </a:solidFill>
            <a:prstDash val="solid"/>
          </a:ln>
        </p:spPr>
      </p:sp>
      <p:sp>
        <p:nvSpPr>
          <p:cNvPr id="5" name="Text 3"/>
          <p:cNvSpPr/>
          <p:nvPr/>
        </p:nvSpPr>
        <p:spPr>
          <a:xfrm>
            <a:off x="1021080" y="2044700"/>
            <a:ext cx="49472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457C5"/>
                </a:solidFill>
                <a:latin typeface="Noto Sans KR" pitchFamily="34" charset="0"/>
                <a:ea typeface="Noto Sans KR" pitchFamily="34" charset="-122"/>
                <a:cs typeface="Noto Sans KR" pitchFamily="34" charset="-120"/>
              </a:rPr>
              <a:t>전체 데이터</a:t>
            </a:r>
            <a:endParaRPr lang="en-US" sz="1400" dirty="0"/>
          </a:p>
        </p:txBody>
      </p:sp>
      <p:sp>
        <p:nvSpPr>
          <p:cNvPr id="6" name="Text 4"/>
          <p:cNvSpPr/>
          <p:nvPr/>
        </p:nvSpPr>
        <p:spPr>
          <a:xfrm>
            <a:off x="1107186" y="2321558"/>
            <a:ext cx="4853508" cy="642620"/>
          </a:xfrm>
          <a:prstGeom prst="rect">
            <a:avLst/>
          </a:prstGeom>
          <a:noFill/>
          <a:ln/>
        </p:spPr>
        <p:txBody>
          <a:bodyPr wrap="square" lIns="0" tIns="0" rIns="0" bIns="0" rtlCol="0" anchor="t">
            <a:normAutofit/>
          </a:bodyPr>
          <a:lstStyle/>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Functioning_Day = No인 295개 행 제거</a:t>
            </a:r>
            <a:endParaRPr lang="en-US" sz="1200" dirty="0"/>
          </a:p>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종속변수(Rented_bike_count) → 원변수 유지, 제곱근 변환한 종속변수(rented_bike_count_sqrt) 생성</a:t>
            </a:r>
            <a:endParaRPr lang="en-US" sz="1200" dirty="0"/>
          </a:p>
        </p:txBody>
      </p:sp>
      <p:sp>
        <p:nvSpPr>
          <p:cNvPr id="7" name="Shape 5"/>
          <p:cNvSpPr/>
          <p:nvPr/>
        </p:nvSpPr>
        <p:spPr>
          <a:xfrm>
            <a:off x="815975" y="3560452"/>
            <a:ext cx="5213350" cy="1562100"/>
          </a:xfrm>
          <a:prstGeom prst="roundRect">
            <a:avLst>
              <a:gd name="adj" fmla="val 7927"/>
            </a:avLst>
          </a:prstGeom>
          <a:solidFill>
            <a:srgbClr val="FFFFFF"/>
          </a:solidFill>
          <a:ln w="6350">
            <a:solidFill>
              <a:srgbClr val="E1E5EB"/>
            </a:solidFill>
            <a:prstDash val="solid"/>
          </a:ln>
        </p:spPr>
      </p:sp>
      <p:sp>
        <p:nvSpPr>
          <p:cNvPr id="8" name="Text 6"/>
          <p:cNvSpPr/>
          <p:nvPr/>
        </p:nvSpPr>
        <p:spPr>
          <a:xfrm>
            <a:off x="1021080" y="3740150"/>
            <a:ext cx="49472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457C5"/>
                </a:solidFill>
                <a:latin typeface="Noto Sans KR" pitchFamily="34" charset="0"/>
                <a:ea typeface="Noto Sans KR" pitchFamily="34" charset="-122"/>
                <a:cs typeface="Noto Sans KR" pitchFamily="34" charset="-120"/>
              </a:rPr>
              <a:t>범주형 변수</a:t>
            </a:r>
            <a:endParaRPr lang="en-US" sz="1400" dirty="0"/>
          </a:p>
        </p:txBody>
      </p:sp>
      <p:sp>
        <p:nvSpPr>
          <p:cNvPr id="9" name="Text 7"/>
          <p:cNvSpPr/>
          <p:nvPr/>
        </p:nvSpPr>
        <p:spPr>
          <a:xfrm>
            <a:off x="1107186" y="4017008"/>
            <a:ext cx="4853508" cy="642620"/>
          </a:xfrm>
          <a:prstGeom prst="rect">
            <a:avLst/>
          </a:prstGeom>
          <a:noFill/>
          <a:ln/>
        </p:spPr>
        <p:txBody>
          <a:bodyPr wrap="square" lIns="0" tIns="0" rIns="0" bIns="0" rtlCol="0" anchor="t">
            <a:normAutofit/>
          </a:bodyPr>
          <a:lstStyle/>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Holiday 더미 변수화, Seasons 변수 원-핫 인코딩</a:t>
            </a:r>
            <a:endParaRPr lang="en-US" sz="1200" dirty="0"/>
          </a:p>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(주말, 공휴일)과 (평일)을 이진으로 구분하는 Is_dayoff 변수 생성 (주말, 공휴일 = 1, 평일 = 0)</a:t>
            </a:r>
            <a:endParaRPr lang="en-US" sz="1200" dirty="0"/>
          </a:p>
        </p:txBody>
      </p:sp>
      <p:sp>
        <p:nvSpPr>
          <p:cNvPr id="10" name="Shape 8"/>
          <p:cNvSpPr/>
          <p:nvPr/>
        </p:nvSpPr>
        <p:spPr>
          <a:xfrm>
            <a:off x="6162675" y="1865002"/>
            <a:ext cx="5213350" cy="1664970"/>
          </a:xfrm>
          <a:prstGeom prst="roundRect">
            <a:avLst>
              <a:gd name="adj" fmla="val 7437"/>
            </a:avLst>
          </a:prstGeom>
          <a:solidFill>
            <a:srgbClr val="FFFFFF"/>
          </a:solidFill>
          <a:ln w="6350">
            <a:solidFill>
              <a:srgbClr val="E1E5EB"/>
            </a:solidFill>
            <a:prstDash val="solid"/>
          </a:ln>
        </p:spPr>
      </p:sp>
      <p:sp>
        <p:nvSpPr>
          <p:cNvPr id="11" name="Text 9"/>
          <p:cNvSpPr/>
          <p:nvPr/>
        </p:nvSpPr>
        <p:spPr>
          <a:xfrm>
            <a:off x="6367780" y="2044700"/>
            <a:ext cx="49472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457C5"/>
                </a:solidFill>
                <a:latin typeface="Noto Sans KR" pitchFamily="34" charset="0"/>
                <a:ea typeface="Noto Sans KR" pitchFamily="34" charset="-122"/>
                <a:cs typeface="Noto Sans KR" pitchFamily="34" charset="-120"/>
              </a:rPr>
              <a:t>시간 변수</a:t>
            </a:r>
            <a:endParaRPr lang="en-US" sz="1400" dirty="0"/>
          </a:p>
        </p:txBody>
      </p:sp>
      <p:sp>
        <p:nvSpPr>
          <p:cNvPr id="12" name="Text 10"/>
          <p:cNvSpPr/>
          <p:nvPr/>
        </p:nvSpPr>
        <p:spPr>
          <a:xfrm>
            <a:off x="6453886" y="2321558"/>
            <a:ext cx="4853508" cy="1054100"/>
          </a:xfrm>
          <a:prstGeom prst="rect">
            <a:avLst/>
          </a:prstGeom>
          <a:noFill/>
          <a:ln/>
        </p:spPr>
        <p:txBody>
          <a:bodyPr wrap="square" lIns="0" tIns="0" rIns="0" bIns="0" rtlCol="0" anchor="t">
            <a:normAutofit/>
          </a:bodyPr>
          <a:lstStyle/>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파생변수 - Date에서 월(Month), 요일(Weekday), 주말 여부(Is_Weekend: 이진변수) 추출하여 추가</a:t>
            </a:r>
            <a:endParaRPr lang="en-US" sz="1200" dirty="0"/>
          </a:p>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Hour 원-핫 인코딩 → 더미 변수로 (Hour_0~Hour_23)</a:t>
            </a:r>
            <a:endParaRPr lang="en-US" sz="1200" dirty="0"/>
          </a:p>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시간을 새벽(0~5시), 출근(6~9시), 낮(10~16시), 퇴근(17~20시), 밤(21~23시) 이렇게 구간별로 나눈 hour_band 변수 추가</a:t>
            </a:r>
            <a:endParaRPr lang="en-US" sz="1200" dirty="0"/>
          </a:p>
        </p:txBody>
      </p:sp>
      <p:sp>
        <p:nvSpPr>
          <p:cNvPr id="13" name="Shape 11"/>
          <p:cNvSpPr/>
          <p:nvPr/>
        </p:nvSpPr>
        <p:spPr>
          <a:xfrm>
            <a:off x="6162675" y="3663317"/>
            <a:ext cx="5213350" cy="1459230"/>
          </a:xfrm>
          <a:prstGeom prst="roundRect">
            <a:avLst>
              <a:gd name="adj" fmla="val 8486"/>
            </a:avLst>
          </a:prstGeom>
          <a:solidFill>
            <a:srgbClr val="FFFFFF"/>
          </a:solidFill>
          <a:ln w="6350">
            <a:solidFill>
              <a:srgbClr val="E1E5EB"/>
            </a:solidFill>
            <a:prstDash val="solid"/>
          </a:ln>
        </p:spPr>
      </p:sp>
      <p:sp>
        <p:nvSpPr>
          <p:cNvPr id="14" name="Text 12"/>
          <p:cNvSpPr/>
          <p:nvPr/>
        </p:nvSpPr>
        <p:spPr>
          <a:xfrm>
            <a:off x="6367780" y="3843027"/>
            <a:ext cx="494723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457C5"/>
                </a:solidFill>
                <a:latin typeface="Noto Sans KR" pitchFamily="34" charset="0"/>
                <a:ea typeface="Noto Sans KR" pitchFamily="34" charset="-122"/>
                <a:cs typeface="Noto Sans KR" pitchFamily="34" charset="-120"/>
              </a:rPr>
              <a:t>기상 변수</a:t>
            </a:r>
            <a:endParaRPr lang="en-US" sz="1400" dirty="0"/>
          </a:p>
        </p:txBody>
      </p:sp>
      <p:sp>
        <p:nvSpPr>
          <p:cNvPr id="15" name="Text 13"/>
          <p:cNvSpPr/>
          <p:nvPr/>
        </p:nvSpPr>
        <p:spPr>
          <a:xfrm>
            <a:off x="6453886" y="4119885"/>
            <a:ext cx="4853508" cy="848360"/>
          </a:xfrm>
          <a:prstGeom prst="rect">
            <a:avLst/>
          </a:prstGeom>
          <a:noFill/>
          <a:ln/>
        </p:spPr>
        <p:txBody>
          <a:bodyPr wrap="square" lIns="0" tIns="0" rIns="0" bIns="0" rtlCol="0" anchor="t">
            <a:normAutofit/>
          </a:bodyPr>
          <a:lstStyle/>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Rainfall/Snowfall → Rain_YN, Snow_YN 이진변수 (0/1 정수, 원본 유지)</a:t>
            </a:r>
            <a:endParaRPr lang="en-US" sz="1200" dirty="0"/>
          </a:p>
          <a:p>
            <a:pPr algn="l" marL="167894" indent="-167894">
              <a:lnSpc>
                <a:spcPts val="1620"/>
              </a:lnSpc>
              <a:buSzPct val="100000"/>
              <a:buChar char="•"/>
            </a:pPr>
            <a:r>
              <a:rPr lang="en-US" sz="1200" dirty="0">
                <a:solidFill>
                  <a:srgbClr val="172033"/>
                </a:solidFill>
                <a:latin typeface="Noto Sans KR" pitchFamily="34" charset="0"/>
                <a:ea typeface="Noto Sans KR" pitchFamily="34" charset="-122"/>
                <a:cs typeface="Noto Sans KR" pitchFamily="34" charset="-120"/>
              </a:rPr>
              <a:t>Humidity, Wind_speed 평균 중심화 후 제곱 → Humidity_sq, Wind_speed_sq</a:t>
            </a:r>
            <a:endParaRPr lang="en-US" sz="1200" dirty="0"/>
          </a:p>
        </p:txBody>
      </p:sp>
      <p:sp>
        <p:nvSpPr>
          <p:cNvPr id="16" name="Text 14"/>
          <p:cNvSpPr/>
          <p:nvPr/>
        </p:nvSpPr>
        <p:spPr>
          <a:xfrm>
            <a:off x="812800" y="5252727"/>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Noto Sans KR" pitchFamily="34" charset="0"/>
                <a:ea typeface="Noto Sans KR" pitchFamily="34" charset="-122"/>
                <a:cs typeface="Noto Sans KR" pitchFamily="34" charset="-120"/>
              </a:rPr>
              <a:t>* 회귀용 데이터셋에는 Month 더미 또는 Seasons 더미 중 하나만 사용 (두 개 겹침)</a:t>
            </a:r>
            <a:endParaRPr lang="en-US" sz="1200" dirty="0"/>
          </a:p>
        </p:txBody>
      </p:sp>
      <p:sp>
        <p:nvSpPr>
          <p:cNvPr id="17" name="Text 15"/>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8" name="Text 16"/>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05 · 데이터 분할</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Train/Test set 분할</a:t>
            </a:r>
            <a:endParaRPr lang="en-US" sz="2400" dirty="0"/>
          </a:p>
        </p:txBody>
      </p:sp>
      <p:sp>
        <p:nvSpPr>
          <p:cNvPr id="4" name="Shape 2"/>
          <p:cNvSpPr/>
          <p:nvPr/>
        </p:nvSpPr>
        <p:spPr>
          <a:xfrm>
            <a:off x="815975" y="1593217"/>
            <a:ext cx="2165350" cy="3318510"/>
          </a:xfrm>
          <a:prstGeom prst="roundRect">
            <a:avLst>
              <a:gd name="adj" fmla="val 5718"/>
            </a:avLst>
          </a:prstGeom>
          <a:solidFill>
            <a:srgbClr val="FFFFFF"/>
          </a:solidFill>
          <a:ln w="6350">
            <a:solidFill>
              <a:srgbClr val="E1E5EB"/>
            </a:solidFill>
            <a:prstDash val="solid"/>
          </a:ln>
        </p:spPr>
      </p:sp>
      <p:pic>
        <p:nvPicPr>
          <p:cNvPr id="5" name="Image 0" descr="월별 train·test 일수 표: 매달 test 7일, 2018-09만 test 5일">    </p:cNvPr>
          <p:cNvPicPr>
            <a:picLocks noChangeAspect="1"/>
          </p:cNvPicPr>
          <p:nvPr/>
        </p:nvPicPr>
        <p:blipFill>
          <a:blip r:embed="rId1"/>
          <a:srcRect l="0" r="0" t="-67" b="-67"/>
          <a:stretch/>
        </p:blipFill>
        <p:spPr>
          <a:xfrm>
            <a:off x="971550" y="1696727"/>
            <a:ext cx="1854200" cy="3111500"/>
          </a:xfrm>
          <a:prstGeom prst="rect">
            <a:avLst/>
          </a:prstGeom>
        </p:spPr>
      </p:pic>
      <p:sp>
        <p:nvSpPr>
          <p:cNvPr id="6" name="Shape 3"/>
          <p:cNvSpPr/>
          <p:nvPr/>
        </p:nvSpPr>
        <p:spPr>
          <a:xfrm>
            <a:off x="815975" y="5019675"/>
            <a:ext cx="2165350" cy="715010"/>
          </a:xfrm>
          <a:prstGeom prst="roundRect">
            <a:avLst>
              <a:gd name="adj" fmla="val 17318"/>
            </a:avLst>
          </a:prstGeom>
          <a:solidFill>
            <a:srgbClr val="FFFFFF"/>
          </a:solidFill>
          <a:ln w="6350">
            <a:solidFill>
              <a:srgbClr val="E1E5EB"/>
            </a:solidFill>
            <a:prstDash val="solid"/>
          </a:ln>
        </p:spPr>
      </p:sp>
      <p:pic>
        <p:nvPicPr>
          <p:cNvPr id="7" name="Image 1" descr="분할 결과 출력: train 6,497행 (76.8%), test 1,968행 (23.2%)">    </p:cNvPr>
          <p:cNvPicPr>
            <a:picLocks noChangeAspect="1"/>
          </p:cNvPicPr>
          <p:nvPr/>
        </p:nvPicPr>
        <p:blipFill>
          <a:blip r:embed="rId2"/>
          <a:srcRect l="0" r="0" t="-182" b="-182"/>
          <a:stretch/>
        </p:blipFill>
        <p:spPr>
          <a:xfrm>
            <a:off x="946150" y="5123185"/>
            <a:ext cx="1905000" cy="508000"/>
          </a:xfrm>
          <a:prstGeom prst="rect">
            <a:avLst/>
          </a:prstGeom>
        </p:spPr>
      </p:pic>
      <p:sp>
        <p:nvSpPr>
          <p:cNvPr id="8" name="Text 4"/>
          <p:cNvSpPr/>
          <p:nvPr/>
        </p:nvSpPr>
        <p:spPr>
          <a:xfrm>
            <a:off x="3304032" y="1820552"/>
            <a:ext cx="8311769" cy="1092200"/>
          </a:xfrm>
          <a:prstGeom prst="rect">
            <a:avLst/>
          </a:prstGeom>
          <a:noFill/>
          <a:ln/>
        </p:spPr>
        <p:txBody>
          <a:bodyPr wrap="square" lIns="0" tIns="0" rIns="0" bIns="0" rtlCol="0" anchor="t">
            <a:normAutofit/>
          </a:bodyPr>
          <a:lstStyle/>
          <a:p>
            <a:pPr algn="l" marL="188468" indent="-188468">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랜덤 분할X → 매달 마지막 7일을 test로 지정</a:t>
            </a:r>
            <a:endParaRPr lang="en-US" sz="1400" dirty="0"/>
          </a:p>
          <a:p>
            <a:pPr algn="l" marL="188468" indent="-188468">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분할 → assert 통해 겹침 검증 → train 6497행(76.8%) / test 1968행(23.2%)</a:t>
            </a:r>
            <a:endParaRPr lang="en-US" sz="1400" dirty="0"/>
          </a:p>
          <a:p>
            <a:pPr algn="l" marL="188468" indent="-188468">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9월은 운영 중단일(Functioning_Day=No)이 있어 test가 5일</a:t>
            </a:r>
            <a:endParaRPr lang="en-US" sz="1400" dirty="0"/>
          </a:p>
          <a:p>
            <a:pPr algn="l" marL="188468" indent="-188468">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기상 제곱항을 train 평균으로 다시 중심화 (humidity, wind_speed)</a:t>
            </a:r>
            <a:endParaRPr lang="en-US" sz="1400" dirty="0"/>
          </a:p>
        </p:txBody>
      </p:sp>
      <p:sp>
        <p:nvSpPr>
          <p:cNvPr id="9" name="Shape 5"/>
          <p:cNvSpPr/>
          <p:nvPr/>
        </p:nvSpPr>
        <p:spPr>
          <a:xfrm>
            <a:off x="3241675" y="3042927"/>
            <a:ext cx="8134350" cy="2461260"/>
          </a:xfrm>
          <a:prstGeom prst="roundRect">
            <a:avLst>
              <a:gd name="adj" fmla="val 5031"/>
            </a:avLst>
          </a:prstGeom>
          <a:solidFill>
            <a:srgbClr val="FFFFFF"/>
          </a:solidFill>
          <a:ln w="6350">
            <a:solidFill>
              <a:srgbClr val="E1E5EB"/>
            </a:solidFill>
            <a:prstDash val="solid"/>
          </a:ln>
        </p:spPr>
      </p:sp>
      <p:pic>
        <p:nvPicPr>
          <p:cNvPr id="10" name="Image 2" descr="일별 총 대여량 막대 그래프: 매달 마지막 7일이 Test로 표시됨">    </p:cNvPr>
          <p:cNvPicPr>
            <a:picLocks noChangeAspect="1"/>
          </p:cNvPicPr>
          <p:nvPr/>
        </p:nvPicPr>
        <p:blipFill>
          <a:blip r:embed="rId3"/>
          <a:srcRect l="-6" r="-6" t="0" b="0"/>
          <a:stretch/>
        </p:blipFill>
        <p:spPr>
          <a:xfrm>
            <a:off x="3384550" y="3171825"/>
            <a:ext cx="7848600" cy="2203450"/>
          </a:xfrm>
          <a:prstGeom prst="rect">
            <a:avLst/>
          </a:prstGeom>
        </p:spPr>
      </p:pic>
      <p:sp>
        <p:nvSpPr>
          <p:cNvPr id="11" name="Text 6"/>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7"/>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베이스라인: 다중선형회귀 변수 구성</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5"/>
                </a:solidFill>
                <a:latin typeface="Noto Sans KR" pitchFamily="34" charset="0"/>
                <a:ea typeface="Noto Sans KR" pitchFamily="34" charset="-122"/>
                <a:cs typeface="Noto Sans KR" pitchFamily="34" charset="-120"/>
              </a:rPr>
              <a:t>EDA에서 확인한 비선형성·시간대 효과를 반영하되, 기준이 되는 선형모형부터 비교</a:t>
            </a:r>
            <a:endParaRPr lang="en-US" sz="1400" dirty="0"/>
          </a:p>
        </p:txBody>
      </p:sp>
      <p:sp>
        <p:nvSpPr>
          <p:cNvPr id="5" name="Shape 3"/>
          <p:cNvSpPr/>
          <p:nvPr/>
        </p:nvSpPr>
        <p:spPr>
          <a:xfrm>
            <a:off x="815975" y="2413633"/>
            <a:ext cx="3414157" cy="2838450"/>
          </a:xfrm>
          <a:prstGeom prst="roundRect">
            <a:avLst>
              <a:gd name="adj" fmla="val 4362"/>
            </a:avLst>
          </a:prstGeom>
          <a:solidFill>
            <a:srgbClr val="FFFFFF"/>
          </a:solidFill>
          <a:ln w="6350">
            <a:solidFill>
              <a:srgbClr val="E1E5EB"/>
            </a:solidFill>
            <a:prstDash val="solid"/>
          </a:ln>
        </p:spPr>
      </p:sp>
      <p:sp>
        <p:nvSpPr>
          <p:cNvPr id="6" name="Text 4"/>
          <p:cNvSpPr/>
          <p:nvPr/>
        </p:nvSpPr>
        <p:spPr>
          <a:xfrm>
            <a:off x="1021080" y="2618742"/>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Target</a:t>
            </a:r>
            <a:endParaRPr lang="en-US" sz="1200" dirty="0"/>
          </a:p>
        </p:txBody>
      </p:sp>
      <p:sp>
        <p:nvSpPr>
          <p:cNvPr id="7" name="Text 5"/>
          <p:cNvSpPr/>
          <p:nvPr/>
        </p:nvSpPr>
        <p:spPr>
          <a:xfrm>
            <a:off x="1021080" y="2933700"/>
            <a:ext cx="309406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Rented_Bike_Count_sqrt</a:t>
            </a:r>
            <a:endParaRPr lang="en-US" sz="1400" dirty="0"/>
          </a:p>
        </p:txBody>
      </p:sp>
      <p:sp>
        <p:nvSpPr>
          <p:cNvPr id="8" name="Text 6"/>
          <p:cNvSpPr/>
          <p:nvPr/>
        </p:nvSpPr>
        <p:spPr>
          <a:xfrm>
            <a:off x="1021080" y="3284227"/>
            <a:ext cx="309406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5"/>
                </a:solidFill>
                <a:latin typeface="Noto Sans KR" pitchFamily="34" charset="0"/>
                <a:ea typeface="Noto Sans KR" pitchFamily="34" charset="-122"/>
                <a:cs typeface="Noto Sans KR" pitchFamily="34" charset="-120"/>
              </a:rPr>
              <a:t>대여량의 왜도를 완화하기 위해 제곱근 변환한 종속변수 사용</a:t>
            </a:r>
            <a:endParaRPr lang="en-US" sz="1200" dirty="0"/>
          </a:p>
        </p:txBody>
      </p:sp>
      <p:sp>
        <p:nvSpPr>
          <p:cNvPr id="9" name="Shape 7"/>
          <p:cNvSpPr/>
          <p:nvPr/>
        </p:nvSpPr>
        <p:spPr>
          <a:xfrm>
            <a:off x="4388882" y="2413633"/>
            <a:ext cx="3414236" cy="2838450"/>
          </a:xfrm>
          <a:prstGeom prst="roundRect">
            <a:avLst>
              <a:gd name="adj" fmla="val 4362"/>
            </a:avLst>
          </a:prstGeom>
          <a:solidFill>
            <a:srgbClr val="FFFFFF"/>
          </a:solidFill>
          <a:ln w="6350">
            <a:solidFill>
              <a:srgbClr val="E1E5EB"/>
            </a:solidFill>
            <a:prstDash val="solid"/>
          </a:ln>
        </p:spPr>
      </p:sp>
      <p:sp>
        <p:nvSpPr>
          <p:cNvPr id="10" name="Text 8"/>
          <p:cNvSpPr/>
          <p:nvPr/>
        </p:nvSpPr>
        <p:spPr>
          <a:xfrm>
            <a:off x="4593987" y="2618742"/>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주요 입력 변수</a:t>
            </a:r>
            <a:endParaRPr lang="en-US" sz="1200" dirty="0"/>
          </a:p>
        </p:txBody>
      </p:sp>
      <p:sp>
        <p:nvSpPr>
          <p:cNvPr id="11" name="Text 9"/>
          <p:cNvSpPr/>
          <p:nvPr/>
        </p:nvSpPr>
        <p:spPr>
          <a:xfrm>
            <a:off x="4680093" y="2933700"/>
            <a:ext cx="3000421" cy="1305560"/>
          </a:xfrm>
          <a:prstGeom prst="rect">
            <a:avLst/>
          </a:prstGeom>
          <a:noFill/>
          <a:ln/>
        </p:spPr>
        <p:txBody>
          <a:bodyPr wrap="square" lIns="0" tIns="0" rIns="0" bIns="0" rtlCol="0" anchor="t">
            <a:normAutofit/>
          </a:bodyPr>
          <a:lstStyle/>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기상 연속형 7개 (Dew_point 제외) + 제곱항 2개</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Rain_YN · Snow_YN</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Hour 더미 23개 (Hour_0 기준)</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Seasons 더미 3개 (Autumn 기준)</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Is_dayoff</a:t>
            </a:r>
            <a:endParaRPr lang="en-US" sz="1200" dirty="0"/>
          </a:p>
        </p:txBody>
      </p:sp>
      <p:sp>
        <p:nvSpPr>
          <p:cNvPr id="12" name="Text 10"/>
          <p:cNvSpPr/>
          <p:nvPr/>
        </p:nvSpPr>
        <p:spPr>
          <a:xfrm>
            <a:off x="4593987" y="4417058"/>
            <a:ext cx="3004026" cy="629920"/>
          </a:xfrm>
          <a:prstGeom prst="roundRect">
            <a:avLst>
              <a:gd name="adj" fmla="val 12097"/>
            </a:avLst>
          </a:prstGeom>
          <a:solidFill>
            <a:srgbClr val="F5F6F8"/>
          </a:solidFill>
          <a:ln/>
        </p:spPr>
        <p:txBody>
          <a:bodyPr wrap="square" lIns="104682" tIns="79282" rIns="22181" bIns="53882"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Humidity² · Wind_speed²로 EDA에서 확인한 역U자 관계 반영</a:t>
            </a:r>
            <a:endParaRPr lang="en-US" sz="1200" dirty="0"/>
          </a:p>
        </p:txBody>
      </p:sp>
      <p:sp>
        <p:nvSpPr>
          <p:cNvPr id="13" name="Shape 11"/>
          <p:cNvSpPr/>
          <p:nvPr/>
        </p:nvSpPr>
        <p:spPr>
          <a:xfrm>
            <a:off x="7961868" y="2413633"/>
            <a:ext cx="3414157" cy="2838450"/>
          </a:xfrm>
          <a:prstGeom prst="roundRect">
            <a:avLst>
              <a:gd name="adj" fmla="val 4362"/>
            </a:avLst>
          </a:prstGeom>
          <a:solidFill>
            <a:srgbClr val="FFFFFF"/>
          </a:solidFill>
          <a:ln w="6350">
            <a:solidFill>
              <a:srgbClr val="E1E5EB"/>
            </a:solidFill>
            <a:prstDash val="solid"/>
          </a:ln>
        </p:spPr>
      </p:sp>
      <p:sp>
        <p:nvSpPr>
          <p:cNvPr id="14" name="Text 12"/>
          <p:cNvSpPr/>
          <p:nvPr/>
        </p:nvSpPr>
        <p:spPr>
          <a:xfrm>
            <a:off x="8166974" y="2618742"/>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제외·누수 방지</a:t>
            </a:r>
            <a:endParaRPr lang="en-US" sz="1200" dirty="0"/>
          </a:p>
        </p:txBody>
      </p:sp>
      <p:sp>
        <p:nvSpPr>
          <p:cNvPr id="15" name="Text 13"/>
          <p:cNvSpPr/>
          <p:nvPr/>
        </p:nvSpPr>
        <p:spPr>
          <a:xfrm>
            <a:off x="8253080" y="2933700"/>
            <a:ext cx="3000339" cy="1092200"/>
          </a:xfrm>
          <a:prstGeom prst="rect">
            <a:avLst/>
          </a:prstGeom>
          <a:noFill/>
          <a:ln/>
        </p:spPr>
        <p:txBody>
          <a:bodyPr wrap="square" lIns="0" tIns="0" rIns="0" bIns="0" rtlCol="0" anchor="t">
            <a:normAutofit/>
          </a:bodyPr>
          <a:lstStyle/>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Dew_point_temperature: 다중공선성 우려</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중복·인코딩 완료 변수 제외</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Functioning_Day: 상수열</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StandardScaler는 Train에만 fit</a:t>
            </a:r>
            <a:endParaRPr lang="en-US" sz="1200" dirty="0"/>
          </a:p>
        </p:txBody>
      </p:sp>
      <p:sp>
        <p:nvSpPr>
          <p:cNvPr id="16" name="Text 14"/>
          <p:cNvSpPr/>
          <p:nvPr/>
        </p:nvSpPr>
        <p:spPr>
          <a:xfrm>
            <a:off x="8166974" y="4417058"/>
            <a:ext cx="3003947" cy="629920"/>
          </a:xfrm>
          <a:prstGeom prst="roundRect">
            <a:avLst>
              <a:gd name="adj" fmla="val 12097"/>
            </a:avLst>
          </a:prstGeom>
          <a:solidFill>
            <a:srgbClr val="F5F6F8"/>
          </a:solidFill>
          <a:ln/>
        </p:spPr>
        <p:txBody>
          <a:bodyPr wrap="square" lIns="104682" tIns="79282" rIns="22183" bIns="53882"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Test 정보가 학습 과정에 들어가지 않도록 전처리 기준을 Train에서만 산출</a:t>
            </a:r>
            <a:endParaRPr lang="en-US" sz="1200" dirty="0"/>
          </a:p>
        </p:txBody>
      </p:sp>
      <p:sp>
        <p:nvSpPr>
          <p:cNvPr id="17" name="Text 15"/>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8" name="Text 16"/>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베이스라인 회귀 결과</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5"/>
                </a:solidFill>
                <a:latin typeface="Noto Sans KR" pitchFamily="34" charset="0"/>
                <a:ea typeface="Noto Sans KR" pitchFamily="34" charset="-122"/>
                <a:cs typeface="Noto Sans KR" pitchFamily="34" charset="-120"/>
              </a:rPr>
              <a:t>선형회귀를 기준점으로 설정하고, 이후 트리 기반 모델의 개선 폭을 비교</a:t>
            </a:r>
            <a:endParaRPr lang="en-US" sz="1400" dirty="0"/>
          </a:p>
        </p:txBody>
      </p:sp>
      <p:sp>
        <p:nvSpPr>
          <p:cNvPr id="5" name="Shape 3"/>
          <p:cNvSpPr/>
          <p:nvPr/>
        </p:nvSpPr>
        <p:spPr>
          <a:xfrm>
            <a:off x="815975" y="2284102"/>
            <a:ext cx="2520950" cy="1436370"/>
          </a:xfrm>
          <a:prstGeom prst="roundRect">
            <a:avLst>
              <a:gd name="adj" fmla="val 8621"/>
            </a:avLst>
          </a:prstGeom>
          <a:solidFill>
            <a:srgbClr val="FFFFFF"/>
          </a:solidFill>
          <a:ln w="6350">
            <a:solidFill>
              <a:srgbClr val="E1E5EB"/>
            </a:solidFill>
            <a:prstDash val="solid"/>
          </a:ln>
        </p:spPr>
      </p:sp>
      <p:sp>
        <p:nvSpPr>
          <p:cNvPr id="6" name="Text 4"/>
          <p:cNvSpPr/>
          <p:nvPr/>
        </p:nvSpPr>
        <p:spPr>
          <a:xfrm>
            <a:off x="1021080" y="246380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RMSE</a:t>
            </a:r>
            <a:endParaRPr lang="en-US" sz="1200" dirty="0"/>
          </a:p>
        </p:txBody>
      </p:sp>
      <p:sp>
        <p:nvSpPr>
          <p:cNvPr id="7" name="Text 5"/>
          <p:cNvSpPr/>
          <p:nvPr/>
        </p:nvSpPr>
        <p:spPr>
          <a:xfrm>
            <a:off x="1021080" y="2727958"/>
            <a:ext cx="2174062"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315.08</a:t>
            </a:r>
            <a:endParaRPr lang="en-US" sz="2400" dirty="0"/>
          </a:p>
        </p:txBody>
      </p:sp>
      <p:sp>
        <p:nvSpPr>
          <p:cNvPr id="8" name="Text 6"/>
          <p:cNvSpPr/>
          <p:nvPr/>
        </p:nvSpPr>
        <p:spPr>
          <a:xfrm>
            <a:off x="1021080" y="3114042"/>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시간당 평균 대여량(약 730대)의 43% 수준</a:t>
            </a:r>
            <a:endParaRPr lang="en-US" sz="1200" dirty="0"/>
          </a:p>
        </p:txBody>
      </p:sp>
      <p:sp>
        <p:nvSpPr>
          <p:cNvPr id="9" name="Shape 7"/>
          <p:cNvSpPr/>
          <p:nvPr/>
        </p:nvSpPr>
        <p:spPr>
          <a:xfrm>
            <a:off x="3495675" y="2284102"/>
            <a:ext cx="2520950" cy="1436370"/>
          </a:xfrm>
          <a:prstGeom prst="roundRect">
            <a:avLst>
              <a:gd name="adj" fmla="val 8621"/>
            </a:avLst>
          </a:prstGeom>
          <a:solidFill>
            <a:srgbClr val="FFFFFF"/>
          </a:solidFill>
          <a:ln w="6350">
            <a:solidFill>
              <a:srgbClr val="E1E5EB"/>
            </a:solidFill>
            <a:prstDash val="solid"/>
          </a:ln>
        </p:spPr>
      </p:sp>
      <p:sp>
        <p:nvSpPr>
          <p:cNvPr id="10" name="Text 8"/>
          <p:cNvSpPr/>
          <p:nvPr/>
        </p:nvSpPr>
        <p:spPr>
          <a:xfrm>
            <a:off x="3700780" y="246380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MAE</a:t>
            </a:r>
            <a:endParaRPr lang="en-US" sz="1200" dirty="0"/>
          </a:p>
        </p:txBody>
      </p:sp>
      <p:sp>
        <p:nvSpPr>
          <p:cNvPr id="11" name="Text 9"/>
          <p:cNvSpPr/>
          <p:nvPr/>
        </p:nvSpPr>
        <p:spPr>
          <a:xfrm>
            <a:off x="3700780" y="2727958"/>
            <a:ext cx="2174062"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213.49</a:t>
            </a:r>
            <a:endParaRPr lang="en-US" sz="2400" dirty="0"/>
          </a:p>
        </p:txBody>
      </p:sp>
      <p:sp>
        <p:nvSpPr>
          <p:cNvPr id="12" name="Text 10"/>
          <p:cNvSpPr/>
          <p:nvPr/>
        </p:nvSpPr>
        <p:spPr>
          <a:xfrm>
            <a:off x="3700780" y="3114042"/>
            <a:ext cx="21740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평균 절대 오차</a:t>
            </a:r>
            <a:endParaRPr lang="en-US" sz="1200" dirty="0"/>
          </a:p>
        </p:txBody>
      </p:sp>
      <p:sp>
        <p:nvSpPr>
          <p:cNvPr id="13" name="Shape 11"/>
          <p:cNvSpPr/>
          <p:nvPr/>
        </p:nvSpPr>
        <p:spPr>
          <a:xfrm>
            <a:off x="6175375" y="2284102"/>
            <a:ext cx="2520950" cy="1436370"/>
          </a:xfrm>
          <a:prstGeom prst="roundRect">
            <a:avLst>
              <a:gd name="adj" fmla="val 8621"/>
            </a:avLst>
          </a:prstGeom>
          <a:solidFill>
            <a:srgbClr val="FFFFFF"/>
          </a:solidFill>
          <a:ln w="6350">
            <a:solidFill>
              <a:srgbClr val="E1E5EB"/>
            </a:solidFill>
            <a:prstDash val="solid"/>
          </a:ln>
        </p:spPr>
      </p:sp>
      <p:sp>
        <p:nvSpPr>
          <p:cNvPr id="14" name="Text 12"/>
          <p:cNvSpPr/>
          <p:nvPr/>
        </p:nvSpPr>
        <p:spPr>
          <a:xfrm>
            <a:off x="6380480" y="246380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R²</a:t>
            </a:r>
            <a:endParaRPr lang="en-US" sz="1200" dirty="0"/>
          </a:p>
        </p:txBody>
      </p:sp>
      <p:sp>
        <p:nvSpPr>
          <p:cNvPr id="15" name="Text 13"/>
          <p:cNvSpPr/>
          <p:nvPr/>
        </p:nvSpPr>
        <p:spPr>
          <a:xfrm>
            <a:off x="6380480" y="2727958"/>
            <a:ext cx="2174062"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0.7384</a:t>
            </a:r>
            <a:endParaRPr lang="en-US" sz="2400" dirty="0"/>
          </a:p>
        </p:txBody>
      </p:sp>
      <p:sp>
        <p:nvSpPr>
          <p:cNvPr id="16" name="Text 14"/>
          <p:cNvSpPr/>
          <p:nvPr/>
        </p:nvSpPr>
        <p:spPr>
          <a:xfrm>
            <a:off x="6380480" y="3114042"/>
            <a:ext cx="21740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설명력</a:t>
            </a:r>
            <a:endParaRPr lang="en-US" sz="1200" dirty="0"/>
          </a:p>
        </p:txBody>
      </p:sp>
      <p:sp>
        <p:nvSpPr>
          <p:cNvPr id="17" name="Shape 15"/>
          <p:cNvSpPr/>
          <p:nvPr/>
        </p:nvSpPr>
        <p:spPr>
          <a:xfrm>
            <a:off x="8855075" y="2284102"/>
            <a:ext cx="2520950" cy="1436370"/>
          </a:xfrm>
          <a:prstGeom prst="roundRect">
            <a:avLst>
              <a:gd name="adj" fmla="val 8621"/>
            </a:avLst>
          </a:prstGeom>
          <a:solidFill>
            <a:srgbClr val="FFFFFF"/>
          </a:solidFill>
          <a:ln w="6350">
            <a:solidFill>
              <a:srgbClr val="E1E5EB"/>
            </a:solidFill>
            <a:prstDash val="solid"/>
          </a:ln>
        </p:spPr>
      </p:sp>
      <p:sp>
        <p:nvSpPr>
          <p:cNvPr id="18" name="Text 16"/>
          <p:cNvSpPr/>
          <p:nvPr/>
        </p:nvSpPr>
        <p:spPr>
          <a:xfrm>
            <a:off x="9060180" y="2463800"/>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Train R²</a:t>
            </a:r>
            <a:endParaRPr lang="en-US" sz="1200" dirty="0"/>
          </a:p>
        </p:txBody>
      </p:sp>
      <p:sp>
        <p:nvSpPr>
          <p:cNvPr id="19" name="Text 17"/>
          <p:cNvSpPr/>
          <p:nvPr/>
        </p:nvSpPr>
        <p:spPr>
          <a:xfrm>
            <a:off x="9060180" y="2727958"/>
            <a:ext cx="2174062"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0.7334</a:t>
            </a:r>
            <a:endParaRPr lang="en-US" sz="2400" dirty="0"/>
          </a:p>
        </p:txBody>
      </p:sp>
      <p:sp>
        <p:nvSpPr>
          <p:cNvPr id="20" name="Text 18"/>
          <p:cNvSpPr/>
          <p:nvPr/>
        </p:nvSpPr>
        <p:spPr>
          <a:xfrm>
            <a:off x="9060180" y="3114042"/>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Gap −0.005 — 뚜렷한 과적합은 확인되지 않음</a:t>
            </a:r>
            <a:endParaRPr lang="en-US" sz="1200" dirty="0"/>
          </a:p>
        </p:txBody>
      </p:sp>
      <p:sp>
        <p:nvSpPr>
          <p:cNvPr id="21" name="Shape 19"/>
          <p:cNvSpPr/>
          <p:nvPr/>
        </p:nvSpPr>
        <p:spPr>
          <a:xfrm>
            <a:off x="815975" y="3879217"/>
            <a:ext cx="6158706" cy="1502410"/>
          </a:xfrm>
          <a:prstGeom prst="roundRect">
            <a:avLst>
              <a:gd name="adj" fmla="val 8242"/>
            </a:avLst>
          </a:prstGeom>
          <a:solidFill>
            <a:srgbClr val="FFFFFF"/>
          </a:solidFill>
          <a:ln w="6350">
            <a:solidFill>
              <a:srgbClr val="E1E5EB"/>
            </a:solidFill>
            <a:prstDash val="solid"/>
          </a:ln>
        </p:spPr>
      </p:sp>
      <p:sp>
        <p:nvSpPr>
          <p:cNvPr id="22" name="Text 20"/>
          <p:cNvSpPr/>
          <p:nvPr/>
        </p:nvSpPr>
        <p:spPr>
          <a:xfrm>
            <a:off x="1021080" y="4058927"/>
            <a:ext cx="592095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결과 해석</a:t>
            </a:r>
            <a:endParaRPr lang="en-US" sz="1200" dirty="0"/>
          </a:p>
        </p:txBody>
      </p:sp>
      <p:sp>
        <p:nvSpPr>
          <p:cNvPr id="23" name="Text 21"/>
          <p:cNvSpPr/>
          <p:nvPr/>
        </p:nvSpPr>
        <p:spPr>
          <a:xfrm>
            <a:off x="1107186" y="4348485"/>
            <a:ext cx="5827225" cy="878840"/>
          </a:xfrm>
          <a:prstGeom prst="rect">
            <a:avLst/>
          </a:prstGeom>
          <a:noFill/>
          <a:ln/>
        </p:spPr>
        <p:txBody>
          <a:bodyPr wrap="square" lIns="0" tIns="0" rIns="0" bIns="0" rtlCol="0" anchor="t">
            <a:normAutofit/>
          </a:bodyPr>
          <a:lstStyle/>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기본적인 시간·기상 효과는 설명 가능</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하지만 비선형성과 복잡한 시간대 패턴을 충분히 표현하기에는 한계</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다음 단계에서 비선형·상호작용을 학습하는 트리 모델로 확장</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절대오차 상위 10건 중 7건이 18~19시 퇴근 피크에 집중</a:t>
            </a:r>
            <a:endParaRPr lang="en-US" sz="1200" dirty="0"/>
          </a:p>
        </p:txBody>
      </p:sp>
      <p:sp>
        <p:nvSpPr>
          <p:cNvPr id="24" name="Shape 22"/>
          <p:cNvSpPr/>
          <p:nvPr/>
        </p:nvSpPr>
        <p:spPr>
          <a:xfrm>
            <a:off x="7133431" y="3879217"/>
            <a:ext cx="4242594" cy="1502410"/>
          </a:xfrm>
          <a:prstGeom prst="roundRect">
            <a:avLst>
              <a:gd name="adj" fmla="val 8242"/>
            </a:avLst>
          </a:prstGeom>
          <a:solidFill>
            <a:srgbClr val="FFFFFF"/>
          </a:solidFill>
          <a:ln w="6350">
            <a:solidFill>
              <a:srgbClr val="E1E5EB"/>
            </a:solidFill>
            <a:prstDash val="solid"/>
          </a:ln>
        </p:spPr>
      </p:sp>
      <p:sp>
        <p:nvSpPr>
          <p:cNvPr id="25" name="Text 23"/>
          <p:cNvSpPr/>
          <p:nvPr/>
        </p:nvSpPr>
        <p:spPr>
          <a:xfrm>
            <a:off x="7338537" y="4058927"/>
            <a:ext cx="394735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예측 오차가 큰 구간</a:t>
            </a:r>
            <a:endParaRPr lang="en-US" sz="1200" dirty="0"/>
          </a:p>
        </p:txBody>
      </p:sp>
      <p:sp>
        <p:nvSpPr>
          <p:cNvPr id="26" name="Text 24"/>
          <p:cNvSpPr/>
          <p:nvPr/>
        </p:nvSpPr>
        <p:spPr>
          <a:xfrm>
            <a:off x="7338537" y="4348485"/>
            <a:ext cx="39473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피크 시간대와 급격한 날씨 변화 구간에서 오차가 상대적으로 커지는 양상</a:t>
            </a:r>
            <a:endParaRPr lang="en-US" sz="1200" dirty="0"/>
          </a:p>
        </p:txBody>
      </p:sp>
      <p:sp>
        <p:nvSpPr>
          <p:cNvPr id="27" name="Text 25"/>
          <p:cNvSpPr/>
          <p:nvPr/>
        </p:nvSpPr>
        <p:spPr>
          <a:xfrm>
            <a:off x="7338537" y="4988558"/>
            <a:ext cx="394735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E14"/>
                </a:solidFill>
                <a:latin typeface="Noto Sans KR" pitchFamily="34" charset="0"/>
                <a:ea typeface="Noto Sans KR" pitchFamily="34" charset="-122"/>
                <a:cs typeface="Noto Sans KR" pitchFamily="34" charset="-120"/>
              </a:rPr>
              <a:t>→ 선형모형의 한계를 다음 진단에서 확인</a:t>
            </a:r>
            <a:endParaRPr lang="en-US" sz="1200" dirty="0"/>
          </a:p>
        </p:txBody>
      </p:sp>
      <p:sp>
        <p:nvSpPr>
          <p:cNvPr id="28" name="Text 26"/>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9" name="Text 27"/>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회귀모형 진단: 선형모형의 한계</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5"/>
                </a:solidFill>
                <a:latin typeface="Noto Sans KR" pitchFamily="34" charset="0"/>
                <a:ea typeface="Noto Sans KR" pitchFamily="34" charset="-122"/>
                <a:cs typeface="Noto Sans KR" pitchFamily="34" charset="-120"/>
              </a:rPr>
              <a:t>잔차·정규성·자기상관·다중공선성을 확인하여 다음 모델 선택의 근거로 활용 (Train 기준 · 제곱근 변환 단위 잔차)</a:t>
            </a:r>
            <a:endParaRPr lang="en-US" sz="1400" dirty="0"/>
          </a:p>
        </p:txBody>
      </p:sp>
      <p:sp>
        <p:nvSpPr>
          <p:cNvPr id="5" name="Shape 3"/>
          <p:cNvSpPr/>
          <p:nvPr/>
        </p:nvSpPr>
        <p:spPr>
          <a:xfrm>
            <a:off x="815975" y="2263775"/>
            <a:ext cx="3183096" cy="2457450"/>
          </a:xfrm>
          <a:prstGeom prst="roundRect">
            <a:avLst>
              <a:gd name="adj" fmla="val 5039"/>
            </a:avLst>
          </a:prstGeom>
          <a:solidFill>
            <a:srgbClr val="FFFFFF"/>
          </a:solidFill>
          <a:ln w="6350">
            <a:solidFill>
              <a:srgbClr val="E1E5EB"/>
            </a:solidFill>
            <a:prstDash val="solid"/>
          </a:ln>
        </p:spPr>
      </p:sp>
      <p:sp>
        <p:nvSpPr>
          <p:cNvPr id="6" name="Text 4"/>
          <p:cNvSpPr/>
          <p:nvPr/>
        </p:nvSpPr>
        <p:spPr>
          <a:xfrm>
            <a:off x="1021080" y="2443485"/>
            <a:ext cx="28560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잔차 플롯</a:t>
            </a:r>
            <a:endParaRPr lang="en-US" sz="1200" dirty="0"/>
          </a:p>
        </p:txBody>
      </p:sp>
      <p:sp>
        <p:nvSpPr>
          <p:cNvPr id="7" name="Text 5"/>
          <p:cNvSpPr/>
          <p:nvPr/>
        </p:nvSpPr>
        <p:spPr>
          <a:xfrm>
            <a:off x="1021080" y="2758442"/>
            <a:ext cx="285607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적합값이 커질수록 잔차가 퍼지는 패턴</a:t>
            </a:r>
            <a:endParaRPr lang="en-US" sz="1400" dirty="0"/>
          </a:p>
        </p:txBody>
      </p:sp>
      <p:sp>
        <p:nvSpPr>
          <p:cNvPr id="8" name="Text 6"/>
          <p:cNvSpPr/>
          <p:nvPr/>
        </p:nvSpPr>
        <p:spPr>
          <a:xfrm>
            <a:off x="1021080" y="3357885"/>
            <a:ext cx="28560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등분산 가정이 약함</a:t>
            </a:r>
            <a:endParaRPr lang="en-US" sz="1200" dirty="0"/>
          </a:p>
        </p:txBody>
      </p:sp>
      <p:sp>
        <p:nvSpPr>
          <p:cNvPr id="9" name="Text 7"/>
          <p:cNvSpPr/>
          <p:nvPr/>
        </p:nvSpPr>
        <p:spPr>
          <a:xfrm>
            <a:off x="1021080" y="3672842"/>
            <a:ext cx="28560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피크 수요에서 오차가 커질 가능성</a:t>
            </a:r>
            <a:endParaRPr lang="en-US" sz="1200" dirty="0"/>
          </a:p>
        </p:txBody>
      </p:sp>
      <p:sp>
        <p:nvSpPr>
          <p:cNvPr id="10" name="Shape 8"/>
          <p:cNvSpPr/>
          <p:nvPr/>
        </p:nvSpPr>
        <p:spPr>
          <a:xfrm>
            <a:off x="4157821" y="2263775"/>
            <a:ext cx="3183096" cy="2457450"/>
          </a:xfrm>
          <a:prstGeom prst="roundRect">
            <a:avLst>
              <a:gd name="adj" fmla="val 5039"/>
            </a:avLst>
          </a:prstGeom>
          <a:solidFill>
            <a:srgbClr val="FFFFFF"/>
          </a:solidFill>
          <a:ln w="6350">
            <a:solidFill>
              <a:srgbClr val="E1E5EB"/>
            </a:solidFill>
            <a:prstDash val="solid"/>
          </a:ln>
        </p:spPr>
      </p:sp>
      <p:sp>
        <p:nvSpPr>
          <p:cNvPr id="11" name="Text 9"/>
          <p:cNvSpPr/>
          <p:nvPr/>
        </p:nvSpPr>
        <p:spPr>
          <a:xfrm>
            <a:off x="4362926" y="2443485"/>
            <a:ext cx="28560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Q-Q Plot</a:t>
            </a:r>
            <a:endParaRPr lang="en-US" sz="1200" dirty="0"/>
          </a:p>
        </p:txBody>
      </p:sp>
      <p:sp>
        <p:nvSpPr>
          <p:cNvPr id="12" name="Text 10"/>
          <p:cNvSpPr/>
          <p:nvPr/>
        </p:nvSpPr>
        <p:spPr>
          <a:xfrm>
            <a:off x="4362926" y="2758442"/>
            <a:ext cx="28560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양 끝단에서 정규성 이탈</a:t>
            </a:r>
            <a:endParaRPr lang="en-US" sz="1400" dirty="0"/>
          </a:p>
        </p:txBody>
      </p:sp>
      <p:sp>
        <p:nvSpPr>
          <p:cNvPr id="13" name="Text 11"/>
          <p:cNvSpPr/>
          <p:nvPr/>
        </p:nvSpPr>
        <p:spPr>
          <a:xfrm>
            <a:off x="4362926" y="3108958"/>
            <a:ext cx="28560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극단적인 수요 구간을 선형모형이 완전히 설명하기 어려움</a:t>
            </a:r>
            <a:endParaRPr lang="en-US" sz="1200" dirty="0"/>
          </a:p>
        </p:txBody>
      </p:sp>
      <p:sp>
        <p:nvSpPr>
          <p:cNvPr id="14" name="Shape 12"/>
          <p:cNvSpPr/>
          <p:nvPr/>
        </p:nvSpPr>
        <p:spPr>
          <a:xfrm>
            <a:off x="7499668" y="2263775"/>
            <a:ext cx="3876358" cy="2457450"/>
          </a:xfrm>
          <a:prstGeom prst="roundRect">
            <a:avLst>
              <a:gd name="adj" fmla="val 5039"/>
            </a:avLst>
          </a:prstGeom>
          <a:solidFill>
            <a:srgbClr val="FFFFFF"/>
          </a:solidFill>
          <a:ln w="6350">
            <a:solidFill>
              <a:srgbClr val="E1E5EB"/>
            </a:solidFill>
            <a:prstDash val="solid"/>
          </a:ln>
        </p:spPr>
      </p:sp>
      <p:sp>
        <p:nvSpPr>
          <p:cNvPr id="15" name="Text 13"/>
          <p:cNvSpPr/>
          <p:nvPr/>
        </p:nvSpPr>
        <p:spPr>
          <a:xfrm>
            <a:off x="7704772" y="2443485"/>
            <a:ext cx="357013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자기상관 · 다중공선성</a:t>
            </a:r>
            <a:endParaRPr lang="en-US" sz="1200" dirty="0"/>
          </a:p>
        </p:txBody>
      </p:sp>
      <p:sp>
        <p:nvSpPr>
          <p:cNvPr id="16" name="Shape 14"/>
          <p:cNvSpPr/>
          <p:nvPr/>
        </p:nvSpPr>
        <p:spPr>
          <a:xfrm>
            <a:off x="7704772" y="2758442"/>
            <a:ext cx="1682274" cy="1254760"/>
          </a:xfrm>
          <a:prstGeom prst="roundRect">
            <a:avLst>
              <a:gd name="adj" fmla="val 7085"/>
            </a:avLst>
          </a:prstGeom>
          <a:solidFill>
            <a:srgbClr val="F5F6F8"/>
          </a:solidFill>
          <a:ln/>
        </p:spPr>
      </p:sp>
      <p:sp>
        <p:nvSpPr>
          <p:cNvPr id="17" name="Text 15"/>
          <p:cNvSpPr/>
          <p:nvPr/>
        </p:nvSpPr>
        <p:spPr>
          <a:xfrm>
            <a:off x="7831772" y="2872742"/>
            <a:ext cx="14790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Durbin-Watson</a:t>
            </a:r>
            <a:endParaRPr lang="en-US" sz="1200" dirty="0"/>
          </a:p>
        </p:txBody>
      </p:sp>
      <p:sp>
        <p:nvSpPr>
          <p:cNvPr id="18" name="Text 16"/>
          <p:cNvSpPr/>
          <p:nvPr/>
        </p:nvSpPr>
        <p:spPr>
          <a:xfrm>
            <a:off x="7831772" y="3111500"/>
            <a:ext cx="1479074"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B84E14"/>
                </a:solidFill>
                <a:latin typeface="Noto Sans KR" pitchFamily="34" charset="0"/>
                <a:ea typeface="Noto Sans KR" pitchFamily="34" charset="-122"/>
                <a:cs typeface="Noto Sans KR" pitchFamily="34" charset="-120"/>
              </a:rPr>
              <a:t>0.446</a:t>
            </a:r>
            <a:endParaRPr lang="en-US" sz="2400" dirty="0"/>
          </a:p>
        </p:txBody>
      </p:sp>
      <p:sp>
        <p:nvSpPr>
          <p:cNvPr id="19" name="Text 17"/>
          <p:cNvSpPr/>
          <p:nvPr/>
        </p:nvSpPr>
        <p:spPr>
          <a:xfrm>
            <a:off x="7831772" y="3472185"/>
            <a:ext cx="14790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강한 양의 자기상관</a:t>
            </a:r>
            <a:endParaRPr lang="en-US" sz="1200" dirty="0"/>
          </a:p>
        </p:txBody>
      </p:sp>
      <p:sp>
        <p:nvSpPr>
          <p:cNvPr id="20" name="Shape 18"/>
          <p:cNvSpPr/>
          <p:nvPr/>
        </p:nvSpPr>
        <p:spPr>
          <a:xfrm>
            <a:off x="9488646" y="2758442"/>
            <a:ext cx="1682274" cy="1254760"/>
          </a:xfrm>
          <a:prstGeom prst="roundRect">
            <a:avLst>
              <a:gd name="adj" fmla="val 7085"/>
            </a:avLst>
          </a:prstGeom>
          <a:solidFill>
            <a:srgbClr val="F5F6F8"/>
          </a:solidFill>
          <a:ln/>
        </p:spPr>
      </p:sp>
      <p:sp>
        <p:nvSpPr>
          <p:cNvPr id="21" name="Text 19"/>
          <p:cNvSpPr/>
          <p:nvPr/>
        </p:nvSpPr>
        <p:spPr>
          <a:xfrm>
            <a:off x="9615646" y="2872742"/>
            <a:ext cx="14790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VIF 최대</a:t>
            </a:r>
            <a:endParaRPr lang="en-US" sz="1200" dirty="0"/>
          </a:p>
        </p:txBody>
      </p:sp>
      <p:sp>
        <p:nvSpPr>
          <p:cNvPr id="22" name="Text 20"/>
          <p:cNvSpPr/>
          <p:nvPr/>
        </p:nvSpPr>
        <p:spPr>
          <a:xfrm>
            <a:off x="9615646" y="3111500"/>
            <a:ext cx="1479074"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5.64</a:t>
            </a:r>
            <a:endParaRPr lang="en-US" sz="2400" dirty="0"/>
          </a:p>
        </p:txBody>
      </p:sp>
      <p:sp>
        <p:nvSpPr>
          <p:cNvPr id="23" name="Text 21"/>
          <p:cNvSpPr/>
          <p:nvPr/>
        </p:nvSpPr>
        <p:spPr>
          <a:xfrm>
            <a:off x="9615646" y="3472185"/>
            <a:ext cx="14790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심각한 다중공선성은 아님</a:t>
            </a:r>
            <a:endParaRPr lang="en-US" sz="1200" dirty="0"/>
          </a:p>
        </p:txBody>
      </p:sp>
      <p:sp>
        <p:nvSpPr>
          <p:cNvPr id="24" name="Text 22"/>
          <p:cNvSpPr/>
          <p:nvPr/>
        </p:nvSpPr>
        <p:spPr>
          <a:xfrm>
            <a:off x="7704772" y="4114800"/>
            <a:ext cx="35701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시계열 구조는 잔차에 남아 있으며, 변수 간 중복 문제는 비교적 통제됨</a:t>
            </a:r>
            <a:endParaRPr lang="en-US" sz="1200" dirty="0"/>
          </a:p>
        </p:txBody>
      </p:sp>
      <p:sp>
        <p:nvSpPr>
          <p:cNvPr id="25" name="Text 23"/>
          <p:cNvSpPr/>
          <p:nvPr/>
        </p:nvSpPr>
        <p:spPr>
          <a:xfrm>
            <a:off x="812800" y="4876800"/>
            <a:ext cx="10566400" cy="528320"/>
          </a:xfrm>
          <a:prstGeom prst="roundRect">
            <a:avLst>
              <a:gd name="adj" fmla="val 19231"/>
            </a:avLst>
          </a:prstGeom>
          <a:solidFill>
            <a:srgbClr val="E9EFFC"/>
          </a:solidFill>
          <a:ln/>
        </p:spPr>
        <p:txBody>
          <a:bodyPr wrap="square" lIns="173442" tIns="109942" rIns="0" bIns="84542"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결론 → 선형모형을 기준선으로 유지하고, 비선형 관계와 변수 상호작용을 학습할 RF·XGBoost로 확장</a:t>
            </a:r>
            <a:endParaRPr lang="en-US" sz="1400" dirty="0"/>
          </a:p>
        </p:txBody>
      </p:sp>
      <p:sp>
        <p:nvSpPr>
          <p:cNvPr id="26" name="Text 24"/>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7" name="Text 25"/>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후보 모델 설정 및 학습 전 점검</a:t>
            </a:r>
            <a:endParaRPr lang="en-US" sz="2400" dirty="0"/>
          </a:p>
        </p:txBody>
      </p:sp>
      <p:sp>
        <p:nvSpPr>
          <p:cNvPr id="4" name="Shape 2"/>
          <p:cNvSpPr/>
          <p:nvPr/>
        </p:nvSpPr>
        <p:spPr>
          <a:xfrm>
            <a:off x="815975" y="2157102"/>
            <a:ext cx="5200650" cy="3013710"/>
          </a:xfrm>
          <a:prstGeom prst="roundRect">
            <a:avLst>
              <a:gd name="adj" fmla="val 4109"/>
            </a:avLst>
          </a:prstGeom>
          <a:solidFill>
            <a:srgbClr val="FFFFFF"/>
          </a:solidFill>
          <a:ln w="6350">
            <a:solidFill>
              <a:srgbClr val="E1E5EB"/>
            </a:solidFill>
            <a:prstDash val="solid"/>
          </a:ln>
        </p:spPr>
      </p:sp>
      <p:sp>
        <p:nvSpPr>
          <p:cNvPr id="5" name="Text 3"/>
          <p:cNvSpPr/>
          <p:nvPr/>
        </p:nvSpPr>
        <p:spPr>
          <a:xfrm>
            <a:off x="1021080" y="2362200"/>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후보 모델</a:t>
            </a:r>
            <a:endParaRPr lang="en-US" sz="1200" dirty="0"/>
          </a:p>
        </p:txBody>
      </p:sp>
      <p:sp>
        <p:nvSpPr>
          <p:cNvPr id="6" name="Text 4"/>
          <p:cNvSpPr/>
          <p:nvPr/>
        </p:nvSpPr>
        <p:spPr>
          <a:xfrm>
            <a:off x="1021080" y="2664458"/>
            <a:ext cx="49341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Random Forest</a:t>
            </a:r>
            <a:endParaRPr lang="en-US" sz="1600" dirty="0"/>
          </a:p>
        </p:txBody>
      </p:sp>
      <p:sp>
        <p:nvSpPr>
          <p:cNvPr id="7" name="Text 5"/>
          <p:cNvSpPr/>
          <p:nvPr/>
        </p:nvSpPr>
        <p:spPr>
          <a:xfrm>
            <a:off x="1021080" y="2997200"/>
            <a:ext cx="493415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5"/>
                </a:solidFill>
                <a:latin typeface="Noto Sans KR" pitchFamily="34" charset="0"/>
                <a:ea typeface="Noto Sans KR" pitchFamily="34" charset="-122"/>
                <a:cs typeface="Noto Sans KR" pitchFamily="34" charset="-120"/>
              </a:rPr>
              <a:t>여러 결정트리를 앙상블하여 비선형 관계를 학습</a:t>
            </a:r>
            <a:endParaRPr lang="en-US" sz="1200" dirty="0"/>
          </a:p>
        </p:txBody>
      </p:sp>
      <p:pic>
        <p:nvPicPr>
          <p:cNvPr id="8" name="Image 0" descr="line">    </p:cNvPr>
          <p:cNvPicPr>
            <a:picLocks noChangeAspect="1"/>
          </p:cNvPicPr>
          <p:nvPr/>
        </p:nvPicPr>
        <p:blipFill>
          <a:blip r:embed="rId1"/>
          <a:srcRect l="-24" r="-24" t="0" b="0"/>
          <a:stretch/>
        </p:blipFill>
        <p:spPr>
          <a:xfrm>
            <a:off x="1021080" y="3307085"/>
            <a:ext cx="4790440" cy="6350"/>
          </a:xfrm>
          <a:prstGeom prst="rect">
            <a:avLst/>
          </a:prstGeom>
        </p:spPr>
      </p:pic>
      <p:sp>
        <p:nvSpPr>
          <p:cNvPr id="9" name="Text 6"/>
          <p:cNvSpPr/>
          <p:nvPr/>
        </p:nvSpPr>
        <p:spPr>
          <a:xfrm>
            <a:off x="1021080" y="3402335"/>
            <a:ext cx="493415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Noto Sans KR" pitchFamily="34" charset="0"/>
                <a:ea typeface="Noto Sans KR" pitchFamily="34" charset="-122"/>
                <a:cs typeface="Noto Sans KR" pitchFamily="34" charset="-120"/>
              </a:rPr>
              <a:t>XGBoost</a:t>
            </a:r>
            <a:endParaRPr lang="en-US" sz="1600" dirty="0"/>
          </a:p>
        </p:txBody>
      </p:sp>
      <p:sp>
        <p:nvSpPr>
          <p:cNvPr id="10" name="Text 7"/>
          <p:cNvSpPr/>
          <p:nvPr/>
        </p:nvSpPr>
        <p:spPr>
          <a:xfrm>
            <a:off x="1021080" y="3735077"/>
            <a:ext cx="493415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5"/>
                </a:solidFill>
                <a:latin typeface="Noto Sans KR" pitchFamily="34" charset="0"/>
                <a:ea typeface="Noto Sans KR" pitchFamily="34" charset="-122"/>
                <a:cs typeface="Noto Sans KR" pitchFamily="34" charset="-120"/>
              </a:rPr>
              <a:t>이전 모델의 오차를 보완하는 방식으로 순차적으로 트리를 학습</a:t>
            </a:r>
            <a:endParaRPr lang="en-US" sz="1200" dirty="0"/>
          </a:p>
        </p:txBody>
      </p:sp>
      <p:sp>
        <p:nvSpPr>
          <p:cNvPr id="11" name="Text 8"/>
          <p:cNvSpPr/>
          <p:nvPr/>
        </p:nvSpPr>
        <p:spPr>
          <a:xfrm>
            <a:off x="1021080" y="4549142"/>
            <a:ext cx="4790440" cy="416560"/>
          </a:xfrm>
          <a:prstGeom prst="roundRect">
            <a:avLst>
              <a:gd name="adj" fmla="val 18293"/>
            </a:avLst>
          </a:prstGeom>
          <a:solidFill>
            <a:srgbClr val="F5F6F8"/>
          </a:solidFill>
          <a:ln/>
        </p:spPr>
        <p:txBody>
          <a:bodyPr wrap="square" lIns="104682" tIns="79282" rIns="0" bIns="53882"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공통 조건: 기본 하이퍼파라미터 · random_state=42</a:t>
            </a:r>
            <a:endParaRPr lang="en-US" sz="1200" dirty="0"/>
          </a:p>
        </p:txBody>
      </p:sp>
      <p:sp>
        <p:nvSpPr>
          <p:cNvPr id="12" name="Shape 9"/>
          <p:cNvSpPr/>
          <p:nvPr/>
        </p:nvSpPr>
        <p:spPr>
          <a:xfrm>
            <a:off x="6175375" y="2157102"/>
            <a:ext cx="5200650" cy="3013710"/>
          </a:xfrm>
          <a:prstGeom prst="roundRect">
            <a:avLst>
              <a:gd name="adj" fmla="val 4109"/>
            </a:avLst>
          </a:prstGeom>
          <a:solidFill>
            <a:srgbClr val="FFFFFF"/>
          </a:solidFill>
          <a:ln w="6350">
            <a:solidFill>
              <a:srgbClr val="E1E5EB"/>
            </a:solidFill>
            <a:prstDash val="solid"/>
          </a:ln>
        </p:spPr>
      </p:sp>
      <p:sp>
        <p:nvSpPr>
          <p:cNvPr id="13" name="Text 10"/>
          <p:cNvSpPr/>
          <p:nvPr/>
        </p:nvSpPr>
        <p:spPr>
          <a:xfrm>
            <a:off x="6380480" y="2362200"/>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입력 데이터 점검</a:t>
            </a:r>
            <a:endParaRPr lang="en-US" sz="1200" dirty="0"/>
          </a:p>
        </p:txBody>
      </p:sp>
      <p:sp>
        <p:nvSpPr>
          <p:cNvPr id="14" name="Text 11"/>
          <p:cNvSpPr/>
          <p:nvPr/>
        </p:nvSpPr>
        <p:spPr>
          <a:xfrm>
            <a:off x="6466586" y="2664458"/>
            <a:ext cx="4840427" cy="1732280"/>
          </a:xfrm>
          <a:prstGeom prst="rect">
            <a:avLst/>
          </a:prstGeom>
          <a:noFill/>
          <a:ln/>
        </p:spPr>
        <p:txBody>
          <a:bodyPr wrap="square" lIns="0" tIns="0" rIns="0" bIns="0" rtlCol="0" anchor="t">
            <a:normAutofit/>
          </a:bodyPr>
          <a:lstStyle/>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결측치 0건 / 무한대 0건</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Target leakage 여부 확인</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상수열 점검 → 해당 없음, 최종 feature 44개</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Train / Test에서 X, y 분리</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동일한 평가 함수로 RMSE·MAE·R² 비교</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Dew_point_temperature·Seasons 4개 모두 유지 (트리는 다중공선성·더미 트랩 영향 적음)</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Train (6,497 × 44) / Test (1,968 × 44)</a:t>
            </a:r>
            <a:endParaRPr lang="en-US" sz="1200" dirty="0"/>
          </a:p>
        </p:txBody>
      </p:sp>
      <p:sp>
        <p:nvSpPr>
          <p:cNvPr id="15" name="Text 12"/>
          <p:cNvSpPr/>
          <p:nvPr/>
        </p:nvSpPr>
        <p:spPr>
          <a:xfrm>
            <a:off x="6380480" y="4549142"/>
            <a:ext cx="4790440" cy="416560"/>
          </a:xfrm>
          <a:prstGeom prst="roundRect">
            <a:avLst>
              <a:gd name="adj" fmla="val 18293"/>
            </a:avLst>
          </a:prstGeom>
          <a:solidFill>
            <a:srgbClr val="F5F6F8"/>
          </a:solidFill>
          <a:ln/>
        </p:spPr>
        <p:txBody>
          <a:bodyPr wrap="square" lIns="104682" tIns="79282" rIns="0" bIns="53882"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Test set은 학습·튜닝에 사용하지 않고 최종 성능 평가에 사용</a:t>
            </a:r>
            <a:endParaRPr lang="en-US" sz="1200" dirty="0"/>
          </a:p>
        </p:txBody>
      </p:sp>
      <p:sp>
        <p:nvSpPr>
          <p:cNvPr id="16" name="Text 13"/>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7" name="Text 14"/>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후보 모델 성능 비교</a:t>
            </a:r>
            <a:endParaRPr lang="en-US" sz="2400" dirty="0"/>
          </a:p>
        </p:txBody>
      </p:sp>
      <p:sp>
        <p:nvSpPr>
          <p:cNvPr id="4" name="Shape 2"/>
          <p:cNvSpPr/>
          <p:nvPr/>
        </p:nvSpPr>
        <p:spPr>
          <a:xfrm>
            <a:off x="815975" y="1865002"/>
            <a:ext cx="5175250" cy="2569210"/>
          </a:xfrm>
          <a:prstGeom prst="roundRect">
            <a:avLst>
              <a:gd name="adj" fmla="val 4820"/>
            </a:avLst>
          </a:prstGeom>
          <a:solidFill>
            <a:srgbClr val="FFFFFF"/>
          </a:solidFill>
          <a:ln w="6350">
            <a:solidFill>
              <a:srgbClr val="E1E5EB"/>
            </a:solidFill>
            <a:prstDash val="solid"/>
          </a:ln>
        </p:spPr>
      </p:sp>
      <p:pic>
        <p:nvPicPr>
          <p:cNvPr id="5" name="Image 0" descr="Test RMSE 막대 그래프 (낮을수록 좋음): Linear Regression 315.08, Random Forest 204.79, XGBoost 185.73">    </p:cNvPr>
          <p:cNvPicPr>
            <a:picLocks noChangeAspect="1"/>
          </p:cNvPicPr>
          <p:nvPr/>
        </p:nvPicPr>
        <p:blipFill>
          <a:blip r:embed="rId1"/>
          <a:srcRect l="0" r="0" t="-53" b="-53"/>
          <a:stretch/>
        </p:blipFill>
        <p:spPr>
          <a:xfrm>
            <a:off x="958850" y="1993900"/>
            <a:ext cx="4889500" cy="2311400"/>
          </a:xfrm>
          <a:prstGeom prst="rect">
            <a:avLst/>
          </a:prstGeom>
        </p:spPr>
      </p:pic>
      <p:sp>
        <p:nvSpPr>
          <p:cNvPr id="6" name="Shape 3"/>
          <p:cNvSpPr/>
          <p:nvPr/>
        </p:nvSpPr>
        <p:spPr>
          <a:xfrm>
            <a:off x="6200775" y="1865002"/>
            <a:ext cx="5175250" cy="2569210"/>
          </a:xfrm>
          <a:prstGeom prst="roundRect">
            <a:avLst>
              <a:gd name="adj" fmla="val 4820"/>
            </a:avLst>
          </a:prstGeom>
          <a:solidFill>
            <a:srgbClr val="FFFFFF"/>
          </a:solidFill>
          <a:ln w="6350">
            <a:solidFill>
              <a:srgbClr val="E1E5EB"/>
            </a:solidFill>
            <a:prstDash val="solid"/>
          </a:ln>
        </p:spPr>
      </p:sp>
      <p:pic>
        <p:nvPicPr>
          <p:cNvPr id="7" name="Image 1" descr="Test R² 막대 그래프 (높을수록 좋음): Linear Regression 0.7384, Random Forest 0.8895, XGBoost 0.9091">    </p:cNvPr>
          <p:cNvPicPr>
            <a:picLocks noChangeAspect="1"/>
          </p:cNvPicPr>
          <p:nvPr/>
        </p:nvPicPr>
        <p:blipFill>
          <a:blip r:embed="rId2"/>
          <a:srcRect l="0" r="0" t="-53" b="-53"/>
          <a:stretch/>
        </p:blipFill>
        <p:spPr>
          <a:xfrm>
            <a:off x="6343650" y="1993900"/>
            <a:ext cx="4889500" cy="2311400"/>
          </a:xfrm>
          <a:prstGeom prst="rect">
            <a:avLst/>
          </a:prstGeom>
        </p:spPr>
      </p:pic>
      <p:sp>
        <p:nvSpPr>
          <p:cNvPr id="8" name="Shape 4"/>
          <p:cNvSpPr/>
          <p:nvPr/>
        </p:nvSpPr>
        <p:spPr>
          <a:xfrm>
            <a:off x="812800" y="4589785"/>
            <a:ext cx="10566400" cy="876300"/>
          </a:xfrm>
          <a:prstGeom prst="roundRect">
            <a:avLst>
              <a:gd name="adj" fmla="val 14493"/>
            </a:avLst>
          </a:prstGeom>
          <a:solidFill>
            <a:srgbClr val="E9EFFC"/>
          </a:solidFill>
          <a:ln/>
        </p:spPr>
      </p:sp>
      <p:sp>
        <p:nvSpPr>
          <p:cNvPr id="9" name="Text 5"/>
          <p:cNvSpPr/>
          <p:nvPr/>
        </p:nvSpPr>
        <p:spPr>
          <a:xfrm>
            <a:off x="1016000" y="4767585"/>
            <a:ext cx="1046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XGBoost: Test RMSE 185.73 / MAE 125.50 / R² 0.9091</a:t>
            </a:r>
            <a:endParaRPr lang="en-US" sz="1400" dirty="0"/>
          </a:p>
        </p:txBody>
      </p:sp>
      <p:sp>
        <p:nvSpPr>
          <p:cNvPr id="10" name="Text 6"/>
          <p:cNvSpPr/>
          <p:nvPr/>
        </p:nvSpPr>
        <p:spPr>
          <a:xfrm>
            <a:off x="1016000" y="5067300"/>
            <a:ext cx="10464800"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72033"/>
                </a:solidFill>
                <a:latin typeface="Noto Sans KR" pitchFamily="34" charset="0"/>
                <a:ea typeface="Noto Sans KR" pitchFamily="34" charset="-122"/>
                <a:cs typeface="Noto Sans KR" pitchFamily="34" charset="-120"/>
              </a:rPr>
              <a:t>RF Train R² 0.9880 / Gap 0.0986 · XGB Train R² 0.9874 / Gap 0.0783 — 두 모델 모두 기본 파라미터 기준 과적합 경향이 있으나 XGBoost가 Gap도 더 작음</a:t>
            </a:r>
            <a:endParaRPr lang="en-US" sz="1200" dirty="0"/>
          </a:p>
        </p:txBody>
      </p:sp>
      <p:sp>
        <p:nvSpPr>
          <p:cNvPr id="11" name="Text 7"/>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8"/>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변수 중요도: 모델이 활용한 핵심 정보</a:t>
            </a:r>
            <a:endParaRPr lang="en-US" sz="2400" dirty="0"/>
          </a:p>
        </p:txBody>
      </p:sp>
      <p:sp>
        <p:nvSpPr>
          <p:cNvPr id="4" name="Shape 2"/>
          <p:cNvSpPr/>
          <p:nvPr/>
        </p:nvSpPr>
        <p:spPr>
          <a:xfrm>
            <a:off x="815975" y="1680852"/>
            <a:ext cx="5175250" cy="2569210"/>
          </a:xfrm>
          <a:prstGeom prst="roundRect">
            <a:avLst>
              <a:gd name="adj" fmla="val 4820"/>
            </a:avLst>
          </a:prstGeom>
          <a:solidFill>
            <a:srgbClr val="FFFFFF"/>
          </a:solidFill>
          <a:ln w="6350">
            <a:solidFill>
              <a:srgbClr val="E1E5EB"/>
            </a:solidFill>
            <a:prstDash val="solid"/>
          </a:ln>
        </p:spPr>
      </p:sp>
      <p:pic>
        <p:nvPicPr>
          <p:cNvPr id="5" name="Image 0" descr="Random Forest 변수 중요도 Top 5: Temperature 0.350, Humidity 0.146, Hour_18 0.078, Solar_Radiation 0.050, Is_dayoff 0.038">    </p:cNvPr>
          <p:cNvPicPr>
            <a:picLocks noChangeAspect="1"/>
          </p:cNvPicPr>
          <p:nvPr/>
        </p:nvPicPr>
        <p:blipFill>
          <a:blip r:embed="rId1"/>
          <a:srcRect l="0" r="0" t="-53" b="-53"/>
          <a:stretch/>
        </p:blipFill>
        <p:spPr>
          <a:xfrm>
            <a:off x="958850" y="1809750"/>
            <a:ext cx="4889500" cy="2311400"/>
          </a:xfrm>
          <a:prstGeom prst="rect">
            <a:avLst/>
          </a:prstGeom>
        </p:spPr>
      </p:pic>
      <p:sp>
        <p:nvSpPr>
          <p:cNvPr id="6" name="Shape 3"/>
          <p:cNvSpPr/>
          <p:nvPr/>
        </p:nvSpPr>
        <p:spPr>
          <a:xfrm>
            <a:off x="6200775" y="1680852"/>
            <a:ext cx="5175250" cy="2569210"/>
          </a:xfrm>
          <a:prstGeom prst="roundRect">
            <a:avLst>
              <a:gd name="adj" fmla="val 4820"/>
            </a:avLst>
          </a:prstGeom>
          <a:solidFill>
            <a:srgbClr val="FFFFFF"/>
          </a:solidFill>
          <a:ln w="6350">
            <a:solidFill>
              <a:srgbClr val="E1E5EB"/>
            </a:solidFill>
            <a:prstDash val="solid"/>
          </a:ln>
        </p:spPr>
      </p:sp>
      <p:pic>
        <p:nvPicPr>
          <p:cNvPr id="7" name="Image 1" descr="XGBoost 변수 중요도 Top 5: Hour_18 0.163, Hour_19 0.111, Hour_17 0.079, Hour_4 0.067, Hour_21 0.060">    </p:cNvPr>
          <p:cNvPicPr>
            <a:picLocks noChangeAspect="1"/>
          </p:cNvPicPr>
          <p:nvPr/>
        </p:nvPicPr>
        <p:blipFill>
          <a:blip r:embed="rId2"/>
          <a:srcRect l="0" r="0" t="-53" b="-53"/>
          <a:stretch/>
        </p:blipFill>
        <p:spPr>
          <a:xfrm>
            <a:off x="6343650" y="1809750"/>
            <a:ext cx="4889500" cy="2311400"/>
          </a:xfrm>
          <a:prstGeom prst="rect">
            <a:avLst/>
          </a:prstGeom>
        </p:spPr>
      </p:pic>
      <p:sp>
        <p:nvSpPr>
          <p:cNvPr id="8" name="Shape 4"/>
          <p:cNvSpPr/>
          <p:nvPr/>
        </p:nvSpPr>
        <p:spPr>
          <a:xfrm>
            <a:off x="812800" y="4405635"/>
            <a:ext cx="10566400" cy="1244600"/>
          </a:xfrm>
          <a:prstGeom prst="roundRect">
            <a:avLst>
              <a:gd name="adj" fmla="val 10204"/>
            </a:avLst>
          </a:prstGeom>
          <a:solidFill>
            <a:srgbClr val="E9EFFC"/>
          </a:solidFill>
          <a:ln/>
        </p:spPr>
      </p:sp>
      <p:sp>
        <p:nvSpPr>
          <p:cNvPr id="9" name="Text 5"/>
          <p:cNvSpPr/>
          <p:nvPr/>
        </p:nvSpPr>
        <p:spPr>
          <a:xfrm>
            <a:off x="1016000" y="4558035"/>
            <a:ext cx="10464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RF는 기상 변수, XGBoost는 시간대 변수가 상대적으로 높은 중요도를 보임</a:t>
            </a:r>
            <a:endParaRPr lang="en-US" sz="1400" dirty="0"/>
          </a:p>
        </p:txBody>
      </p:sp>
      <p:sp>
        <p:nvSpPr>
          <p:cNvPr id="10" name="Text 6"/>
          <p:cNvSpPr/>
          <p:nvPr/>
        </p:nvSpPr>
        <p:spPr>
          <a:xfrm>
            <a:off x="1102106" y="4857750"/>
            <a:ext cx="10371074" cy="665480"/>
          </a:xfrm>
          <a:prstGeom prst="rect">
            <a:avLst/>
          </a:prstGeom>
          <a:noFill/>
          <a:ln/>
        </p:spPr>
        <p:txBody>
          <a:bodyPr wrap="square" lIns="0" tIns="0" rIns="0" bIns="0" rtlCol="0" anchor="t">
            <a:normAutofit/>
          </a:bodyPr>
          <a:lstStyle/>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특히 17~19시 변수의 중요도가 높아 EDA에서 확인한 출퇴근 피크와 일관된 결과</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XGBoost는 새벽(Hour_3~5)에도 큰 가중치 — 저수요 구간을 잘라내는 분기 역할</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주의: RF는 불순도 감소, XGBoost는 gain 기준이라 수치 직접 비교는 불가 (경향만 해석)</a:t>
            </a:r>
            <a:endParaRPr lang="en-US" sz="1200" dirty="0"/>
          </a:p>
        </p:txBody>
      </p:sp>
      <p:sp>
        <p:nvSpPr>
          <p:cNvPr id="11" name="Text 7"/>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2" name="Text 8"/>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06 · 모델링</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EDA 결과와 모델의 연결</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5"/>
                </a:solidFill>
                <a:latin typeface="Noto Sans KR" pitchFamily="34" charset="0"/>
                <a:ea typeface="Noto Sans KR" pitchFamily="34" charset="-122"/>
                <a:cs typeface="Noto Sans KR" pitchFamily="34" charset="-120"/>
              </a:rPr>
              <a:t>앞 파트의 EDA 결론이 어떤 변수로 설계되어, 모델 중요도에서 다시 확인되었는가</a:t>
            </a:r>
            <a:endParaRPr lang="en-US" sz="1400" dirty="0"/>
          </a:p>
        </p:txBody>
      </p:sp>
      <p:sp>
        <p:nvSpPr>
          <p:cNvPr id="5" name="Shape 3"/>
          <p:cNvSpPr/>
          <p:nvPr/>
        </p:nvSpPr>
        <p:spPr>
          <a:xfrm>
            <a:off x="812800" y="2127250"/>
            <a:ext cx="10566400" cy="2730500"/>
          </a:xfrm>
          <a:prstGeom prst="roundRect">
            <a:avLst>
              <a:gd name="adj" fmla="val 3721"/>
            </a:avLst>
          </a:prstGeom>
          <a:solidFill>
            <a:srgbClr val="FFFFFF"/>
          </a:solidFill>
          <a:ln/>
        </p:spPr>
      </p:sp>
      <p:sp>
        <p:nvSpPr>
          <p:cNvPr id="6" name="Shape 4"/>
          <p:cNvSpPr/>
          <p:nvPr/>
        </p:nvSpPr>
        <p:spPr>
          <a:xfrm>
            <a:off x="812800" y="2127250"/>
            <a:ext cx="10566400" cy="2730500"/>
          </a:xfrm>
          <a:custGeom>
            <a:avLst/>
            <a:gdLst/>
            <a:ahLst/>
            <a:cxnLst/>
            <a:rect l="l" t="t" r="r" b="b"/>
            <a:pathLst>
              <a:path w="10566400" h="2730500">
                <a:moveTo>
                  <a:pt x="101600" y="2730500"/>
                </a:moveTo>
                <a:lnTo>
                  <a:pt x="101600" y="273050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262890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137410"/>
          <a:ext cx="10556240" cy="2720340"/>
        </p:xfrm>
        <a:graphic>
          <a:graphicData uri="http://schemas.openxmlformats.org/drawingml/2006/table">
            <a:tbl>
              <a:tblPr/>
              <a:tblGrid>
                <a:gridCol w="3272434"/>
                <a:gridCol w="3061310"/>
                <a:gridCol w="4222496"/>
              </a:tblGrid>
              <a:tr h="388620">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EDA에서 찾은 패턴</a:t>
                      </a:r>
                      <a:endParaRPr lang="en-US" sz="1200" dirty="0">
                        <a:latin typeface="Noto Sans KR" charset="0"/>
                        <a:ea typeface="Noto Sans KR" charset="0"/>
                        <a:cs typeface="Noto Sans KR" charset="0"/>
                      </a:endParaRPr>
                    </a:p>
                  </a:txBody>
                  <a:tcPr marL="127000" marR="127000" marT="82550" marB="82550" anchor="t">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설계한 변수</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모델에서의 활용</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r>
              <a:tr h="3886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출퇴근 이중봉 (8시 · 18시)</a:t>
                      </a:r>
                      <a:endParaRPr lang="en-US" sz="1200" dirty="0">
                        <a:latin typeface="Noto Sans KR" charset="0"/>
                        <a:ea typeface="Noto Sans KR" charset="0"/>
                        <a:cs typeface="Noto Sans KR" charset="0"/>
                      </a:endParaRPr>
                    </a:p>
                  </a:txBody>
                  <a:tcPr marL="127000" marR="127000" marT="82550" marB="825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Hour 더미 24개</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XGBoost 중요도 1~3위 (Hour_18 · 19 · 17)</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86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여름철 저녁 이용 집중</a:t>
                      </a:r>
                      <a:endParaRPr lang="en-US" sz="1200" dirty="0">
                        <a:latin typeface="Noto Sans KR" charset="0"/>
                        <a:ea typeface="Noto Sans KR" charset="0"/>
                        <a:cs typeface="Noto Sans KR" charset="0"/>
                      </a:endParaRPr>
                    </a:p>
                  </a:txBody>
                  <a:tcPr marL="127000" marR="127000" marT="82550" marB="825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Seasons 더미</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Seasons 변수가 XGBoost 상위권 (Autumn 8위)</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86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주말 · 공휴일 패턴이 유사</a:t>
                      </a:r>
                      <a:endParaRPr lang="en-US" sz="1200" dirty="0">
                        <a:latin typeface="Noto Sans KR" charset="0"/>
                        <a:ea typeface="Noto Sans KR" charset="0"/>
                        <a:cs typeface="Noto Sans KR" charset="0"/>
                      </a:endParaRPr>
                    </a:p>
                  </a:txBody>
                  <a:tcPr marL="127000" marR="127000" marT="82550" marB="825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Is_dayoff로 통합</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RF 중요도 5위 (0.038)</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86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비 · 눈은 양보다 유무</a:t>
                      </a:r>
                      <a:endParaRPr lang="en-US" sz="1200" dirty="0">
                        <a:latin typeface="Noto Sans KR" charset="0"/>
                        <a:ea typeface="Noto Sans KR" charset="0"/>
                        <a:cs typeface="Noto Sans KR" charset="0"/>
                      </a:endParaRPr>
                    </a:p>
                  </a:txBody>
                  <a:tcPr marL="127000" marR="127000" marT="82550" marB="825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Rain_YN · Snow_YN</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회귀 · 트리 모두 투입</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86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습도 · 풍속의 역U자 관계</a:t>
                      </a:r>
                      <a:endParaRPr lang="en-US" sz="1200" dirty="0">
                        <a:latin typeface="Noto Sans KR" charset="0"/>
                        <a:ea typeface="Noto Sans KR" charset="0"/>
                        <a:cs typeface="Noto Sans KR" charset="0"/>
                      </a:endParaRPr>
                    </a:p>
                  </a:txBody>
                  <a:tcPr marL="127000" marR="127000" marT="82550" marB="825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Humidity_sq · Wind_speed_sq</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회귀의 비선형 보정 역할</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86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Temperature–Dew_point r = 0.91</a:t>
                      </a:r>
                      <a:endParaRPr lang="en-US" sz="1200" dirty="0">
                        <a:latin typeface="Noto Sans KR" charset="0"/>
                        <a:ea typeface="Noto Sans KR" charset="0"/>
                        <a:cs typeface="Noto Sans KR" charset="0"/>
                      </a:endParaRPr>
                    </a:p>
                  </a:txBody>
                  <a:tcPr marL="127000" marR="127000" marT="82550" marB="825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회귀 제외 / 트리 유지</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RF 중요도 12위 (0.020)</a:t>
                      </a:r>
                      <a:endParaRPr lang="en-US" sz="1200" dirty="0">
                        <a:latin typeface="Noto Sans KR" charset="0"/>
                        <a:ea typeface="Noto Sans KR" charset="0"/>
                        <a:cs typeface="Noto Sans KR" charset="0"/>
                      </a:endParaRPr>
                    </a:p>
                  </a:txBody>
                  <a:tcPr marL="127000" marR="127000" marT="82550" marB="825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5010150"/>
            <a:ext cx="10566400" cy="528320"/>
          </a:xfrm>
          <a:prstGeom prst="roundRect">
            <a:avLst>
              <a:gd name="adj" fmla="val 19231"/>
            </a:avLst>
          </a:prstGeom>
          <a:solidFill>
            <a:srgbClr val="E9EFFC"/>
          </a:solidFill>
          <a:ln/>
        </p:spPr>
        <p:txBody>
          <a:bodyPr wrap="square" lIns="173442" tIns="109942" rIns="0" bIns="84542" rtlCol="0" anchor="t">
            <a:normAutofit/>
          </a:bodyPr>
          <a:lstStyle/>
          <a:p>
            <a:pPr algn="l" indent="0" marL="0">
              <a:lnSpc>
                <a:spcPts val="1960"/>
              </a:lnSpc>
              <a:buNone/>
            </a:pPr>
            <a:r>
              <a:rPr lang="en-US" sz="1400" b="1" dirty="0">
                <a:solidFill>
                  <a:srgbClr val="172033"/>
                </a:solidFill>
                <a:latin typeface="Noto Sans KR" pitchFamily="34" charset="0"/>
                <a:ea typeface="Noto Sans KR" pitchFamily="34" charset="-122"/>
                <a:cs typeface="Noto Sans KR" pitchFamily="34" charset="-120"/>
              </a:rPr>
              <a:t>→ EDA에서 찾은 패턴이 변수 설계로 이어지고, 그 변수들이 모델에서 실제로 활용됨</a:t>
            </a:r>
            <a:endParaRPr lang="en-US" sz="1400" dirty="0"/>
          </a:p>
        </p:txBody>
      </p:sp>
      <p:sp>
        <p:nvSpPr>
          <p:cNvPr id="9" name="Text 6"/>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0" name="Text 7"/>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07 · 예측</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Test 구간 예측 결과</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5"/>
                </a:solidFill>
                <a:latin typeface="Noto Sans KR" pitchFamily="34" charset="0"/>
                <a:ea typeface="Noto Sans KR" pitchFamily="34" charset="-122"/>
                <a:cs typeface="Noto Sans KR" pitchFamily="34" charset="-120"/>
              </a:rPr>
              <a:t>매월 마지막 7일로 구성한 Test 1,968행에서 실제 대여량과 RF·XGBoost 예측을 비교</a:t>
            </a:r>
            <a:endParaRPr lang="en-US" sz="1400" dirty="0"/>
          </a:p>
        </p:txBody>
      </p:sp>
      <p:sp>
        <p:nvSpPr>
          <p:cNvPr id="5" name="Shape 3"/>
          <p:cNvSpPr/>
          <p:nvPr/>
        </p:nvSpPr>
        <p:spPr>
          <a:xfrm>
            <a:off x="815975" y="2206625"/>
            <a:ext cx="3414157" cy="1223010"/>
          </a:xfrm>
          <a:prstGeom prst="roundRect">
            <a:avLst>
              <a:gd name="adj" fmla="val 10125"/>
            </a:avLst>
          </a:prstGeom>
          <a:solidFill>
            <a:srgbClr val="FFFFFF"/>
          </a:solidFill>
          <a:ln w="6350">
            <a:solidFill>
              <a:srgbClr val="E1E5EB"/>
            </a:solidFill>
            <a:prstDash val="solid"/>
          </a:ln>
        </p:spPr>
      </p:sp>
      <p:sp>
        <p:nvSpPr>
          <p:cNvPr id="6" name="Text 4"/>
          <p:cNvSpPr/>
          <p:nvPr/>
        </p:nvSpPr>
        <p:spPr>
          <a:xfrm>
            <a:off x="1021080" y="238633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Test observations</a:t>
            </a:r>
            <a:endParaRPr lang="en-US" sz="1200" dirty="0"/>
          </a:p>
        </p:txBody>
      </p:sp>
      <p:sp>
        <p:nvSpPr>
          <p:cNvPr id="7" name="Text 5"/>
          <p:cNvSpPr/>
          <p:nvPr/>
        </p:nvSpPr>
        <p:spPr>
          <a:xfrm>
            <a:off x="1021080" y="2650492"/>
            <a:ext cx="309406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1,968</a:t>
            </a:r>
            <a:endParaRPr lang="en-US" sz="2400" dirty="0"/>
          </a:p>
        </p:txBody>
      </p:sp>
      <p:sp>
        <p:nvSpPr>
          <p:cNvPr id="8" name="Text 6"/>
          <p:cNvSpPr/>
          <p:nvPr/>
        </p:nvSpPr>
        <p:spPr>
          <a:xfrm>
            <a:off x="1021080" y="3036577"/>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전체의 23.2%</a:t>
            </a:r>
            <a:endParaRPr lang="en-US" sz="1200" dirty="0"/>
          </a:p>
        </p:txBody>
      </p:sp>
      <p:sp>
        <p:nvSpPr>
          <p:cNvPr id="9" name="Shape 7"/>
          <p:cNvSpPr/>
          <p:nvPr/>
        </p:nvSpPr>
        <p:spPr>
          <a:xfrm>
            <a:off x="4388882" y="2206625"/>
            <a:ext cx="3414236" cy="1223010"/>
          </a:xfrm>
          <a:prstGeom prst="roundRect">
            <a:avLst>
              <a:gd name="adj" fmla="val 10125"/>
            </a:avLst>
          </a:prstGeom>
          <a:solidFill>
            <a:srgbClr val="FFFFFF"/>
          </a:solidFill>
          <a:ln w="6350">
            <a:solidFill>
              <a:srgbClr val="E1E5EB"/>
            </a:solidFill>
            <a:prstDash val="solid"/>
          </a:ln>
        </p:spPr>
      </p:sp>
      <p:sp>
        <p:nvSpPr>
          <p:cNvPr id="10" name="Text 8"/>
          <p:cNvSpPr/>
          <p:nvPr/>
        </p:nvSpPr>
        <p:spPr>
          <a:xfrm>
            <a:off x="4593987" y="2386335"/>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RF 음수 예측</a:t>
            </a:r>
            <a:endParaRPr lang="en-US" sz="1200" dirty="0"/>
          </a:p>
        </p:txBody>
      </p:sp>
      <p:sp>
        <p:nvSpPr>
          <p:cNvPr id="11" name="Text 9"/>
          <p:cNvSpPr/>
          <p:nvPr/>
        </p:nvSpPr>
        <p:spPr>
          <a:xfrm>
            <a:off x="4593987" y="2650492"/>
            <a:ext cx="309414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457C5"/>
                </a:solidFill>
                <a:latin typeface="Noto Sans KR" pitchFamily="34" charset="0"/>
                <a:ea typeface="Noto Sans KR" pitchFamily="34" charset="-122"/>
                <a:cs typeface="Noto Sans KR" pitchFamily="34" charset="-120"/>
              </a:rPr>
              <a:t>0건</a:t>
            </a:r>
            <a:endParaRPr lang="en-US" sz="2400" dirty="0"/>
          </a:p>
        </p:txBody>
      </p:sp>
      <p:sp>
        <p:nvSpPr>
          <p:cNvPr id="12" name="Text 10"/>
          <p:cNvSpPr/>
          <p:nvPr/>
        </p:nvSpPr>
        <p:spPr>
          <a:xfrm>
            <a:off x="4593987" y="3036577"/>
            <a:ext cx="30941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음수 예측 없음</a:t>
            </a:r>
            <a:endParaRPr lang="en-US" sz="1200" dirty="0"/>
          </a:p>
        </p:txBody>
      </p:sp>
      <p:sp>
        <p:nvSpPr>
          <p:cNvPr id="13" name="Shape 11"/>
          <p:cNvSpPr/>
          <p:nvPr/>
        </p:nvSpPr>
        <p:spPr>
          <a:xfrm>
            <a:off x="7961868" y="2206625"/>
            <a:ext cx="3414157" cy="1223010"/>
          </a:xfrm>
          <a:prstGeom prst="roundRect">
            <a:avLst>
              <a:gd name="adj" fmla="val 10125"/>
            </a:avLst>
          </a:prstGeom>
          <a:solidFill>
            <a:srgbClr val="FFFFFF"/>
          </a:solidFill>
          <a:ln w="6350">
            <a:solidFill>
              <a:srgbClr val="E1E5EB"/>
            </a:solidFill>
            <a:prstDash val="solid"/>
          </a:ln>
        </p:spPr>
      </p:sp>
      <p:sp>
        <p:nvSpPr>
          <p:cNvPr id="14" name="Text 12"/>
          <p:cNvSpPr/>
          <p:nvPr/>
        </p:nvSpPr>
        <p:spPr>
          <a:xfrm>
            <a:off x="8166974" y="238633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Noto Sans KR" pitchFamily="34" charset="0"/>
                <a:ea typeface="Noto Sans KR" pitchFamily="34" charset="-122"/>
                <a:cs typeface="Noto Sans KR" pitchFamily="34" charset="-120"/>
              </a:rPr>
              <a:t>XGBoost 음수 예측</a:t>
            </a:r>
            <a:endParaRPr lang="en-US" sz="1200" dirty="0"/>
          </a:p>
        </p:txBody>
      </p:sp>
      <p:sp>
        <p:nvSpPr>
          <p:cNvPr id="15" name="Text 13"/>
          <p:cNvSpPr/>
          <p:nvPr/>
        </p:nvSpPr>
        <p:spPr>
          <a:xfrm>
            <a:off x="8166974" y="2650492"/>
            <a:ext cx="309406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B84E14"/>
                </a:solidFill>
                <a:latin typeface="Noto Sans KR" pitchFamily="34" charset="0"/>
                <a:ea typeface="Noto Sans KR" pitchFamily="34" charset="-122"/>
                <a:cs typeface="Noto Sans KR" pitchFamily="34" charset="-120"/>
              </a:rPr>
              <a:t>27건</a:t>
            </a:r>
            <a:endParaRPr lang="en-US" sz="2400" dirty="0"/>
          </a:p>
        </p:txBody>
      </p:sp>
      <p:sp>
        <p:nvSpPr>
          <p:cNvPr id="16" name="Text 14"/>
          <p:cNvSpPr/>
          <p:nvPr/>
        </p:nvSpPr>
        <p:spPr>
          <a:xfrm>
            <a:off x="8166974" y="3036577"/>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새벽 저수요 구간에서 발생</a:t>
            </a:r>
            <a:endParaRPr lang="en-US" sz="1200" dirty="0"/>
          </a:p>
        </p:txBody>
      </p:sp>
      <p:sp>
        <p:nvSpPr>
          <p:cNvPr id="17" name="Shape 15"/>
          <p:cNvSpPr/>
          <p:nvPr/>
        </p:nvSpPr>
        <p:spPr>
          <a:xfrm>
            <a:off x="815975" y="3588383"/>
            <a:ext cx="5200650" cy="1870710"/>
          </a:xfrm>
          <a:prstGeom prst="roundRect">
            <a:avLst>
              <a:gd name="adj" fmla="val 6619"/>
            </a:avLst>
          </a:prstGeom>
          <a:solidFill>
            <a:srgbClr val="FFFFFF"/>
          </a:solidFill>
          <a:ln w="6350">
            <a:solidFill>
              <a:srgbClr val="E1E5EB"/>
            </a:solidFill>
            <a:prstDash val="solid"/>
          </a:ln>
        </p:spPr>
      </p:sp>
      <p:sp>
        <p:nvSpPr>
          <p:cNvPr id="18" name="Text 16"/>
          <p:cNvSpPr/>
          <p:nvPr/>
        </p:nvSpPr>
        <p:spPr>
          <a:xfrm>
            <a:off x="1021080" y="3768092"/>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오차가 커지는 구간</a:t>
            </a:r>
            <a:endParaRPr lang="en-US" sz="1200" dirty="0"/>
          </a:p>
        </p:txBody>
      </p:sp>
      <p:sp>
        <p:nvSpPr>
          <p:cNvPr id="19" name="Text 17"/>
          <p:cNvSpPr/>
          <p:nvPr/>
        </p:nvSpPr>
        <p:spPr>
          <a:xfrm>
            <a:off x="1107186" y="4057650"/>
            <a:ext cx="4840427" cy="1092200"/>
          </a:xfrm>
          <a:prstGeom prst="rect">
            <a:avLst/>
          </a:prstGeom>
          <a:noFill/>
          <a:ln/>
        </p:spPr>
        <p:txBody>
          <a:bodyPr wrap="square" lIns="0" tIns="0" rIns="0" bIns="0" rtlCol="0" anchor="t">
            <a:normAutofit/>
          </a:bodyPr>
          <a:lstStyle/>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수요가 급증하는 피크 시간대</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강수 또는 급격한 기온 변화 시점</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저수요 구간에서는 XGBoost의 음수 예측도 일부 발생</a:t>
            </a:r>
            <a:endParaRPr lang="en-US" sz="1200" dirty="0"/>
          </a:p>
          <a:p>
            <a:pPr algn="l" marL="167894" indent="-167894">
              <a:lnSpc>
                <a:spcPts val="1680"/>
              </a:lnSpc>
              <a:buSzPct val="100000"/>
              <a:buChar char="•"/>
            </a:pPr>
            <a:r>
              <a:rPr lang="en-US" sz="1200" dirty="0">
                <a:solidFill>
                  <a:srgbClr val="172033"/>
                </a:solidFill>
                <a:latin typeface="Noto Sans KR" pitchFamily="34" charset="0"/>
                <a:ea typeface="Noto Sans KR" pitchFamily="34" charset="-122"/>
                <a:cs typeface="Noto Sans KR" pitchFamily="34" charset="-120"/>
              </a:rPr>
              <a:t>결과 저장: RF_XGB_model_results.csv, Feature Importance, 예측값 CSV</a:t>
            </a:r>
            <a:endParaRPr lang="en-US" sz="1200" dirty="0"/>
          </a:p>
        </p:txBody>
      </p:sp>
      <p:sp>
        <p:nvSpPr>
          <p:cNvPr id="20" name="Shape 18"/>
          <p:cNvSpPr/>
          <p:nvPr/>
        </p:nvSpPr>
        <p:spPr>
          <a:xfrm>
            <a:off x="6175375" y="3588383"/>
            <a:ext cx="5200650" cy="1870710"/>
          </a:xfrm>
          <a:prstGeom prst="roundRect">
            <a:avLst>
              <a:gd name="adj" fmla="val 6619"/>
            </a:avLst>
          </a:prstGeom>
          <a:solidFill>
            <a:srgbClr val="FFFFFF"/>
          </a:solidFill>
          <a:ln w="6350">
            <a:solidFill>
              <a:srgbClr val="E1E5EB"/>
            </a:solidFill>
            <a:prstDash val="solid"/>
          </a:ln>
        </p:spPr>
      </p:sp>
      <p:sp>
        <p:nvSpPr>
          <p:cNvPr id="21" name="Text 19"/>
          <p:cNvSpPr/>
          <p:nvPr/>
        </p:nvSpPr>
        <p:spPr>
          <a:xfrm>
            <a:off x="6380480" y="3768092"/>
            <a:ext cx="49341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후처리 시 유의점</a:t>
            </a:r>
            <a:endParaRPr lang="en-US" sz="1200" dirty="0"/>
          </a:p>
        </p:txBody>
      </p:sp>
      <p:sp>
        <p:nvSpPr>
          <p:cNvPr id="22" name="Text 20"/>
          <p:cNvSpPr/>
          <p:nvPr/>
        </p:nvSpPr>
        <p:spPr>
          <a:xfrm>
            <a:off x="6380480" y="4057650"/>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대여량은 음수가 될 수 없으므로 실제 적용에서는 음수 예측을 0으로 클리핑하는 후처리 필요</a:t>
            </a:r>
            <a:endParaRPr lang="en-US" sz="1200" dirty="0"/>
          </a:p>
        </p:txBody>
      </p:sp>
      <p:sp>
        <p:nvSpPr>
          <p:cNvPr id="23" name="Shape 21"/>
          <p:cNvSpPr/>
          <p:nvPr/>
        </p:nvSpPr>
        <p:spPr>
          <a:xfrm>
            <a:off x="6380480" y="4636777"/>
            <a:ext cx="4790440" cy="642620"/>
          </a:xfrm>
          <a:prstGeom prst="roundRect">
            <a:avLst>
              <a:gd name="adj" fmla="val 11858"/>
            </a:avLst>
          </a:prstGeom>
          <a:solidFill>
            <a:srgbClr val="F5F6F8"/>
          </a:solidFill>
          <a:ln/>
        </p:spPr>
      </p:sp>
      <p:sp>
        <p:nvSpPr>
          <p:cNvPr id="24" name="Text 22"/>
          <p:cNvSpPr/>
          <p:nvPr/>
        </p:nvSpPr>
        <p:spPr>
          <a:xfrm>
            <a:off x="6507480" y="4738377"/>
            <a:ext cx="46725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클리핑 전 185.73 / 125.50 / 0.9091</a:t>
            </a:r>
            <a:endParaRPr lang="en-US" sz="1200" dirty="0"/>
          </a:p>
        </p:txBody>
      </p:sp>
      <p:sp>
        <p:nvSpPr>
          <p:cNvPr id="25" name="Text 23"/>
          <p:cNvSpPr/>
          <p:nvPr/>
        </p:nvSpPr>
        <p:spPr>
          <a:xfrm>
            <a:off x="6507480" y="4964435"/>
            <a:ext cx="46725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5"/>
                </a:solidFill>
                <a:latin typeface="Noto Sans KR" pitchFamily="34" charset="0"/>
                <a:ea typeface="Noto Sans KR" pitchFamily="34" charset="-122"/>
                <a:cs typeface="Noto Sans KR" pitchFamily="34" charset="-120"/>
              </a:rPr>
              <a:t>→ 클리핑 후 185.45 / 125.05 / 0.9094 (변화 미미)</a:t>
            </a:r>
            <a:endParaRPr lang="en-US" sz="1200" dirty="0"/>
          </a:p>
        </p:txBody>
      </p:sp>
      <p:sp>
        <p:nvSpPr>
          <p:cNvPr id="26" name="Text 24"/>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27" name="Text 25"/>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07 · 예측</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전체 모델 종합 비교</a:t>
            </a:r>
            <a:endParaRPr lang="en-US" sz="2400" dirty="0"/>
          </a:p>
        </p:txBody>
      </p:sp>
      <p:sp>
        <p:nvSpPr>
          <p:cNvPr id="4" name="Shape 2"/>
          <p:cNvSpPr/>
          <p:nvPr/>
        </p:nvSpPr>
        <p:spPr>
          <a:xfrm>
            <a:off x="812800" y="1988827"/>
            <a:ext cx="10566400" cy="1666240"/>
          </a:xfrm>
          <a:prstGeom prst="roundRect">
            <a:avLst>
              <a:gd name="adj" fmla="val 6098"/>
            </a:avLst>
          </a:prstGeom>
          <a:solidFill>
            <a:srgbClr val="FFFFFF"/>
          </a:solidFill>
          <a:ln/>
        </p:spPr>
      </p:sp>
      <p:sp>
        <p:nvSpPr>
          <p:cNvPr id="5" name="Shape 3"/>
          <p:cNvSpPr/>
          <p:nvPr/>
        </p:nvSpPr>
        <p:spPr>
          <a:xfrm>
            <a:off x="812800" y="1988827"/>
            <a:ext cx="10566400" cy="1666240"/>
          </a:xfrm>
          <a:custGeom>
            <a:avLst/>
            <a:gdLst/>
            <a:ahLst/>
            <a:cxnLst/>
            <a:rect l="l" t="t" r="r" b="b"/>
            <a:pathLst>
              <a:path w="10566400" h="1666240">
                <a:moveTo>
                  <a:pt x="101600" y="1666240"/>
                </a:moveTo>
                <a:lnTo>
                  <a:pt x="101600" y="166624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1564640"/>
                </a:lnTo>
                <a:arcTo hR="101600" wR="914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998987"/>
          <a:ext cx="10556240" cy="1656080"/>
        </p:xfrm>
        <a:graphic>
          <a:graphicData uri="http://schemas.openxmlformats.org/drawingml/2006/table">
            <a:tbl>
              <a:tblPr/>
              <a:tblGrid>
                <a:gridCol w="2744622"/>
                <a:gridCol w="1794561"/>
                <a:gridCol w="1794561"/>
                <a:gridCol w="1794561"/>
                <a:gridCol w="2427935"/>
              </a:tblGrid>
              <a:tr h="414020">
                <a:tc>
                  <a:txBody>
                    <a:bodyPr/>
                    <a:lstStyle/>
                    <a:p>
                      <a:pP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모델</a:t>
                      </a:r>
                      <a:endParaRPr lang="en-US" sz="1200" dirty="0">
                        <a:latin typeface="Noto Sans KR" charset="0"/>
                        <a:ea typeface="Noto Sans KR" charset="0"/>
                        <a:cs typeface="Noto Sans KR" charset="0"/>
                      </a:endParaRPr>
                    </a:p>
                  </a:txBody>
                  <a:tcPr marL="152400" marR="152400" marT="95250" marB="95250" anchor="t">
                    <a:lnL w="0" cap="flat" cmpd="sng" algn="ctr">
                      <a:noFill/>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Test RMSE</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Test MAE</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Test R²</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c>
                  <a:txBody>
                    <a:bodyPr/>
                    <a:lstStyle/>
                    <a:p>
                      <a:pPr algn="r" indent="0" marL="0">
                        <a:lnSpc>
                          <a:spcPts val="1680"/>
                        </a:lnSpc>
                        <a:buNone/>
                      </a:pPr>
                      <a:r>
                        <a:rPr lang="en-US" sz="1200" b="1" dirty="0">
                          <a:solidFill>
                            <a:srgbClr val="172033"/>
                          </a:solidFill>
                          <a:latin typeface="Noto Sans KR" pitchFamily="34" charset="0"/>
                          <a:ea typeface="Noto Sans KR" pitchFamily="34" charset="-122"/>
                          <a:cs typeface="Noto Sans KR" pitchFamily="34" charset="-120"/>
                        </a:rPr>
                        <a:t>Baseline 대비 RMSE</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BABFC9"/>
                      </a:solidFill>
                      <a:prstDash val="solid"/>
                      <a:round/>
                      <a:headEnd type="none" w="med" len="med"/>
                      <a:tailEnd type="none" w="med" len="med"/>
                    </a:lnL>
                    <a:lnR w="12700" cap="flat" cmpd="sng" algn="ctr">
                      <a:solidFill>
                        <a:srgbClr val="BABFC9"/>
                      </a:solidFill>
                      <a:prstDash val="solid"/>
                      <a:round/>
                      <a:headEnd type="none" w="med" len="med"/>
                      <a:tailEnd type="none" w="med" len="med"/>
                    </a:lnR>
                    <a:lnT w="0" cap="flat" cmpd="sng" algn="ctr">
                      <a:noFill/>
                    </a:lnT>
                    <a:lnB w="12700" cap="flat" cmpd="sng" algn="ctr">
                      <a:solidFill>
                        <a:srgbClr val="BABFC9"/>
                      </a:solidFill>
                      <a:prstDash val="solid"/>
                      <a:round/>
                      <a:headEnd type="none" w="med" len="med"/>
                      <a:tailEnd type="none" w="med" len="med"/>
                    </a:lnB>
                    <a:solidFill>
                      <a:srgbClr val="E9EFFC"/>
                    </a:solidFill>
                  </a:tcPr>
                </a:tc>
              </a:tr>
              <a:tr h="4140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Linear Regression</a:t>
                      </a:r>
                      <a:endParaRPr lang="en-US" sz="1200" dirty="0">
                        <a:latin typeface="Noto Sans KR" charset="0"/>
                        <a:ea typeface="Noto Sans KR" charset="0"/>
                        <a:cs typeface="Noto Sans KR" charset="0"/>
                      </a:endParaRPr>
                    </a:p>
                  </a:txBody>
                  <a:tcPr marL="152400" marR="152400" marT="95250" marB="952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315.08</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213.49</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0.7384</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BFC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4020">
                <a:tc>
                  <a:txBody>
                    <a:bodyPr/>
                    <a:lstStyle/>
                    <a:p>
                      <a:pP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Random Forest</a:t>
                      </a:r>
                      <a:endParaRPr lang="en-US" sz="1200" dirty="0">
                        <a:latin typeface="Noto Sans KR" charset="0"/>
                        <a:ea typeface="Noto Sans KR" charset="0"/>
                        <a:cs typeface="Noto Sans KR" charset="0"/>
                      </a:endParaRPr>
                    </a:p>
                  </a:txBody>
                  <a:tcPr marL="152400" marR="152400" marT="95250" marB="9525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204.79</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133.18</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0.8895</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72033"/>
                          </a:solidFill>
                          <a:latin typeface="Noto Sans KR" pitchFamily="34" charset="0"/>
                          <a:ea typeface="Noto Sans KR" pitchFamily="34" charset="-122"/>
                          <a:cs typeface="Noto Sans KR" pitchFamily="34" charset="-120"/>
                        </a:rPr>
                        <a:t>35.00% 개선</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4020">
                <a:tc>
                  <a:txBody>
                    <a:bodyPr/>
                    <a:lstStyle/>
                    <a:p>
                      <a:pP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XGBoost</a:t>
                      </a:r>
                      <a:endParaRPr lang="en-US" sz="1200" dirty="0">
                        <a:latin typeface="Noto Sans KR" charset="0"/>
                        <a:ea typeface="Noto Sans KR" charset="0"/>
                        <a:cs typeface="Noto Sans KR" charset="0"/>
                      </a:endParaRPr>
                    </a:p>
                  </a:txBody>
                  <a:tcPr marL="152400" marR="152400" marT="95250" marB="95250" anchor="t">
                    <a:lnL w="0" cap="flat" cmpd="sng" algn="ctr">
                      <a:noFill/>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185.73</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125.50</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0.9091</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c>
                  <a:txBody>
                    <a:bodyPr/>
                    <a:lstStyle/>
                    <a:p>
                      <a:pPr algn="r" indent="0" marL="0">
                        <a:lnSpc>
                          <a:spcPts val="1680"/>
                        </a:lnSpc>
                        <a:buNone/>
                      </a:pPr>
                      <a:r>
                        <a:rPr lang="en-US" sz="1200" dirty="0">
                          <a:solidFill>
                            <a:srgbClr val="B84E14"/>
                          </a:solidFill>
                          <a:latin typeface="Noto Sans KR" pitchFamily="34" charset="0"/>
                          <a:ea typeface="Noto Sans KR" pitchFamily="34" charset="-122"/>
                          <a:cs typeface="Noto Sans KR" pitchFamily="34" charset="-120"/>
                        </a:rPr>
                        <a:t>41.05% 개선</a:t>
                      </a:r>
                      <a:endParaRPr lang="en-US" sz="1200" dirty="0">
                        <a:latin typeface="Noto Sans KR" charset="0"/>
                        <a:ea typeface="Noto Sans KR" charset="0"/>
                        <a:cs typeface="Noto Sans KR" charset="0"/>
                      </a:endParaRPr>
                    </a:p>
                  </a:txBody>
                  <a:tcPr marL="152400" marR="152400" marT="95250" marB="95250" anchor="t">
                    <a:lnL w="12700" cap="flat" cmpd="sng" algn="ctr">
                      <a:solidFill>
                        <a:srgbClr val="C9BFB8"/>
                      </a:solidFill>
                      <a:prstDash val="solid"/>
                      <a:round/>
                      <a:headEnd type="none" w="med" len="med"/>
                      <a:tailEnd type="none" w="med" len="med"/>
                    </a:lnL>
                    <a:lnR w="12700" cap="flat" cmpd="sng" algn="ctr">
                      <a:solidFill>
                        <a:srgbClr val="C9BF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FB8"/>
                      </a:solidFill>
                      <a:prstDash val="solid"/>
                      <a:round/>
                      <a:headEnd type="none" w="med" len="med"/>
                      <a:tailEnd type="none" w="med" len="med"/>
                    </a:lnB>
                    <a:solidFill>
                      <a:srgbClr val="FCEFE6"/>
                    </a:solidFill>
                  </a:tcPr>
                </a:tc>
              </a:tr>
            </a:tbl>
          </a:graphicData>
        </a:graphic>
      </p:graphicFrame>
      <p:sp>
        <p:nvSpPr>
          <p:cNvPr id="7" name="Shape 4"/>
          <p:cNvSpPr/>
          <p:nvPr/>
        </p:nvSpPr>
        <p:spPr>
          <a:xfrm>
            <a:off x="815975" y="3836033"/>
            <a:ext cx="10560050" cy="1499870"/>
          </a:xfrm>
          <a:prstGeom prst="roundRect">
            <a:avLst>
              <a:gd name="adj" fmla="val 8256"/>
            </a:avLst>
          </a:prstGeom>
          <a:solidFill>
            <a:srgbClr val="FFFFFF"/>
          </a:solidFill>
          <a:ln w="6350">
            <a:solidFill>
              <a:srgbClr val="E1E5EB"/>
            </a:solidFill>
            <a:prstDash val="solid"/>
          </a:ln>
        </p:spPr>
      </p:sp>
      <p:sp>
        <p:nvSpPr>
          <p:cNvPr id="8" name="Text 5"/>
          <p:cNvSpPr/>
          <p:nvPr/>
        </p:nvSpPr>
        <p:spPr>
          <a:xfrm>
            <a:off x="1021080" y="4041142"/>
            <a:ext cx="1045433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비교 결과</a:t>
            </a:r>
            <a:endParaRPr lang="en-US" sz="1200" dirty="0"/>
          </a:p>
        </p:txBody>
      </p:sp>
      <p:sp>
        <p:nvSpPr>
          <p:cNvPr id="9" name="Text 6"/>
          <p:cNvSpPr/>
          <p:nvPr/>
        </p:nvSpPr>
        <p:spPr>
          <a:xfrm>
            <a:off x="1086612" y="4330700"/>
            <a:ext cx="10381183" cy="825500"/>
          </a:xfrm>
          <a:prstGeom prst="rect">
            <a:avLst/>
          </a:prstGeom>
          <a:noFill/>
          <a:ln/>
        </p:spPr>
        <p:txBody>
          <a:bodyPr wrap="square" lIns="0" tIns="0" rIns="0" bIns="0" rtlCol="0" anchor="t">
            <a:normAutofit/>
          </a:bodyPr>
          <a:lstStyle/>
          <a:p>
            <a:pPr algn="l" marL="188468" indent="-188468">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선형회귀보다 RF·XGBoost의 Test 성능이 크게 개선</a:t>
            </a:r>
            <a:endParaRPr lang="en-US" sz="1400" dirty="0"/>
          </a:p>
          <a:p>
            <a:pPr algn="l" marL="188468" indent="-188468">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XGBoost는 이번 비교에서 Test RMSE·MAE가 가장 낮고 R²가 가장 높음</a:t>
            </a:r>
            <a:endParaRPr lang="en-US" sz="1400" dirty="0"/>
          </a:p>
          <a:p>
            <a:pPr algn="l" marL="188468" indent="-188468">
              <a:lnSpc>
                <a:spcPts val="2100"/>
              </a:lnSpc>
              <a:buSzPct val="100000"/>
              <a:buChar char="•"/>
            </a:pPr>
            <a:r>
              <a:rPr lang="en-US" sz="1400" dirty="0">
                <a:solidFill>
                  <a:srgbClr val="172033"/>
                </a:solidFill>
                <a:latin typeface="Noto Sans KR" pitchFamily="34" charset="0"/>
                <a:ea typeface="Noto Sans KR" pitchFamily="34" charset="-122"/>
                <a:cs typeface="Noto Sans KR" pitchFamily="34" charset="-120"/>
              </a:rPr>
              <a:t>기본 하이퍼파라미터 기준 결과이므로 최적 모델이라고 단정하기보다 후속 튜닝이 필요</a:t>
            </a:r>
            <a:endParaRPr lang="en-US" sz="1400" dirty="0"/>
          </a:p>
        </p:txBody>
      </p:sp>
      <p:sp>
        <p:nvSpPr>
          <p:cNvPr id="10" name="Text 7"/>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1" name="Text 8"/>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609600"/>
            <a:ext cx="10883392" cy="20828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2457C5"/>
                </a:solidFill>
                <a:latin typeface="Noto Sans KR" pitchFamily="34" charset="0"/>
                <a:ea typeface="Noto Sans KR" pitchFamily="34" charset="-122"/>
                <a:cs typeface="Noto Sans KR" pitchFamily="34" charset="-120"/>
              </a:rPr>
              <a:t>CONCLUSION</a:t>
            </a:r>
            <a:endParaRPr lang="en-US" sz="1200" dirty="0"/>
          </a:p>
        </p:txBody>
      </p:sp>
      <p:sp>
        <p:nvSpPr>
          <p:cNvPr id="3" name="Text 1"/>
          <p:cNvSpPr/>
          <p:nvPr>
            <p:ph type="title"/>
          </p:nvPr>
        </p:nvSpPr>
        <p:spPr>
          <a:xfrm>
            <a:off x="812800" y="881385"/>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72033"/>
                </a:solidFill>
                <a:latin typeface="Noto Sans KR" pitchFamily="34" charset="0"/>
                <a:ea typeface="Noto Sans KR" pitchFamily="34" charset="-122"/>
                <a:cs typeface="Noto Sans KR" pitchFamily="34" charset="-120"/>
              </a:rPr>
              <a:t>결론</a:t>
            </a:r>
            <a:endParaRPr lang="en-US" sz="2400" dirty="0"/>
          </a:p>
        </p:txBody>
      </p:sp>
      <p:sp>
        <p:nvSpPr>
          <p:cNvPr id="4" name="Text 2"/>
          <p:cNvSpPr/>
          <p:nvPr/>
        </p:nvSpPr>
        <p:spPr>
          <a:xfrm>
            <a:off x="812800" y="1320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5"/>
                </a:solidFill>
                <a:latin typeface="Noto Sans KR" pitchFamily="34" charset="0"/>
                <a:ea typeface="Noto Sans KR" pitchFamily="34" charset="-122"/>
                <a:cs typeface="Noto Sans KR" pitchFamily="34" charset="-120"/>
              </a:rPr>
              <a:t>EDA에서 모델 비교까지 — 무엇을 확인했는가</a:t>
            </a:r>
            <a:endParaRPr lang="en-US" sz="1400" dirty="0"/>
          </a:p>
        </p:txBody>
      </p:sp>
      <p:sp>
        <p:nvSpPr>
          <p:cNvPr id="5" name="Shape 3"/>
          <p:cNvSpPr/>
          <p:nvPr/>
        </p:nvSpPr>
        <p:spPr>
          <a:xfrm>
            <a:off x="815975" y="2269492"/>
            <a:ext cx="10560050" cy="2420620"/>
          </a:xfrm>
          <a:prstGeom prst="roundRect">
            <a:avLst>
              <a:gd name="adj" fmla="val 5115"/>
            </a:avLst>
          </a:prstGeom>
          <a:solidFill>
            <a:srgbClr val="FFFFFF"/>
          </a:solidFill>
          <a:ln w="6350">
            <a:solidFill>
              <a:srgbClr val="E1E5EB"/>
            </a:solidFill>
            <a:prstDash val="solid"/>
          </a:ln>
        </p:spPr>
      </p:sp>
      <p:sp>
        <p:nvSpPr>
          <p:cNvPr id="6" name="Text 4"/>
          <p:cNvSpPr/>
          <p:nvPr/>
        </p:nvSpPr>
        <p:spPr>
          <a:xfrm>
            <a:off x="1021080" y="2474602"/>
            <a:ext cx="1045433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7C5"/>
                </a:solidFill>
                <a:latin typeface="Noto Sans KR" pitchFamily="34" charset="0"/>
                <a:ea typeface="Noto Sans KR" pitchFamily="34" charset="-122"/>
                <a:cs typeface="Noto Sans KR" pitchFamily="34" charset="-120"/>
              </a:rPr>
              <a:t>핵심 결과</a:t>
            </a:r>
            <a:endParaRPr lang="en-US" sz="1200" dirty="0"/>
          </a:p>
        </p:txBody>
      </p:sp>
      <p:sp>
        <p:nvSpPr>
          <p:cNvPr id="7" name="Text 5"/>
          <p:cNvSpPr/>
          <p:nvPr/>
        </p:nvSpPr>
        <p:spPr>
          <a:xfrm>
            <a:off x="1021080" y="2789560"/>
            <a:ext cx="279400"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457C5"/>
                </a:solidFill>
                <a:latin typeface="Noto Sans KR" pitchFamily="34" charset="0"/>
                <a:ea typeface="Noto Sans KR" pitchFamily="34" charset="-122"/>
                <a:cs typeface="Noto Sans KR" pitchFamily="34" charset="-120"/>
              </a:rPr>
              <a:t>1</a:t>
            </a:r>
            <a:endParaRPr lang="en-US" sz="1400" dirty="0"/>
          </a:p>
        </p:txBody>
      </p:sp>
      <p:sp>
        <p:nvSpPr>
          <p:cNvPr id="8" name="Text 6"/>
          <p:cNvSpPr/>
          <p:nvPr/>
        </p:nvSpPr>
        <p:spPr>
          <a:xfrm>
            <a:off x="1376680" y="2789560"/>
            <a:ext cx="1008806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033"/>
                </a:solidFill>
                <a:latin typeface="Noto Sans KR" pitchFamily="34" charset="0"/>
                <a:ea typeface="Noto Sans KR" pitchFamily="34" charset="-122"/>
                <a:cs typeface="Noto Sans KR" pitchFamily="34" charset="-120"/>
              </a:rPr>
              <a:t>시간대와 기상 조건(기온 · 습도 · 일조량)이 수요를 설명하는 주요 요인 — 두 요인의 상대적 비중은 모델에 따라 다르게 나타남</a:t>
            </a:r>
            <a:endParaRPr lang="en-US" sz="1400" dirty="0"/>
          </a:p>
        </p:txBody>
      </p:sp>
      <p:sp>
        <p:nvSpPr>
          <p:cNvPr id="9" name="Text 7"/>
          <p:cNvSpPr/>
          <p:nvPr/>
        </p:nvSpPr>
        <p:spPr>
          <a:xfrm>
            <a:off x="1021080" y="3148967"/>
            <a:ext cx="279400"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457C5"/>
                </a:solidFill>
                <a:latin typeface="Noto Sans KR" pitchFamily="34" charset="0"/>
                <a:ea typeface="Noto Sans KR" pitchFamily="34" charset="-122"/>
                <a:cs typeface="Noto Sans KR" pitchFamily="34" charset="-120"/>
              </a:rPr>
              <a:t>2</a:t>
            </a:r>
            <a:endParaRPr lang="en-US" sz="1400" dirty="0"/>
          </a:p>
        </p:txBody>
      </p:sp>
      <p:sp>
        <p:nvSpPr>
          <p:cNvPr id="10" name="Text 8"/>
          <p:cNvSpPr/>
          <p:nvPr/>
        </p:nvSpPr>
        <p:spPr>
          <a:xfrm>
            <a:off x="1376680" y="3148967"/>
            <a:ext cx="1008806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033"/>
                </a:solidFill>
                <a:latin typeface="Noto Sans KR" pitchFamily="34" charset="0"/>
                <a:ea typeface="Noto Sans KR" pitchFamily="34" charset="-122"/>
                <a:cs typeface="Noto Sans KR" pitchFamily="34" charset="-120"/>
              </a:rPr>
              <a:t>EDA에서 확인한 시간대 · 계절 · 기상 패턴이 변수 설계와 모델의 변수 중요도에 반영됨</a:t>
            </a:r>
            <a:endParaRPr lang="en-US" sz="1400" dirty="0"/>
          </a:p>
        </p:txBody>
      </p:sp>
      <p:sp>
        <p:nvSpPr>
          <p:cNvPr id="11" name="Text 9"/>
          <p:cNvSpPr/>
          <p:nvPr/>
        </p:nvSpPr>
        <p:spPr>
          <a:xfrm>
            <a:off x="1021080" y="3508375"/>
            <a:ext cx="279400"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457C5"/>
                </a:solidFill>
                <a:latin typeface="Noto Sans KR" pitchFamily="34" charset="0"/>
                <a:ea typeface="Noto Sans KR" pitchFamily="34" charset="-122"/>
                <a:cs typeface="Noto Sans KR" pitchFamily="34" charset="-120"/>
              </a:rPr>
              <a:t>3</a:t>
            </a:r>
            <a:endParaRPr lang="en-US" sz="1400" dirty="0"/>
          </a:p>
        </p:txBody>
      </p:sp>
      <p:sp>
        <p:nvSpPr>
          <p:cNvPr id="12" name="Text 10"/>
          <p:cNvSpPr/>
          <p:nvPr/>
        </p:nvSpPr>
        <p:spPr>
          <a:xfrm>
            <a:off x="1376680" y="3508375"/>
            <a:ext cx="1008806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033"/>
                </a:solidFill>
                <a:latin typeface="Noto Sans KR" pitchFamily="34" charset="0"/>
                <a:ea typeface="Noto Sans KR" pitchFamily="34" charset="-122"/>
                <a:cs typeface="Noto Sans KR" pitchFamily="34" charset="-120"/>
              </a:rPr>
              <a:t>선형회귀는 Test R² 0.7384로 기준선 역할 — 비선형성과 복잡한 시간대 패턴을 충분히 표현하기 어려움</a:t>
            </a:r>
            <a:endParaRPr lang="en-US" sz="1400" dirty="0"/>
          </a:p>
        </p:txBody>
      </p:sp>
      <p:sp>
        <p:nvSpPr>
          <p:cNvPr id="13" name="Text 11"/>
          <p:cNvSpPr/>
          <p:nvPr/>
        </p:nvSpPr>
        <p:spPr>
          <a:xfrm>
            <a:off x="1021080" y="3867783"/>
            <a:ext cx="279400"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457C5"/>
                </a:solidFill>
                <a:latin typeface="Noto Sans KR" pitchFamily="34" charset="0"/>
                <a:ea typeface="Noto Sans KR" pitchFamily="34" charset="-122"/>
                <a:cs typeface="Noto Sans KR" pitchFamily="34" charset="-120"/>
              </a:rPr>
              <a:t>4</a:t>
            </a:r>
            <a:endParaRPr lang="en-US" sz="1400" dirty="0"/>
          </a:p>
        </p:txBody>
      </p:sp>
      <p:sp>
        <p:nvSpPr>
          <p:cNvPr id="14" name="Text 12"/>
          <p:cNvSpPr/>
          <p:nvPr/>
        </p:nvSpPr>
        <p:spPr>
          <a:xfrm>
            <a:off x="1376680" y="3867783"/>
            <a:ext cx="1008806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033"/>
                </a:solidFill>
                <a:latin typeface="Noto Sans KR" pitchFamily="34" charset="0"/>
                <a:ea typeface="Noto Sans KR" pitchFamily="34" charset="-122"/>
                <a:cs typeface="Noto Sans KR" pitchFamily="34" charset="-120"/>
              </a:rPr>
              <a:t>트리 기반 모델로 확장한 결과 Test RMSE 315.08 → 185.73 (41.05% 개선), XGBoost Test R² 0.9091</a:t>
            </a:r>
            <a:endParaRPr lang="en-US" sz="1400" dirty="0"/>
          </a:p>
        </p:txBody>
      </p:sp>
      <p:sp>
        <p:nvSpPr>
          <p:cNvPr id="15" name="Text 13"/>
          <p:cNvSpPr/>
          <p:nvPr/>
        </p:nvSpPr>
        <p:spPr>
          <a:xfrm>
            <a:off x="1021080" y="4227202"/>
            <a:ext cx="279400"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2457C5"/>
                </a:solidFill>
                <a:latin typeface="Noto Sans KR" pitchFamily="34" charset="0"/>
                <a:ea typeface="Noto Sans KR" pitchFamily="34" charset="-122"/>
                <a:cs typeface="Noto Sans KR" pitchFamily="34" charset="-120"/>
              </a:rPr>
              <a:t>5</a:t>
            </a:r>
            <a:endParaRPr lang="en-US" sz="1400" dirty="0"/>
          </a:p>
        </p:txBody>
      </p:sp>
      <p:sp>
        <p:nvSpPr>
          <p:cNvPr id="16" name="Text 14"/>
          <p:cNvSpPr/>
          <p:nvPr/>
        </p:nvSpPr>
        <p:spPr>
          <a:xfrm>
            <a:off x="1376680" y="4227202"/>
            <a:ext cx="10088067"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033"/>
                </a:solidFill>
                <a:latin typeface="Noto Sans KR" pitchFamily="34" charset="0"/>
                <a:ea typeface="Noto Sans KR" pitchFamily="34" charset="-122"/>
                <a:cs typeface="Noto Sans KR" pitchFamily="34" charset="-120"/>
              </a:rPr>
              <a:t>기본 하이퍼파라미터 기준 비교이므로 최적 모델로 단정하기보다 후속 튜닝이 필요</a:t>
            </a:r>
            <a:endParaRPr lang="en-US" sz="1400" dirty="0"/>
          </a:p>
        </p:txBody>
      </p:sp>
      <p:sp>
        <p:nvSpPr>
          <p:cNvPr id="17" name="Text 15"/>
          <p:cNvSpPr/>
          <p:nvPr/>
        </p:nvSpPr>
        <p:spPr>
          <a:xfrm>
            <a:off x="812800" y="4845683"/>
            <a:ext cx="10566400" cy="553720"/>
          </a:xfrm>
          <a:prstGeom prst="roundRect">
            <a:avLst>
              <a:gd name="adj" fmla="val 18349"/>
            </a:avLst>
          </a:prstGeom>
          <a:solidFill>
            <a:srgbClr val="172033"/>
          </a:solidFill>
          <a:ln/>
        </p:spPr>
        <p:txBody>
          <a:bodyPr wrap="square" lIns="173442" tIns="122642" rIns="0" bIns="97242" rtlCol="0" anchor="t">
            <a:normAutofit/>
          </a:bodyPr>
          <a:lstStyle/>
          <a:p>
            <a:pPr algn="l" indent="0" marL="0">
              <a:lnSpc>
                <a:spcPts val="1960"/>
              </a:lnSpc>
              <a:buNone/>
            </a:pPr>
            <a:r>
              <a:rPr lang="en-US" sz="1400" b="1" dirty="0">
                <a:solidFill>
                  <a:srgbClr val="F5F6F8"/>
                </a:solidFill>
                <a:latin typeface="Noto Sans KR" pitchFamily="34" charset="0"/>
                <a:ea typeface="Noto Sans KR" pitchFamily="34" charset="-122"/>
                <a:cs typeface="Noto Sans KR" pitchFamily="34" charset="-120"/>
              </a:rPr>
              <a:t>→ 비선형 관계와 시간대 패턴을 학습하는 트리 기반 모델의 개선 효과를 확인</a:t>
            </a:r>
            <a:endParaRPr lang="en-US" sz="1400" dirty="0"/>
          </a:p>
        </p:txBody>
      </p:sp>
      <p:sp>
        <p:nvSpPr>
          <p:cNvPr id="18" name="Text 16"/>
          <p:cNvSpPr/>
          <p:nvPr/>
        </p:nvSpPr>
        <p:spPr>
          <a:xfrm>
            <a:off x="812800" y="6268727"/>
            <a:ext cx="58864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서울시 전체 따릉이 수요 예측</a:t>
            </a:r>
            <a:endParaRPr lang="en-US" sz="1200" dirty="0"/>
          </a:p>
        </p:txBody>
      </p:sp>
      <p:sp>
        <p:nvSpPr>
          <p:cNvPr id="19" name="Text 17"/>
          <p:cNvSpPr/>
          <p:nvPr/>
        </p:nvSpPr>
        <p:spPr>
          <a:xfrm>
            <a:off x="10566400" y="6268727"/>
            <a:ext cx="812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F6B7A"/>
                </a:solidFill>
                <a:latin typeface="Noto Sans KR" pitchFamily="34" charset="0"/>
                <a:ea typeface="Noto Sans KR" pitchFamily="34" charset="-122"/>
                <a:cs typeface="Noto Sans KR" pitchFamily="34" charset="-120"/>
              </a:rPr>
              <a:t>30</a:t>
            </a:r>
            <a:endParaRPr lang="en-US" sz="1200" dirty="0"/>
          </a:p>
        </p:txBody>
      </p:sp>
    </p:spTree>
  </p:cSld>
  <p:clrMapOvr>
    <a:masterClrMapping/>
  </p:clrMapOvr>
</p:sld>
</file>

<file path=ppt/theme/theme1.xml><?xml version="1.0" encoding="utf-8"?>
<a:theme xmlns:a="http://schemas.openxmlformats.org/drawingml/2006/main" name="서울시 전체 따릉이 수요 예측">
  <a:themeElements>
    <a:clrScheme name="서울시 전체 따릉이 수요 예측">
      <a:dk1>
        <a:srgbClr val="172033"/>
      </a:dk1>
      <a:lt1>
        <a:srgbClr val="F5F6F8"/>
      </a:lt1>
      <a:dk2>
        <a:srgbClr val="4F5664"/>
      </a:dk2>
      <a:lt2>
        <a:srgbClr val="DFE1E4"/>
      </a:lt2>
      <a:accent1>
        <a:srgbClr val="2457C5"/>
      </a:accent1>
      <a:accent2>
        <a:srgbClr val="B84E14"/>
      </a:accent2>
      <a:accent3>
        <a:srgbClr val="8FB0FF"/>
      </a:accent3>
      <a:accent4>
        <a:srgbClr val="5F6B7A"/>
      </a:accent4>
      <a:accent5>
        <a:srgbClr val="4A5565"/>
      </a:accent5>
      <a:accent6>
        <a:srgbClr val="B8C2D6"/>
      </a:accent6>
      <a:hlink>
        <a:srgbClr val="0563C1"/>
      </a:hlink>
      <a:folHlink>
        <a:srgbClr val="954F72"/>
      </a:folHlink>
    </a:clrScheme>
    <a:fontScheme name="서울시 전체 따릉이 수요 예측">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서울시 전체 따릉이 수요 예측</dc:title>
  <dc:subject/>
  <dc:creator/>
  <cp:lastModifiedBy/>
  <cp:revision>1</cp:revision>
  <dcterms:created xsi:type="dcterms:W3CDTF">2026-10-05T03:33:55Z</dcterms:created>
  <dcterms:modified xsi:type="dcterms:W3CDTF">2026-10-05T03:33:55Z</dcterms:modified>
</cp:coreProperties>
</file>